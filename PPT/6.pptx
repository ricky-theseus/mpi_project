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64" r:id="rId11"/>
    <p:sldId id="286" r:id="rId12"/>
    <p:sldId id="287" r:id="rId13"/>
    <p:sldId id="267" r:id="rId14"/>
    <p:sldId id="288" r:id="rId15"/>
    <p:sldId id="291" r:id="rId16"/>
    <p:sldId id="292" r:id="rId17"/>
    <p:sldId id="289" r:id="rId18"/>
    <p:sldId id="290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1" d="100"/>
          <a:sy n="101" d="100"/>
        </p:scale>
        <p:origin x="-486" y="9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86F7A-4C13-4512-9546-7A2E13DD49E4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5BE2B-728A-4539-B86A-F2CEE53DE5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4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8C279-DE8B-468B-BC28-587297351CC5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8769B-FD91-4354-84DF-C542D236D2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405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9DB7B-3909-433D-9621-020AC3631DB6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2487E-DA75-40AD-AFB9-B7E66780091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338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891DE-9EFB-436C-8098-DA346D61F734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19AB3-A56A-40DC-B315-4C9AF1D9AEF0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91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8A4FD-48AA-4EB3-ADAB-90805DF574A9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9823B-989B-4FE0-A31C-A45838B716C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787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83F5B-15CF-41AD-AAF7-C365C83FF08D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C2566-FD93-41C5-8007-9C6D9D8DF86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6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8473D-2D84-413D-97BD-015ADE628A5A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5DC8D-C4F0-4F0D-B826-92573808DA5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83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A7D9F-B4F6-4B7D-8D30-9FDE43AA2DD2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07F97-2FC2-4714-850C-6700199D6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84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E2CA6-8D79-400E-AD1E-56E3E0DA2BAA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9D1E1-5454-45C3-93DA-86C3DA9ECB4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794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52424-72F4-440E-8E03-587598E5B119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F9EC1-C088-4DAC-AB69-D10F40584BD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5626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EF9C9-4C84-4072-AFAA-D241A8D58A51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597D9-2D04-4C83-915B-79D3B5D496F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304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3BA994-DBC0-4389-9AC3-50B67B3923E1}" type="datetimeFigureOut">
              <a:rPr lang="zh-CN" altLang="en-US"/>
              <a:t>2024/4/3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DA430D88-0AE5-4EDA-BDD3-1B97B5FCD56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60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494235" y="2931718"/>
            <a:ext cx="6128147" cy="60016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defTabSz="685800">
              <a:defRPr/>
            </a:pPr>
            <a:r>
              <a:rPr lang="en-US" altLang="zh-CN" sz="3300" b="1" dirty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t>High Performance Computation </a:t>
            </a:r>
            <a:endParaRPr lang="zh-CN" altLang="en-US" sz="3300" b="1" spc="225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 bwMode="auto">
          <a:xfrm>
            <a:off x="3136041" y="3861598"/>
            <a:ext cx="2884884" cy="271463"/>
            <a:chOff x="4154888" y="3453573"/>
            <a:chExt cx="3846874" cy="361046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等腰三角形 27"/>
            <p:cNvSpPr/>
            <p:nvPr/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2178845" y="4123138"/>
            <a:ext cx="222527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China University of Geosciences</a:t>
            </a:r>
            <a:endParaRPr lang="zh-CN" altLang="en-US" sz="15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4954456" y="4123138"/>
            <a:ext cx="192285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500" dirty="0" err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Chengjun</a:t>
            </a:r>
            <a:r>
              <a:rPr lang="en-US" altLang="zh-CN" sz="15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Li</a:t>
            </a:r>
            <a:endParaRPr lang="zh-CN" altLang="en-US" sz="15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00151" y="2728120"/>
            <a:ext cx="6717506" cy="1879865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grpSp>
        <p:nvGrpSpPr>
          <p:cNvPr id="43" name="组合 42"/>
          <p:cNvGrpSpPr/>
          <p:nvPr/>
        </p:nvGrpSpPr>
        <p:grpSpPr bwMode="auto">
          <a:xfrm>
            <a:off x="7717632" y="4414973"/>
            <a:ext cx="832247" cy="847725"/>
            <a:chOff x="2666985" y="682103"/>
            <a:chExt cx="1109138" cy="1131217"/>
          </a:xfrm>
        </p:grpSpPr>
        <p:sp>
          <p:nvSpPr>
            <p:cNvPr id="40" name="矩形 39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 bwMode="auto">
          <a:xfrm>
            <a:off x="594122" y="2131618"/>
            <a:ext cx="832247" cy="848915"/>
            <a:chOff x="2666985" y="682103"/>
            <a:chExt cx="1109138" cy="1131217"/>
          </a:xfrm>
        </p:grpSpPr>
        <p:sp>
          <p:nvSpPr>
            <p:cNvPr id="45" name="矩形 44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>
                <a:defRPr/>
              </a:pPr>
              <a:endParaRPr lang="zh-CN" altLang="en-US" sz="1350">
                <a:solidFill>
                  <a:prstClr val="white"/>
                </a:solidFill>
                <a:latin typeface="Calibri"/>
                <a:ea typeface="宋体" panose="02010600030101010101" pitchFamily="2" charset="-122"/>
              </a:endParaRPr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847726"/>
            <a:ext cx="9144000" cy="27979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8674894" y="5749528"/>
            <a:ext cx="469106" cy="25122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-1" y="5749528"/>
            <a:ext cx="8674894" cy="25122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083974" y="2466167"/>
            <a:ext cx="4757090" cy="369332"/>
          </a:xfrm>
          <a:prstGeom prst="rect">
            <a:avLst/>
          </a:prstGeom>
          <a:blipFill dpi="0" rotWithShape="1">
            <a:blip r:embed="rId2"/>
            <a:srcRect/>
            <a:stretch>
              <a:fillRect t="-45000"/>
            </a:stretch>
          </a:blipFill>
        </p:spPr>
        <p:txBody>
          <a:bodyPr wrap="square">
            <a:spAutoFit/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zh-CN" altLang="en-US" b="1" dirty="0">
              <a:solidFill>
                <a:srgbClr val="044875"/>
              </a:solidFill>
              <a:latin typeface="PMingLiU-ExtB" pitchFamily="18" charset="-120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67055" y="1455359"/>
            <a:ext cx="887401" cy="850751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6" grpId="0"/>
      <p:bldP spid="9" grpId="0" animBg="1"/>
      <p:bldP spid="49" grpId="0" animBg="1"/>
      <p:bldP spid="53" grpId="0" animBg="1"/>
      <p:bldP spid="5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368153"/>
            <a:ext cx="9144000" cy="213717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" y="2855119"/>
            <a:ext cx="822722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709613" y="2357438"/>
            <a:ext cx="1154906" cy="1419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8625" dirty="0">
                <a:solidFill>
                  <a:prstClr val="white"/>
                </a:solidFill>
                <a:latin typeface="Impact" panose="020B0806030902050204" pitchFamily="34" charset="0"/>
              </a:rPr>
              <a:t>6</a:t>
            </a:r>
            <a:endParaRPr lang="zh-CN" altLang="en-US" sz="8625" dirty="0">
              <a:solidFill>
                <a:prstClr val="white"/>
              </a:solidFill>
              <a:latin typeface="Impact" panose="020B080603090205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74044" y="2855119"/>
            <a:ext cx="7269956" cy="406004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defRPr/>
            </a:pPr>
            <a:endParaRPr lang="zh-CN" altLang="en-US" sz="135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0" y="3581400"/>
            <a:ext cx="914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4000" b="1" dirty="0">
                <a:solidFill>
                  <a:srgbClr val="FFC000">
                    <a:lumMod val="60000"/>
                    <a:lumOff val="40000"/>
                  </a:srgbClr>
                </a:solidFill>
              </a:rPr>
              <a:t>Partition-Based Clustering with k-Means</a:t>
            </a:r>
            <a:endParaRPr lang="zh-CN" altLang="en-US" sz="4000" b="1" dirty="0">
              <a:solidFill>
                <a:srgbClr val="FFC000">
                  <a:lumMod val="60000"/>
                  <a:lumOff val="4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10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4400" b="1" dirty="0"/>
              <a:t>Abstract</a:t>
            </a:r>
            <a:endParaRPr lang="zh-CN" altLang="en-US" sz="44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Nowadays, huge size data-sets are commonly publicly available, and it becomes increasingly important to efficiently process them to discover worthwhile structures in those seas of data. </a:t>
            </a:r>
          </a:p>
          <a:p>
            <a:r>
              <a:rPr lang="en-US" altLang="zh-CN" sz="2800" dirty="0"/>
              <a:t>Exploratory data analysis is concerned with this challenge of finding such structural information without any prior knowledge. </a:t>
            </a:r>
          </a:p>
          <a:p>
            <a:r>
              <a:rPr lang="en-US" altLang="zh-CN" sz="2800" dirty="0"/>
              <a:t>In this case, those techniques that consist in learning from data without prior knowledge are called generically unsupervised machine learning.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zh-CN" sz="3600" b="1" dirty="0"/>
              <a:t>Exploratory Data Analysis and Clustering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026" name="Picture 2" descr="http://media-springernature-com-s.webvpn.cug.edu.cn/original/springer-static/image/chp%3A10.1007%2F978-3-319-21903-5_7/MediaObjects/339948_1_En_7_Fig1_HTML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72816"/>
            <a:ext cx="7273660" cy="30963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zh-CN" sz="3600" b="1" dirty="0"/>
              <a:t>Exploratory Data Analysis and Clustering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r>
              <a:rPr lang="en-US" altLang="zh-CN" sz="2800" dirty="0"/>
              <a:t>Exploratory analysis consists in finding intrinsic structures in data sets like groups of data called cluster. </a:t>
            </a:r>
          </a:p>
          <a:p>
            <a:r>
              <a:rPr lang="en-US" altLang="zh-CN" sz="2800" dirty="0"/>
              <a:t>Clustering is a set of techniques that seek to find homogeneous clusters in data-sets. </a:t>
            </a:r>
          </a:p>
          <a:p>
            <a:r>
              <a:rPr lang="en-US" altLang="zh-CN" sz="2800" dirty="0"/>
              <a:t>In this example, the Human eye perceives three well-formed clusters.</a:t>
            </a:r>
          </a:p>
          <a:p>
            <a:r>
              <a:rPr lang="en-US" altLang="zh-CN" sz="2800" dirty="0"/>
              <a:t>In practice, data-sets are living in high dimensions, and thus cannot be visually inspected.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zh-CN" sz="3600" b="1" dirty="0"/>
              <a:t>Hard Clustering: Partitioning Data Sets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Partition-based clustering is a hard clustering technique.</a:t>
            </a:r>
          </a:p>
          <a:p>
            <a:r>
              <a:rPr lang="en-US" altLang="zh-CN" sz="2800" dirty="0"/>
              <a:t>Each element belongs to only one cluster.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3600" b="1" dirty="0"/>
              <a:t>The k-Means Objective Function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The k -means cost function asks to minimize the sum of squared Euclidean distances of data points to their closest prototype centers:</a:t>
            </a:r>
          </a:p>
          <a:p>
            <a:endParaRPr lang="zh-CN" alt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3501008"/>
            <a:ext cx="55911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3600" b="1" dirty="0"/>
              <a:t>Feature of k-means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Globular-shaped clusters can be obtained by k-Means clustering</a:t>
            </a:r>
            <a:endParaRPr lang="zh-CN" altLang="en-US" sz="2800" dirty="0"/>
          </a:p>
        </p:txBody>
      </p:sp>
      <p:pic>
        <p:nvPicPr>
          <p:cNvPr id="1026" name="Picture 2" descr="http://media-springernature-com-s.webvpn.cug.edu.cn/original/springer-static/image/chp%3A10.1007%2F978-3-319-21903-5_7/MediaObjects/339948_1_En_7_Fig3_HTML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2204864"/>
            <a:ext cx="4815928" cy="46531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zh-CN" sz="3600" b="1" dirty="0"/>
              <a:t>Parallel k-Means Clustering on a Cluster of Machines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Here, we consider that each computer has a single processing core (a processing unit). </a:t>
            </a:r>
          </a:p>
          <a:p>
            <a:r>
              <a:rPr lang="en-US" altLang="zh-CN" sz="2800" dirty="0"/>
              <a:t>Those different processors communicate with each other by sending and receiving messages using MPI.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3200" b="1" dirty="0"/>
              <a:t>Parallel k-Means Clustering on a Cluster of Machines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Sending a message has a communication cost that is split into two terms: one for the latency of initialization the communication and one that is proportional to the length of the message. </a:t>
            </a:r>
          </a:p>
          <a:p>
            <a:r>
              <a:rPr lang="en-US" altLang="zh-CN" sz="2800" dirty="0"/>
              <a:t>Sending structured data requires first to serialize it into a universal “string” before sending (encoding) at the sender node and to reconstruct it (de-serialize the string to reconstruct the structure) at the receiver node.</a:t>
            </a:r>
            <a:endParaRPr lang="zh-CN" altLang="en-US" sz="28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3200" b="1" dirty="0"/>
              <a:t>Parameters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A k-means clustering problem can be characterized by the number of attributes, the number of data elements n, and the number of clusters, k.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3200" b="1" dirty="0"/>
              <a:t>Step of algorithm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At run time, each processor knows the overall number of processors of the cluster, P, by using the function </a:t>
            </a:r>
            <a:r>
              <a:rPr lang="en-US" altLang="zh-CN" sz="2800" dirty="0" err="1"/>
              <a:t>MPI_Comm_size</a:t>
            </a:r>
            <a:r>
              <a:rPr lang="en-US" altLang="zh-CN" sz="2800" dirty="0"/>
              <a:t>(), and its rank number indexed between 0 and P−1 by using the standard MPI function </a:t>
            </a:r>
            <a:r>
              <a:rPr lang="en-US" altLang="zh-CN" sz="2800" dirty="0" err="1"/>
              <a:t>MPI_Comm_rank</a:t>
            </a:r>
            <a:r>
              <a:rPr lang="en-US" altLang="zh-CN" sz="2800" dirty="0"/>
              <a:t>().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3200" b="1" dirty="0"/>
              <a:t>Step of algorithm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It is the task of processor P0 to initialize the k cluster prototypes and to broadcast them to all other processors using the primitive </a:t>
            </a:r>
            <a:r>
              <a:rPr lang="en-US" altLang="zh-CN" sz="2800" dirty="0" err="1"/>
              <a:t>MPI_Bcast</a:t>
            </a:r>
            <a:r>
              <a:rPr lang="en-US" altLang="zh-CN" sz="2800" dirty="0"/>
              <a:t>(C, root processor). </a:t>
            </a:r>
          </a:p>
          <a:p>
            <a:r>
              <a:rPr lang="en-US" altLang="zh-CN" sz="2800" dirty="0"/>
              <a:t>Then we loop until convergence: </a:t>
            </a:r>
          </a:p>
          <a:p>
            <a:r>
              <a:rPr lang="en-US" altLang="zh-CN" sz="2800" dirty="0"/>
              <a:t>Each processor Pl computes the labeling of its group of data Xl , and the cumulative sum of the vectors of the k groups corresponding to Pl with the local cardinality of each cluster. 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sz="3200" b="1" dirty="0"/>
              <a:t>Step of algorithm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Then we aggregate and broadcast all those group cardinals using the MPI primitive </a:t>
            </a:r>
            <a:r>
              <a:rPr lang="en-US" altLang="zh-CN" sz="2800" dirty="0" err="1"/>
              <a:t>MPI_Allreduce</a:t>
            </a:r>
            <a:r>
              <a:rPr lang="en-US" altLang="zh-CN" sz="2800" dirty="0"/>
              <a:t>.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Given that k-means clustering problem is a NP-Hard computationally intensive problem, a distributed approach seems appropriate. </a:t>
            </a:r>
            <a:endParaRPr lang="en-US" altLang="zh-CN" sz="2800" dirty="0"/>
          </a:p>
          <a:p>
            <a:r>
              <a:rPr lang="en-US" altLang="zh-CN" sz="2800" dirty="0"/>
              <a:t>By</a:t>
            </a:r>
            <a:r>
              <a:rPr lang="en-US" altLang="zh-CN" sz="2800" dirty="0"/>
              <a:t> dividing up the computation load among many worker nodes, the program can be parallelized and </a:t>
            </a:r>
            <a:r>
              <a:rPr lang="en-US" altLang="zh-CN" sz="2800" dirty="0"/>
              <a:t>speed</a:t>
            </a:r>
            <a:r>
              <a:rPr lang="en-US" altLang="zh-CN" sz="2800" dirty="0"/>
              <a:t> up</a:t>
            </a:r>
            <a:r>
              <a:rPr lang="en-US" altLang="zh-CN" sz="2800" dirty="0"/>
              <a:t>.</a:t>
            </a:r>
            <a:r>
              <a:rPr lang="en-US" altLang="zh-CN" sz="2800" dirty="0"/>
              <a:t/>
            </a:r>
            <a:br>
              <a:rPr lang="en-US" altLang="zh-CN" sz="2800" dirty="0"/>
            </a:b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10649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The root node reads in the entire dataset and randomly chooses the initial k-means for each cluster</a:t>
            </a:r>
            <a:r>
              <a:rPr lang="en-US" altLang="zh-CN" sz="2800" dirty="0"/>
              <a:t>.</a:t>
            </a:r>
          </a:p>
          <a:p>
            <a:r>
              <a:rPr lang="en-US" altLang="zh-CN" sz="2800" dirty="0"/>
              <a:t>The</a:t>
            </a:r>
            <a:r>
              <a:rPr lang="en-US" altLang="zh-CN" sz="2800" dirty="0"/>
              <a:t> root node broadcasts the k-means to each n number of workers</a:t>
            </a:r>
            <a:r>
              <a:rPr lang="en-US" altLang="zh-CN" sz="2800" dirty="0"/>
              <a:t>.</a:t>
            </a:r>
          </a:p>
          <a:p>
            <a:r>
              <a:rPr lang="en-US" altLang="zh-CN" sz="2800" dirty="0"/>
              <a:t>The</a:t>
            </a:r>
            <a:r>
              <a:rPr lang="en-US" altLang="zh-CN" sz="2800" dirty="0"/>
              <a:t> root node distributes the dataset among n number of workers.</a:t>
            </a:r>
            <a:br>
              <a:rPr lang="en-US" altLang="zh-CN" sz="2800" dirty="0"/>
            </a:br>
            <a:r>
              <a:rPr lang="en-US" altLang="zh-CN" sz="2800" dirty="0"/>
              <a:t>Given its portion of the entire dataset, each worker does computational work against each k-means cluster and returns the result to the root</a:t>
            </a:r>
            <a:r>
              <a:rPr lang="en-US" altLang="zh-CN" sz="2800" dirty="0"/>
              <a:t>.</a:t>
            </a:r>
          </a:p>
          <a:p>
            <a:r>
              <a:rPr lang="en-US" altLang="zh-CN" sz="2800" dirty="0"/>
              <a:t>The</a:t>
            </a:r>
            <a:r>
              <a:rPr lang="en-US" altLang="zh-CN" sz="2800" dirty="0"/>
              <a:t> algorithm repeats for X number of iterations.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0255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sz="3600" b="1" dirty="0"/>
              <a:t>Notes and References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have emphasized on the fact that the </a:t>
            </a:r>
            <a:r>
              <a:rPr lang="en-US" altLang="zh-CN" i="1" dirty="0"/>
              <a:t>k</a:t>
            </a:r>
            <a:r>
              <a:rPr lang="en-US" altLang="zh-CN" dirty="0"/>
              <a:t>-means objective function seek to detect globular-shaped clusters. Although the </a:t>
            </a:r>
            <a:r>
              <a:rPr lang="en-US" altLang="zh-CN" i="1" dirty="0"/>
              <a:t>k</a:t>
            </a:r>
            <a:r>
              <a:rPr lang="en-US" altLang="zh-CN" dirty="0"/>
              <a:t>-means is often used in practice, it is not (by far!) a universal solution for clustering.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41437"/>
            <a:ext cx="7886700" cy="1325563"/>
          </a:xfrm>
        </p:spPr>
        <p:txBody>
          <a:bodyPr/>
          <a:lstStyle/>
          <a:p>
            <a:pPr algn="ctr" eaLnBrk="1" hangingPunct="1"/>
            <a:r>
              <a:rPr lang="en-US" altLang="zh-CN" sz="3600" b="1" dirty="0"/>
              <a:t>Disadvantage of k-means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482" name="Picture 2" descr="http://media-springernature-com-s.webvpn.cug.edu.cn/original/springer-static/image/chp%3A10.1007%2F978-3-319-21903-5_7/MediaObjects/339948_1_En_7_Fig9_HTML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844824"/>
            <a:ext cx="5205524" cy="40324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552</Words>
  <Application>Microsoft Office PowerPoint</Application>
  <PresentationFormat>全屏显示(4:3)</PresentationFormat>
  <Paragraphs>48</Paragraphs>
  <Slides>18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1_Office 主题</vt:lpstr>
      <vt:lpstr>PowerPoint 演示文稿</vt:lpstr>
      <vt:lpstr>PowerPoint 演示文稿</vt:lpstr>
      <vt:lpstr>Abstract</vt:lpstr>
      <vt:lpstr>Exploratory Data Analysis and Clustering</vt:lpstr>
      <vt:lpstr>Exploratory Data Analysis and Clustering</vt:lpstr>
      <vt:lpstr>Hard Clustering: Partitioning Data Sets</vt:lpstr>
      <vt:lpstr>The k-Means Objective Function</vt:lpstr>
      <vt:lpstr>Feature of k-means</vt:lpstr>
      <vt:lpstr>Parallel k-Means Clustering on a Cluster of Machines</vt:lpstr>
      <vt:lpstr>Parallel k-Means Clustering on a Cluster of Machines</vt:lpstr>
      <vt:lpstr>Parameters</vt:lpstr>
      <vt:lpstr>Step of algorithm</vt:lpstr>
      <vt:lpstr>Step of algorithm</vt:lpstr>
      <vt:lpstr>Step of algorithm</vt:lpstr>
      <vt:lpstr>PowerPoint 演示文稿</vt:lpstr>
      <vt:lpstr>PowerPoint 演示文稿</vt:lpstr>
      <vt:lpstr>Notes and References</vt:lpstr>
      <vt:lpstr>Disadvantage of k-means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Glance at High Performance Computing (HPC)</dc:title>
  <dc:creator>Administrator</dc:creator>
  <cp:lastModifiedBy>PC</cp:lastModifiedBy>
  <cp:revision>16</cp:revision>
  <dcterms:created xsi:type="dcterms:W3CDTF">2019-12-10T06:14:19Z</dcterms:created>
  <dcterms:modified xsi:type="dcterms:W3CDTF">2024-04-03T08:58:39Z</dcterms:modified>
</cp:coreProperties>
</file>