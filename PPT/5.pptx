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gif" ContentType="image/gi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77" r:id="rId3"/>
    <p:sldId id="278" r:id="rId4"/>
    <p:sldId id="257" r:id="rId5"/>
    <p:sldId id="286" r:id="rId6"/>
    <p:sldId id="287" r:id="rId7"/>
    <p:sldId id="288" r:id="rId8"/>
    <p:sldId id="289" r:id="rId9"/>
    <p:sldId id="290" r:id="rId10"/>
    <p:sldId id="291" r:id="rId11"/>
    <p:sldId id="292" r:id="rId12"/>
    <p:sldId id="296" r:id="rId13"/>
    <p:sldId id="297" r:id="rId14"/>
    <p:sldId id="294" r:id="rId15"/>
    <p:sldId id="295" r:id="rId16"/>
  </p:sldIdLst>
  <p:sldSz cx="9144000" cy="6858000" type="screen4x3"/>
  <p:notesSz cx="6858000" cy="9144000"/>
  <p:custDataLst>
    <p:tags r:id="rId20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1" d="100"/>
          <a:sy n="101" d="100"/>
        </p:scale>
        <p:origin x="510" y="51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0" Type="http://schemas.openxmlformats.org/officeDocument/2006/relationships/tags" Target="tags/tag2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7C86F7A-4C13-4512-9546-7A2E13DD49E4}" type="datetimeFigureOut">
              <a:rPr lang="zh-CN" altLang="en-US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6D5BE2B-728A-4539-B86A-F2CEE53DE51F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928C279-DE8B-468B-BC28-587297351CC5}" type="datetimeFigureOut">
              <a:rPr lang="zh-CN" altLang="en-US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D58769B-FD91-4354-84DF-C542D236D279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649DB7B-3909-433D-9621-020AC3631DB6}" type="datetimeFigureOut">
              <a:rPr lang="zh-CN" altLang="en-US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C02487E-DA75-40AD-AFB9-B7E667800914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57891DE-9EFB-436C-8098-DA346D61F734}" type="datetimeFigureOut">
              <a:rPr lang="zh-CN" altLang="en-US"/>
            </a:fld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9019AB3-A56A-40DC-B315-4C9AF1D9AEF0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588A4FD-48AA-4EB3-ADAB-90805DF574A9}" type="datetimeFigureOut">
              <a:rPr lang="zh-CN" altLang="en-US"/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219823B-989B-4FE0-A31C-A45838B716C6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CC83F5B-15CF-41AD-AAF7-C365C83FF08D}" type="datetimeFigureOut">
              <a:rPr lang="zh-CN" altLang="en-US"/>
            </a:fld>
            <a:endParaRPr lang="zh-CN" altLang="en-US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87C2566-FD93-41C5-8007-9C6D9D8DF86C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7F8473D-2D84-413D-97BD-015ADE628A5A}" type="datetimeFigureOut">
              <a:rPr lang="zh-CN" altLang="en-US"/>
            </a:fld>
            <a:endParaRPr lang="zh-CN" altLang="en-US"/>
          </a:p>
        </p:txBody>
      </p:sp>
      <p:sp>
        <p:nvSpPr>
          <p:cNvPr id="3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D55DC8D-C4F0-4F0D-B826-92573808DA56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CFA7D9F-B4F6-4B7D-8D30-9FDE43AA2DD2}" type="datetimeFigureOut">
              <a:rPr lang="zh-CN" altLang="en-US"/>
            </a:fld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CB07F97-2FC2-4714-850C-6700199D6194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rtlCol="0">
            <a:normAutofit/>
          </a:bodyPr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DAE2CA6-8D79-400E-AD1E-56E3E0DA2BAA}" type="datetimeFigureOut">
              <a:rPr lang="zh-CN" altLang="en-US"/>
            </a:fld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4D9D1E1-5454-45C3-93DA-86C3DA9ECB48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C852424-72F4-440E-8E03-587598E5B119}" type="datetimeFigureOut">
              <a:rPr lang="zh-CN" altLang="en-US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7DF9EC1-C088-4DAC-AB69-D10F40584BD3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F9EF9C9-4C84-4072-AFAA-D241A8D58A51}" type="datetimeFigureOut">
              <a:rPr lang="zh-CN" altLang="en-US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90597D9-2D04-4C83-915B-79D3B5D496F9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/>
          </p:cNvSpPr>
          <p:nvPr>
            <p:ph type="title"/>
          </p:nvPr>
        </p:nvSpPr>
        <p:spPr bwMode="auto"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27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9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583BA994-DBC0-4389-9AC3-50B67B3923E1}" type="datetimeFigureOut">
              <a:rPr lang="zh-CN" altLang="en-US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9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 algn="r" eaLnBrk="1" hangingPunct="1">
              <a:defRPr sz="900">
                <a:solidFill>
                  <a:srgbClr val="898989"/>
                </a:solidFill>
              </a:defRPr>
            </a:lvl1pPr>
          </a:lstStyle>
          <a:p>
            <a:fld id="{DA430D88-0AE5-4EDA-BDD3-1B97B5FCD56A}" type="slidenum">
              <a:rPr lang="zh-CN" altLang="en-US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5pPr>
      <a:lvl6pPr marL="342900" algn="l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6pPr>
      <a:lvl7pPr marL="685800" algn="l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7pPr>
      <a:lvl8pPr marL="1028700" algn="l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8pPr>
      <a:lvl9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9pPr>
    </p:titleStyle>
    <p:bodyStyle>
      <a:lvl1pPr marL="171450" indent="-171450" algn="l" rtl="0" eaLnBrk="0" fontAlgn="base" hangingPunct="0">
        <a:lnSpc>
          <a:spcPct val="90000"/>
        </a:lnSpc>
        <a:spcBef>
          <a:spcPts val="750"/>
        </a:spcBef>
        <a:spcAft>
          <a:spcPct val="0"/>
        </a:spcAft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.jpe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GIF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GIF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1.png"/><Relationship Id="rId1" Type="http://schemas.openxmlformats.org/officeDocument/2006/relationships/tags" Target="../tags/tag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文本框 18"/>
          <p:cNvSpPr txBox="1"/>
          <p:nvPr/>
        </p:nvSpPr>
        <p:spPr>
          <a:xfrm>
            <a:off x="1494235" y="2931718"/>
            <a:ext cx="6128147" cy="600164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defTabSz="685800">
              <a:defRPr/>
            </a:pPr>
            <a:r>
              <a:rPr lang="en-US" altLang="zh-CN" sz="3300" b="1" dirty="0">
                <a:solidFill>
                  <a:prstClr val="black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High Performance Computation </a:t>
            </a:r>
            <a:endParaRPr lang="zh-CN" altLang="en-US" sz="3300" b="1" spc="225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59" name="组合 58"/>
          <p:cNvGrpSpPr/>
          <p:nvPr/>
        </p:nvGrpSpPr>
        <p:grpSpPr bwMode="auto">
          <a:xfrm>
            <a:off x="3136041" y="3861598"/>
            <a:ext cx="2884884" cy="271463"/>
            <a:chOff x="4154888" y="3453573"/>
            <a:chExt cx="3846874" cy="361046"/>
          </a:xfrm>
        </p:grpSpPr>
        <p:cxnSp>
          <p:nvCxnSpPr>
            <p:cNvPr id="21" name="直接连接符 20"/>
            <p:cNvCxnSpPr/>
            <p:nvPr/>
          </p:nvCxnSpPr>
          <p:spPr>
            <a:xfrm>
              <a:off x="4154888" y="3453573"/>
              <a:ext cx="3846874" cy="0"/>
            </a:xfrm>
            <a:prstGeom prst="line">
              <a:avLst/>
            </a:prstGeom>
            <a:ln w="25400">
              <a:solidFill>
                <a:srgbClr val="04487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等腰三角形 27"/>
            <p:cNvSpPr/>
            <p:nvPr/>
          </p:nvSpPr>
          <p:spPr>
            <a:xfrm flipV="1">
              <a:off x="5872725" y="3459907"/>
              <a:ext cx="411201" cy="354712"/>
            </a:xfrm>
            <a:prstGeom prst="triangle">
              <a:avLst/>
            </a:prstGeom>
            <a:solidFill>
              <a:srgbClr val="04487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685800">
                <a:defRPr/>
              </a:pPr>
              <a:endParaRPr lang="zh-CN" altLang="en-US" sz="135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endParaRPr>
            </a:p>
          </p:txBody>
        </p:sp>
      </p:grpSp>
      <p:sp>
        <p:nvSpPr>
          <p:cNvPr id="22" name="文本框 21"/>
          <p:cNvSpPr txBox="1">
            <a:spLocks noChangeArrowheads="1"/>
          </p:cNvSpPr>
          <p:nvPr/>
        </p:nvSpPr>
        <p:spPr bwMode="auto">
          <a:xfrm>
            <a:off x="2178845" y="4123138"/>
            <a:ext cx="2225278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eaLnBrk="0" fontAlgn="base" hangingPunct="0"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eaLnBrk="0" fontAlgn="base" hangingPunct="0"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eaLnBrk="0" fontAlgn="base" hangingPunct="0"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eaLnBrk="0" fontAlgn="base" hangingPunct="0"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defTabSz="685800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500" dirty="0">
                <a:solidFill>
                  <a:srgbClr val="04487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China University of Geosciences</a:t>
            </a:r>
            <a:endParaRPr lang="zh-CN" altLang="en-US" sz="1500" dirty="0">
              <a:solidFill>
                <a:srgbClr val="044875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文本框 25"/>
          <p:cNvSpPr txBox="1">
            <a:spLocks noChangeArrowheads="1"/>
          </p:cNvSpPr>
          <p:nvPr/>
        </p:nvSpPr>
        <p:spPr bwMode="auto">
          <a:xfrm>
            <a:off x="4954456" y="4123138"/>
            <a:ext cx="1922859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eaLnBrk="0" fontAlgn="base" hangingPunct="0"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eaLnBrk="0" fontAlgn="base" hangingPunct="0"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eaLnBrk="0" fontAlgn="base" hangingPunct="0"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eaLnBrk="0" fontAlgn="base" hangingPunct="0"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defTabSz="685800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500" dirty="0" err="1">
                <a:solidFill>
                  <a:srgbClr val="04487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Chengjun</a:t>
            </a:r>
            <a:r>
              <a:rPr lang="en-US" altLang="zh-CN" sz="1500" dirty="0">
                <a:solidFill>
                  <a:srgbClr val="04487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Li</a:t>
            </a:r>
            <a:endParaRPr lang="zh-CN" altLang="en-US" sz="1500" dirty="0">
              <a:solidFill>
                <a:srgbClr val="044875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1200151" y="2728120"/>
            <a:ext cx="6717506" cy="1879865"/>
          </a:xfrm>
          <a:prstGeom prst="rect">
            <a:avLst/>
          </a:prstGeom>
          <a:noFill/>
          <a:ln w="25400">
            <a:solidFill>
              <a:srgbClr val="04487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685800">
              <a:defRPr/>
            </a:pPr>
            <a:endParaRPr lang="zh-CN" altLang="en-US" sz="1350">
              <a:solidFill>
                <a:prstClr val="white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  <p:grpSp>
        <p:nvGrpSpPr>
          <p:cNvPr id="43" name="组合 42"/>
          <p:cNvGrpSpPr/>
          <p:nvPr/>
        </p:nvGrpSpPr>
        <p:grpSpPr bwMode="auto">
          <a:xfrm>
            <a:off x="7717632" y="4414973"/>
            <a:ext cx="832247" cy="847725"/>
            <a:chOff x="2666985" y="682103"/>
            <a:chExt cx="1109138" cy="1131217"/>
          </a:xfrm>
        </p:grpSpPr>
        <p:sp>
          <p:nvSpPr>
            <p:cNvPr id="40" name="矩形 39"/>
            <p:cNvSpPr/>
            <p:nvPr/>
          </p:nvSpPr>
          <p:spPr>
            <a:xfrm>
              <a:off x="2841527" y="858458"/>
              <a:ext cx="769574" cy="768973"/>
            </a:xfrm>
            <a:prstGeom prst="rect">
              <a:avLst/>
            </a:prstGeom>
            <a:solidFill>
              <a:srgbClr val="04487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685800">
                <a:defRPr/>
              </a:pPr>
              <a:endParaRPr lang="zh-CN" altLang="en-US" sz="135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endParaRPr>
            </a:p>
          </p:txBody>
        </p:sp>
        <p:sp>
          <p:nvSpPr>
            <p:cNvPr id="41" name="矩形 40"/>
            <p:cNvSpPr/>
            <p:nvPr/>
          </p:nvSpPr>
          <p:spPr>
            <a:xfrm>
              <a:off x="2666985" y="682103"/>
              <a:ext cx="558536" cy="559253"/>
            </a:xfrm>
            <a:prstGeom prst="rect">
              <a:avLst/>
            </a:prstGeom>
            <a:solidFill>
              <a:schemeClr val="bg2">
                <a:lumMod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685800">
                <a:defRPr/>
              </a:pPr>
              <a:endParaRPr lang="zh-CN" altLang="en-US" sz="135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endParaRPr>
            </a:p>
          </p:txBody>
        </p:sp>
        <p:sp>
          <p:nvSpPr>
            <p:cNvPr id="42" name="矩形 41"/>
            <p:cNvSpPr/>
            <p:nvPr/>
          </p:nvSpPr>
          <p:spPr>
            <a:xfrm>
              <a:off x="3217587" y="1254067"/>
              <a:ext cx="558536" cy="559253"/>
            </a:xfrm>
            <a:prstGeom prst="rect">
              <a:avLst/>
            </a:prstGeom>
            <a:solidFill>
              <a:schemeClr val="bg2">
                <a:lumMod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685800">
                <a:defRPr/>
              </a:pPr>
              <a:endParaRPr lang="zh-CN" altLang="en-US" sz="135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endParaRPr>
            </a:p>
          </p:txBody>
        </p:sp>
      </p:grpSp>
      <p:grpSp>
        <p:nvGrpSpPr>
          <p:cNvPr id="44" name="组合 43"/>
          <p:cNvGrpSpPr/>
          <p:nvPr/>
        </p:nvGrpSpPr>
        <p:grpSpPr bwMode="auto">
          <a:xfrm>
            <a:off x="594122" y="2131618"/>
            <a:ext cx="832247" cy="848915"/>
            <a:chOff x="2666985" y="682103"/>
            <a:chExt cx="1109138" cy="1131217"/>
          </a:xfrm>
        </p:grpSpPr>
        <p:sp>
          <p:nvSpPr>
            <p:cNvPr id="45" name="矩形 44"/>
            <p:cNvSpPr/>
            <p:nvPr/>
          </p:nvSpPr>
          <p:spPr>
            <a:xfrm>
              <a:off x="2841528" y="858211"/>
              <a:ext cx="769573" cy="769482"/>
            </a:xfrm>
            <a:prstGeom prst="rect">
              <a:avLst/>
            </a:prstGeom>
            <a:solidFill>
              <a:srgbClr val="04487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685800">
                <a:defRPr/>
              </a:pPr>
              <a:endParaRPr lang="zh-CN" altLang="en-US" sz="135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endParaRPr>
            </a:p>
          </p:txBody>
        </p:sp>
        <p:sp>
          <p:nvSpPr>
            <p:cNvPr id="46" name="矩形 45"/>
            <p:cNvSpPr/>
            <p:nvPr/>
          </p:nvSpPr>
          <p:spPr>
            <a:xfrm>
              <a:off x="2666985" y="682103"/>
              <a:ext cx="558536" cy="558469"/>
            </a:xfrm>
            <a:prstGeom prst="rect">
              <a:avLst/>
            </a:prstGeom>
            <a:solidFill>
              <a:schemeClr val="bg2">
                <a:lumMod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685800">
                <a:defRPr/>
              </a:pPr>
              <a:endParaRPr lang="zh-CN" altLang="en-US" sz="135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endParaRPr>
            </a:p>
          </p:txBody>
        </p:sp>
        <p:sp>
          <p:nvSpPr>
            <p:cNvPr id="47" name="矩形 46"/>
            <p:cNvSpPr/>
            <p:nvPr/>
          </p:nvSpPr>
          <p:spPr>
            <a:xfrm>
              <a:off x="3217587" y="1254851"/>
              <a:ext cx="558536" cy="558469"/>
            </a:xfrm>
            <a:prstGeom prst="rect">
              <a:avLst/>
            </a:prstGeom>
            <a:solidFill>
              <a:schemeClr val="bg2">
                <a:lumMod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685800">
                <a:defRPr/>
              </a:pPr>
              <a:endParaRPr lang="zh-CN" altLang="en-US" sz="135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endParaRPr>
            </a:p>
          </p:txBody>
        </p:sp>
      </p:grpSp>
      <p:sp>
        <p:nvSpPr>
          <p:cNvPr id="49" name="矩形 48"/>
          <p:cNvSpPr/>
          <p:nvPr/>
        </p:nvSpPr>
        <p:spPr>
          <a:xfrm>
            <a:off x="0" y="847726"/>
            <a:ext cx="9144000" cy="279797"/>
          </a:xfrm>
          <a:prstGeom prst="rect">
            <a:avLst/>
          </a:prstGeom>
          <a:solidFill>
            <a:srgbClr val="0448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685800">
              <a:defRPr/>
            </a:pPr>
            <a:endParaRPr lang="zh-CN" altLang="en-US" sz="1350">
              <a:solidFill>
                <a:prstClr val="white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  <p:sp>
        <p:nvSpPr>
          <p:cNvPr id="53" name="矩形 52"/>
          <p:cNvSpPr/>
          <p:nvPr/>
        </p:nvSpPr>
        <p:spPr>
          <a:xfrm>
            <a:off x="8674894" y="5749528"/>
            <a:ext cx="469106" cy="251222"/>
          </a:xfrm>
          <a:prstGeom prst="rect">
            <a:avLst/>
          </a:prstGeom>
          <a:solidFill>
            <a:srgbClr val="0448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685800">
              <a:defRPr/>
            </a:pPr>
            <a:endParaRPr lang="zh-CN" altLang="en-US" sz="1350">
              <a:solidFill>
                <a:prstClr val="white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  <p:sp>
        <p:nvSpPr>
          <p:cNvPr id="54" name="矩形 53"/>
          <p:cNvSpPr/>
          <p:nvPr/>
        </p:nvSpPr>
        <p:spPr>
          <a:xfrm>
            <a:off x="-1" y="5749528"/>
            <a:ext cx="8674894" cy="251222"/>
          </a:xfrm>
          <a:prstGeom prst="rect">
            <a:avLst/>
          </a:prstGeom>
          <a:solidFill>
            <a:srgbClr val="0448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685800">
              <a:defRPr/>
            </a:pPr>
            <a:endParaRPr lang="zh-CN" altLang="en-US" sz="1350">
              <a:solidFill>
                <a:prstClr val="white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2083974" y="2466167"/>
            <a:ext cx="4757090" cy="369332"/>
          </a:xfrm>
          <a:prstGeom prst="rect">
            <a:avLst/>
          </a:prstGeom>
          <a:blipFill dpi="0" rotWithShape="1">
            <a:blip r:embed="rId1"/>
            <a:srcRect/>
            <a:stretch>
              <a:fillRect t="-45000"/>
            </a:stretch>
          </a:blipFill>
        </p:spPr>
        <p:txBody>
          <a:bodyPr wrap="square">
            <a:spAutoFit/>
          </a:bodyPr>
          <a:lstStyle/>
          <a:p>
            <a:pPr algn="ctr" defTabSz="685800" fontAlgn="base">
              <a:spcBef>
                <a:spcPct val="0"/>
              </a:spcBef>
              <a:spcAft>
                <a:spcPct val="0"/>
              </a:spcAft>
            </a:pPr>
            <a:endParaRPr lang="zh-CN" altLang="en-US" b="1" dirty="0">
              <a:solidFill>
                <a:srgbClr val="044875"/>
              </a:solidFill>
              <a:latin typeface="PMingLiU-ExtB" panose="02020500000000000000" pitchFamily="18" charset="-120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pic>
        <p:nvPicPr>
          <p:cNvPr id="24" name="图片 23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4067055" y="1455359"/>
            <a:ext cx="887401" cy="850751"/>
          </a:xfrm>
          <a:prstGeom prst="ellipse">
            <a:avLst/>
          </a:prstGeom>
          <a:ln w="63500" cap="rnd">
            <a:noFill/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6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4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4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2" grpId="0"/>
      <p:bldP spid="26" grpId="0"/>
      <p:bldP spid="9" grpId="0" animBg="1"/>
      <p:bldP spid="49" grpId="0" animBg="1"/>
      <p:bldP spid="53" grpId="0" animBg="1"/>
      <p:bldP spid="54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0" y="2368153"/>
            <a:ext cx="9144000" cy="2137172"/>
          </a:xfrm>
          <a:prstGeom prst="rect">
            <a:avLst/>
          </a:prstGeom>
          <a:solidFill>
            <a:srgbClr val="0448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685800">
              <a:defRPr/>
            </a:pPr>
            <a:endParaRPr lang="zh-CN" altLang="en-US" sz="1350">
              <a:solidFill>
                <a:prstClr val="white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" y="2855119"/>
            <a:ext cx="822722" cy="406004"/>
          </a:xfrm>
          <a:prstGeom prst="rect">
            <a:avLst/>
          </a:prstGeom>
          <a:solidFill>
            <a:srgbClr val="D6E0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685800">
              <a:defRPr/>
            </a:pPr>
            <a:endParaRPr lang="zh-CN" altLang="en-US" sz="1350">
              <a:solidFill>
                <a:prstClr val="white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  <p:sp>
        <p:nvSpPr>
          <p:cNvPr id="8" name="文本框 7"/>
          <p:cNvSpPr txBox="1">
            <a:spLocks noChangeArrowheads="1"/>
          </p:cNvSpPr>
          <p:nvPr/>
        </p:nvSpPr>
        <p:spPr bwMode="auto">
          <a:xfrm>
            <a:off x="709613" y="2357438"/>
            <a:ext cx="1154906" cy="14196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eaLnBrk="0" fontAlgn="base" hangingPunct="0"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eaLnBrk="0" fontAlgn="base" hangingPunct="0"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eaLnBrk="0" fontAlgn="base" hangingPunct="0"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eaLnBrk="0" fontAlgn="base" hangingPunct="0"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defTabSz="685800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8625" dirty="0">
                <a:solidFill>
                  <a:prstClr val="white"/>
                </a:solidFill>
                <a:latin typeface="Impact" panose="020B0806030902050204" pitchFamily="34" charset="0"/>
              </a:rPr>
              <a:t>5</a:t>
            </a:r>
            <a:endParaRPr lang="zh-CN" altLang="en-US" sz="8625" dirty="0">
              <a:solidFill>
                <a:prstClr val="white"/>
              </a:solidFill>
              <a:latin typeface="Impact" panose="020B0806030902050204" pitchFamily="34" charset="0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1874044" y="2855119"/>
            <a:ext cx="7269956" cy="406004"/>
          </a:xfrm>
          <a:prstGeom prst="rect">
            <a:avLst/>
          </a:prstGeom>
          <a:solidFill>
            <a:srgbClr val="D6E0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685800">
              <a:defRPr/>
            </a:pPr>
            <a:endParaRPr lang="zh-CN" altLang="en-US" sz="1350">
              <a:solidFill>
                <a:prstClr val="white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  <p:sp>
        <p:nvSpPr>
          <p:cNvPr id="12" name="文本框 11"/>
          <p:cNvSpPr txBox="1">
            <a:spLocks noChangeArrowheads="1"/>
          </p:cNvSpPr>
          <p:nvPr/>
        </p:nvSpPr>
        <p:spPr bwMode="auto">
          <a:xfrm>
            <a:off x="0" y="3581400"/>
            <a:ext cx="9144000" cy="7694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eaLnBrk="0" fontAlgn="base" hangingPunct="0"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eaLnBrk="0" fontAlgn="base" hangingPunct="0"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eaLnBrk="0" fontAlgn="base" hangingPunct="0"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eaLnBrk="0" fontAlgn="base" hangingPunct="0"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r" defTabSz="685800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44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Parallel Linear Algebra</a:t>
            </a:r>
            <a:endParaRPr lang="zh-CN" altLang="en-US" sz="4400" b="1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8" grpId="0"/>
      <p:bldP spid="10" grpId="0" animBg="1"/>
      <p:bldP spid="1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en-US" altLang="zh-CN" sz="4400" b="1" dirty="0"/>
              <a:t>Abstract</a:t>
            </a:r>
            <a:endParaRPr lang="zh-CN" altLang="en-US" sz="4400" b="1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The field of algorithms covering </a:t>
            </a:r>
            <a:r>
              <a:rPr lang="en-US" altLang="zh-CN" i="1" dirty="0"/>
              <a:t>linear algebra</a:t>
            </a:r>
            <a:r>
              <a:rPr lang="en-US" altLang="zh-CN" dirty="0"/>
              <a:t> implementations is very rich and versatile.</a:t>
            </a:r>
            <a:endParaRPr lang="en-US" altLang="zh-CN" dirty="0"/>
          </a:p>
          <a:p>
            <a:endParaRPr lang="zh-CN" alt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sz="4000" b="1" dirty="0"/>
              <a:t>Linear algebra for Data Science (DS)</a:t>
            </a:r>
            <a:endParaRPr lang="zh-CN" altLang="en-US" sz="4000" b="1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DS heavily relies on efficient implementation of linear algebra primitives in three main categories.</a:t>
            </a:r>
            <a:endParaRPr lang="en-US" altLang="zh-CN" dirty="0"/>
          </a:p>
          <a:p>
            <a:r>
              <a:rPr lang="en-US" altLang="zh-CN" dirty="0"/>
              <a:t>Clustering. Seeking for homogeneous group in data-sets .</a:t>
            </a:r>
            <a:endParaRPr lang="en-US" altLang="zh-CN" dirty="0"/>
          </a:p>
          <a:p>
            <a:r>
              <a:rPr lang="en-US" altLang="zh-CN" dirty="0"/>
              <a:t>Classification. Given a training set of data labeled with their class, we seek to label new unlabeled data by means of a </a:t>
            </a:r>
            <a:r>
              <a:rPr lang="en-US" altLang="zh-CN" i="1" dirty="0"/>
              <a:t>classifier</a:t>
            </a:r>
            <a:r>
              <a:rPr lang="en-US" altLang="zh-CN" dirty="0"/>
              <a:t> . That is, we predict a discrete class variable.</a:t>
            </a:r>
            <a:endParaRPr lang="en-US" altLang="zh-CN" dirty="0"/>
          </a:p>
          <a:p>
            <a:r>
              <a:rPr lang="en-US" altLang="zh-CN" dirty="0"/>
              <a:t>Regression. Given a data-set and a function on this data-set, we ask for the best model of the function that explains the data. In general, </a:t>
            </a:r>
            <a:r>
              <a:rPr lang="en-US" altLang="zh-CN" i="1" dirty="0"/>
              <a:t>regression</a:t>
            </a:r>
            <a:r>
              <a:rPr lang="en-US" altLang="zh-CN" dirty="0"/>
              <a:t> is a mechanism that allows to study the relationship of a variable with another.</a:t>
            </a:r>
            <a:endParaRPr lang="en-US" altLang="zh-CN" dirty="0"/>
          </a:p>
          <a:p>
            <a:endParaRPr lang="zh-CN" alt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7" name="内容占位符 6" descr="New Bitmap Image.bmp"/>
          <p:cNvPicPr>
            <a:picLocks noGrp="1" noChangeAspect="1"/>
          </p:cNvPicPr>
          <p:nvPr>
            <p:ph idx="1"/>
          </p:nvPr>
        </p:nvPicPr>
        <p:blipFill>
          <a:blip r:embed="rId1" cstate="print"/>
          <a:stretch>
            <a:fillRect/>
          </a:stretch>
        </p:blipFill>
        <p:spPr>
          <a:xfrm>
            <a:off x="1544161" y="1628800"/>
            <a:ext cx="6196191" cy="4572451"/>
          </a:xfrm>
        </p:spPr>
      </p:pic>
      <p:sp>
        <p:nvSpPr>
          <p:cNvPr id="1026" name="AutoShape 2" descr="https://webvpn.cug.edu.cn/por/login_psw.csp?sfrnd=2346912324982305&amp;redirect_uri=http%3A%2F%2Fmedia-springernature-com-s.webvpn.cug.edu.cn%2Foriginal%2Fspringer-static%2Fimage%2Fchp%3A10.1007%2F978-3-319-21903-5_5%2FMediaObjects%2F339948_1_En_5_Fig1_HTML.gif&amp;encrypt=1"/>
          <p:cNvSpPr>
            <a:spLocks noChangeAspect="1" noChangeArrowheads="1"/>
          </p:cNvSpPr>
          <p:nvPr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028" name="AutoShape 4" descr="https://webvpn.cug.edu.cn/por/login_psw.csp?sfrnd=2346912324982305&amp;redirect_uri=http%3A%2F%2Fmedia-springernature-com-s.webvpn.cug.edu.cn%2Foriginal%2Fspringer-static%2Fimage%2Fchp%3A10.1007%2F978-3-319-21903-5_5%2FMediaObjects%2F339948_1_En_5_Fig1_HTML.gif&amp;encrypt=1"/>
          <p:cNvSpPr>
            <a:spLocks noChangeAspect="1" noChangeArrowheads="1"/>
          </p:cNvSpPr>
          <p:nvPr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341437"/>
            <a:ext cx="7886700" cy="1325563"/>
          </a:xfrm>
        </p:spPr>
        <p:txBody>
          <a:bodyPr/>
          <a:lstStyle/>
          <a:p>
            <a:pPr algn="ctr"/>
            <a:r>
              <a:rPr lang="en-US" altLang="zh-CN" sz="4000" b="1" dirty="0"/>
              <a:t>Classic Linear Algebra</a:t>
            </a:r>
            <a:endParaRPr lang="zh-CN" altLang="en-US" sz="4000" b="1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Traditionally, linear algebra has considered column vectors and matrices.</a:t>
            </a:r>
            <a:endParaRPr lang="zh-CN" altLang="en-US" dirty="0"/>
          </a:p>
          <a:p>
            <a:endParaRPr lang="zh-CN" altLang="en-US" dirty="0"/>
          </a:p>
        </p:txBody>
      </p:sp>
      <p:pic>
        <p:nvPicPr>
          <p:cNvPr id="17411" name="Picture 3" descr="C:\Users\Jeff\AppData\Roaming\Tencent\Users\79050946\QQ\WinTemp\RichOle\Y_BJBTLSX[@)XQNG09GE65S.png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1187624" y="3920455"/>
            <a:ext cx="1895475" cy="1866900"/>
          </a:xfrm>
          <a:prstGeom prst="rect">
            <a:avLst/>
          </a:prstGeom>
          <a:noFill/>
        </p:spPr>
      </p:pic>
      <p:pic>
        <p:nvPicPr>
          <p:cNvPr id="17412" name="Picture 4" descr="C:\Users\Jeff\AppData\Roaming\Tencent\Users\79050946\QQ\WinTemp\RichOle\(`)9(~(2IYS87HOU0U(TLZ1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707904" y="3848447"/>
            <a:ext cx="4333875" cy="2028825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s-ES" altLang="zh-CN" sz="4000" b="1" dirty="0"/>
              <a:t>The Matrix–Vector Product</a:t>
            </a:r>
            <a:endParaRPr lang="zh-CN" altLang="en-US" sz="4000" b="1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The </a:t>
            </a:r>
            <a:r>
              <a:rPr lang="en-US" altLang="zh-CN" i="1" dirty="0"/>
              <a:t>matrix–vector</a:t>
            </a:r>
            <a:r>
              <a:rPr lang="en-US" altLang="zh-CN" dirty="0"/>
              <a:t> product computes </a:t>
            </a:r>
            <a:r>
              <a:rPr lang="en-US" altLang="zh-CN" i="1" dirty="0"/>
              <a:t>y</a:t>
            </a:r>
            <a:r>
              <a:rPr lang="en-US" altLang="zh-CN" dirty="0"/>
              <a:t>=</a:t>
            </a:r>
            <a:r>
              <a:rPr lang="en-US" altLang="zh-CN" i="1" dirty="0" err="1"/>
              <a:t>A</a:t>
            </a:r>
            <a:r>
              <a:rPr lang="en-US" altLang="zh-CN" dirty="0" err="1"/>
              <a:t>×</a:t>
            </a:r>
            <a:r>
              <a:rPr lang="en-US" altLang="zh-CN" i="1" dirty="0" err="1"/>
              <a:t>x</a:t>
            </a:r>
            <a:r>
              <a:rPr lang="en-US" altLang="zh-CN" dirty="0"/>
              <a:t>  for a square matrix </a:t>
            </a:r>
            <a:r>
              <a:rPr lang="en-US" altLang="zh-CN" i="1" dirty="0"/>
              <a:t>A</a:t>
            </a:r>
            <a:r>
              <a:rPr lang="en-US" altLang="zh-CN" dirty="0"/>
              <a:t> of dimension </a:t>
            </a:r>
            <a:r>
              <a:rPr lang="en-US" altLang="zh-CN" i="1" dirty="0" err="1"/>
              <a:t>d</a:t>
            </a:r>
            <a:r>
              <a:rPr lang="en-US" altLang="zh-CN" dirty="0" err="1"/>
              <a:t>×</a:t>
            </a:r>
            <a:r>
              <a:rPr lang="en-US" altLang="zh-CN" i="1" dirty="0" err="1"/>
              <a:t>d</a:t>
            </a:r>
            <a:r>
              <a:rPr lang="en-US" altLang="zh-CN" dirty="0"/>
              <a:t> and </a:t>
            </a:r>
            <a:r>
              <a:rPr lang="en-US" altLang="zh-CN" i="1" dirty="0"/>
              <a:t>x</a:t>
            </a:r>
            <a:r>
              <a:rPr lang="en-US" altLang="zh-CN" dirty="0"/>
              <a:t> a </a:t>
            </a:r>
            <a:r>
              <a:rPr lang="en-US" altLang="zh-CN" i="1" dirty="0"/>
              <a:t>d</a:t>
            </a:r>
            <a:r>
              <a:rPr lang="en-US" altLang="zh-CN" dirty="0"/>
              <a:t>-dimensional column vector.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Each element y</a:t>
            </a:r>
            <a:r>
              <a:rPr lang="en-US" altLang="zh-CN" baseline="-25000" dirty="0"/>
              <a:t>i</a:t>
            </a:r>
            <a:r>
              <a:rPr lang="en-US" altLang="zh-CN" dirty="0"/>
              <a:t> is independent of the others y</a:t>
            </a:r>
            <a:r>
              <a:rPr lang="en-US" altLang="zh-CN" baseline="-25000" dirty="0"/>
              <a:t>j</a:t>
            </a:r>
            <a:r>
              <a:rPr lang="en-US" altLang="zh-CN" dirty="0"/>
              <a:t> , and only depend on the </a:t>
            </a:r>
            <a:r>
              <a:rPr lang="en-US" altLang="zh-CN" i="1" dirty="0"/>
              <a:t>x</a:t>
            </a:r>
            <a:r>
              <a:rPr lang="en-US" altLang="zh-CN" dirty="0"/>
              <a:t> vector and a single row of </a:t>
            </a:r>
            <a:r>
              <a:rPr lang="en-US" altLang="zh-CN" i="1" dirty="0"/>
              <a:t>A</a:t>
            </a:r>
            <a:r>
              <a:rPr lang="en-US" altLang="zh-CN" dirty="0"/>
              <a:t>. Thus all y</a:t>
            </a:r>
            <a:r>
              <a:rPr lang="en-US" altLang="zh-CN" baseline="-25000" dirty="0"/>
              <a:t>i</a:t>
            </a:r>
            <a:r>
              <a:rPr lang="en-US" altLang="zh-CN" dirty="0"/>
              <a:t> coefficients can be </a:t>
            </a:r>
            <a:r>
              <a:rPr lang="en-US" altLang="zh-CN" i="1" dirty="0"/>
              <a:t>simultaneously computed independently</a:t>
            </a:r>
            <a:r>
              <a:rPr lang="en-US" altLang="zh-CN" dirty="0"/>
              <a:t>. </a:t>
            </a:r>
            <a:endParaRPr lang="zh-CN" altLang="en-US" dirty="0"/>
          </a:p>
        </p:txBody>
      </p:sp>
      <p:pic>
        <p:nvPicPr>
          <p:cNvPr id="18435" name="Picture 3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971600" y="2708920"/>
            <a:ext cx="2609850" cy="1400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We may partition the problem.</a:t>
            </a:r>
            <a:endParaRPr lang="en-US" altLang="zh-CN" dirty="0"/>
          </a:p>
          <a:p>
            <a:r>
              <a:rPr lang="en-US" altLang="zh-CN" dirty="0"/>
              <a:t>We locally compute the </a:t>
            </a:r>
            <a:r>
              <a:rPr lang="en-US" altLang="zh-CN" i="1" dirty="0" err="1"/>
              <a:t>nP</a:t>
            </a:r>
            <a:r>
              <a:rPr lang="en-US" altLang="zh-CN" dirty="0"/>
              <a:t> scalar products on processes, and then finally combine these results to obtain the </a:t>
            </a:r>
            <a:r>
              <a:rPr lang="en-US" altLang="zh-CN" i="1" dirty="0"/>
              <a:t>y</a:t>
            </a:r>
            <a:r>
              <a:rPr lang="en-US" altLang="zh-CN" dirty="0"/>
              <a:t> vector.</a:t>
            </a:r>
            <a:endParaRPr lang="zh-CN" alt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sz="4000" b="1" dirty="0"/>
              <a:t>Data Patterns for Parallelism</a:t>
            </a:r>
            <a:endParaRPr lang="zh-CN" altLang="en-US" sz="4000" b="1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 dirty="0"/>
          </a:p>
        </p:txBody>
      </p:sp>
      <p:pic>
        <p:nvPicPr>
          <p:cNvPr id="19458" name="Picture 2" descr="http://media-springernature-com-s.webvpn.cug.edu.cn/original/springer-static/image/chp%3A10.1007%2F978-3-319-21903-5_5/MediaObjects/339948_1_En_5_Fig5_HTML.gif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2123728" y="1652490"/>
            <a:ext cx="4968552" cy="4968552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 dirty="0"/>
          </a:p>
        </p:txBody>
      </p:sp>
      <p:pic>
        <p:nvPicPr>
          <p:cNvPr id="21506" name="Picture 2" descr="http://media-springernature-com-s.webvpn.cug.edu.cn/original/springer-static/image/chp%3A10.1007%2F978-3-319-21903-5_5/MediaObjects/339948_1_En_5_Fig6_HTML.gif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2054696" y="352425"/>
            <a:ext cx="5181600" cy="6505575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102" name="图片 101"/>
          <p:cNvPicPr/>
          <p:nvPr/>
        </p:nvPicPr>
        <p:blipFill>
          <a:blip r:embed="rId1"/>
          <a:stretch>
            <a:fillRect/>
          </a:stretch>
        </p:blipFill>
        <p:spPr>
          <a:xfrm>
            <a:off x="695325" y="1423988"/>
            <a:ext cx="7753350" cy="401002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104" name="图片 103"/>
          <p:cNvPicPr/>
          <p:nvPr/>
        </p:nvPicPr>
        <p:blipFill>
          <a:blip r:embed="rId1"/>
          <a:stretch>
            <a:fillRect/>
          </a:stretch>
        </p:blipFill>
        <p:spPr>
          <a:xfrm>
            <a:off x="500063" y="819150"/>
            <a:ext cx="8143875" cy="52197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 dirty="0"/>
          </a:p>
        </p:txBody>
      </p:sp>
      <p:pic>
        <p:nvPicPr>
          <p:cNvPr id="100" name="图片 99"/>
          <p:cNvPicPr/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85725" y="1729105"/>
            <a:ext cx="8808085" cy="444754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 dirty="0"/>
          </a:p>
        </p:txBody>
      </p:sp>
      <p:pic>
        <p:nvPicPr>
          <p:cNvPr id="101" name="图片 100"/>
          <p:cNvPicPr/>
          <p:nvPr/>
        </p:nvPicPr>
        <p:blipFill>
          <a:blip r:embed="rId1"/>
          <a:stretch>
            <a:fillRect/>
          </a:stretch>
        </p:blipFill>
        <p:spPr>
          <a:xfrm>
            <a:off x="158115" y="1719580"/>
            <a:ext cx="8877300" cy="451421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PLACING_PICTURE_USER_VIEWPORT" val="{&quot;height&quot;:5355,&quot;width&quot;:11220}"/>
</p:tagLst>
</file>

<file path=ppt/tags/tag2.xml><?xml version="1.0" encoding="utf-8"?>
<p:tagLst xmlns:p="http://schemas.openxmlformats.org/presentationml/2006/main">
  <p:tag name="KSO_WPP_MARK_KEY" val="be449dbd-bfda-42f4-9509-6be257a11de4"/>
  <p:tag name="COMMONDATA" val="eyJoZGlkIjoiYmIyMzQ2MWM0MWU1MDhhOTNjOTM3Y2ZkYWUwNWJiNTgifQ=="/>
</p:tagLst>
</file>

<file path=ppt/theme/theme1.xml><?xml version="1.0" encoding="utf-8"?>
<a:theme xmlns:a="http://schemas.openxmlformats.org/drawingml/2006/main" name="1_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>
        <a:ln>
          <a:tailEnd type="arrow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1386</Words>
  <Application>WPS 演示</Application>
  <PresentationFormat>全屏显示(4:3)</PresentationFormat>
  <Paragraphs>41</Paragraphs>
  <Slides>14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5" baseType="lpstr">
      <vt:lpstr>Arial</vt:lpstr>
      <vt:lpstr>宋体</vt:lpstr>
      <vt:lpstr>Wingdings</vt:lpstr>
      <vt:lpstr>Calibri Light</vt:lpstr>
      <vt:lpstr>Calibri</vt:lpstr>
      <vt:lpstr>微软雅黑</vt:lpstr>
      <vt:lpstr>Calibri</vt:lpstr>
      <vt:lpstr>PMingLiU-ExtB</vt:lpstr>
      <vt:lpstr>Impact</vt:lpstr>
      <vt:lpstr>Arial Unicode MS</vt:lpstr>
      <vt:lpstr>1_Office 主题</vt:lpstr>
      <vt:lpstr>PowerPoint 演示文稿</vt:lpstr>
      <vt:lpstr>PowerPoint 演示文稿</vt:lpstr>
      <vt:lpstr>Abstract</vt:lpstr>
      <vt:lpstr>Linear algebra for Data Science (DS)</vt:lpstr>
      <vt:lpstr>PowerPoint 演示文稿</vt:lpstr>
      <vt:lpstr>Classic Linear Algebra</vt:lpstr>
      <vt:lpstr>The Matrix–Vector Product</vt:lpstr>
      <vt:lpstr>PowerPoint 演示文稿</vt:lpstr>
      <vt:lpstr>Data Patterns for Parallelism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Glance at High Performance Computing (HPC)</dc:title>
  <dc:creator>Administrator</dc:creator>
  <cp:lastModifiedBy>李程俊</cp:lastModifiedBy>
  <cp:revision>25</cp:revision>
  <dcterms:created xsi:type="dcterms:W3CDTF">2019-12-10T06:14:00Z</dcterms:created>
  <dcterms:modified xsi:type="dcterms:W3CDTF">2022-11-21T01:02:31Z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4D215A08FCFA48259CB6E3BC00B5CB1B</vt:lpwstr>
  </property>
  <property fmtid="{D5CDD505-2E9C-101B-9397-08002B2CF9AE}" pid="3" name="KSOProductBuildVer">
    <vt:lpwstr>2052-11.1.0.12763</vt:lpwstr>
  </property>
</Properties>
</file>