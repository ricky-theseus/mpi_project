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77" r:id="rId3"/>
    <p:sldId id="278" r:id="rId4"/>
    <p:sldId id="257" r:id="rId5"/>
    <p:sldId id="279" r:id="rId6"/>
    <p:sldId id="280" r:id="rId7"/>
    <p:sldId id="281" r:id="rId8"/>
    <p:sldId id="282" r:id="rId9"/>
    <p:sldId id="283" r:id="rId10"/>
    <p:sldId id="273" r:id="rId11"/>
    <p:sldId id="284" r:id="rId1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4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C86F7A-4C13-4512-9546-7A2E13DD49E4}" type="datetimeFigureOut">
              <a:rPr lang="zh-CN" altLang="en-US"/>
              <a:t>2025/2/17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D5BE2B-728A-4539-B86A-F2CEE53DE51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6454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28C279-DE8B-468B-BC28-587297351CC5}" type="datetimeFigureOut">
              <a:rPr lang="zh-CN" altLang="en-US"/>
              <a:t>2025/2/17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58769B-FD91-4354-84DF-C542D236D27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405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49DB7B-3909-433D-9621-020AC3631DB6}" type="datetimeFigureOut">
              <a:rPr lang="zh-CN" altLang="en-US"/>
              <a:t>2025/2/17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02487E-DA75-40AD-AFB9-B7E66780091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53381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7891DE-9EFB-436C-8098-DA346D61F734}" type="datetimeFigureOut">
              <a:rPr lang="zh-CN" altLang="en-US"/>
              <a:t>2025/2/17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019AB3-A56A-40DC-B315-4C9AF1D9AEF0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9125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88A4FD-48AA-4EB3-ADAB-90805DF574A9}" type="datetimeFigureOut">
              <a:rPr lang="zh-CN" altLang="en-US"/>
              <a:t>2025/2/17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19823B-989B-4FE0-A31C-A45838B716C6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7874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83F5B-15CF-41AD-AAF7-C365C83FF08D}" type="datetimeFigureOut">
              <a:rPr lang="zh-CN" altLang="en-US"/>
              <a:t>2025/2/17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7C2566-FD93-41C5-8007-9C6D9D8DF86C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4676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F8473D-2D84-413D-97BD-015ADE628A5A}" type="datetimeFigureOut">
              <a:rPr lang="zh-CN" altLang="en-US"/>
              <a:t>2025/2/17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55DC8D-C4F0-4F0D-B826-92573808DA56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838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A7D9F-B4F6-4B7D-8D30-9FDE43AA2DD2}" type="datetimeFigureOut">
              <a:rPr lang="zh-CN" altLang="en-US"/>
              <a:t>2025/2/17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B07F97-2FC2-4714-850C-6700199D619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8413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AE2CA6-8D79-400E-AD1E-56E3E0DA2BAA}" type="datetimeFigureOut">
              <a:rPr lang="zh-CN" altLang="en-US"/>
              <a:t>2025/2/17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D9D1E1-5454-45C3-93DA-86C3DA9ECB48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7948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852424-72F4-440E-8E03-587598E5B119}" type="datetimeFigureOut">
              <a:rPr lang="zh-CN" altLang="en-US"/>
              <a:t>2025/2/17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DF9EC1-C088-4DAC-AB69-D10F40584BD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6262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EF9C9-4C84-4072-AFAA-D241A8D58A51}" type="datetimeFigureOut">
              <a:rPr lang="zh-CN" altLang="en-US"/>
              <a:t>2025/2/17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0597D9-2D04-4C83-915B-79D3B5D496F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304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2025/2/17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83BA994-DBC0-4389-9AC3-50B67B3923E1}" type="datetimeFigureOut">
              <a:rPr lang="zh-CN" altLang="en-US"/>
              <a:t>2025/2/17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fld id="{DA430D88-0AE5-4EDA-BDD3-1B97B5FCD56A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609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1494235" y="2931718"/>
            <a:ext cx="6128147" cy="60016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685800">
              <a:defRPr/>
            </a:pPr>
            <a:r>
              <a:rPr lang="en-US" altLang="zh-CN" sz="3300" b="1" dirty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High Performance Computation </a:t>
            </a:r>
            <a:endParaRPr lang="zh-CN" altLang="en-US" sz="3300" b="1" spc="225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9" name="组合 58"/>
          <p:cNvGrpSpPr/>
          <p:nvPr/>
        </p:nvGrpSpPr>
        <p:grpSpPr bwMode="auto">
          <a:xfrm>
            <a:off x="3136041" y="3861598"/>
            <a:ext cx="2884884" cy="271463"/>
            <a:chOff x="4154888" y="3453573"/>
            <a:chExt cx="3846874" cy="361046"/>
          </a:xfrm>
        </p:grpSpPr>
        <p:cxnSp>
          <p:nvCxnSpPr>
            <p:cNvPr id="21" name="直接连接符 20"/>
            <p:cNvCxnSpPr/>
            <p:nvPr/>
          </p:nvCxnSpPr>
          <p:spPr>
            <a:xfrm>
              <a:off x="4154888" y="3453573"/>
              <a:ext cx="3846874" cy="0"/>
            </a:xfrm>
            <a:prstGeom prst="line">
              <a:avLst/>
            </a:prstGeom>
            <a:ln w="25400">
              <a:solidFill>
                <a:srgbClr val="04487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等腰三角形 27"/>
            <p:cNvSpPr/>
            <p:nvPr/>
          </p:nvSpPr>
          <p:spPr>
            <a:xfrm flipV="1">
              <a:off x="5872725" y="3459907"/>
              <a:ext cx="411201" cy="354712"/>
            </a:xfrm>
            <a:prstGeom prst="triangle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2178845" y="4123138"/>
            <a:ext cx="222527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China University of Geosciences</a:t>
            </a:r>
            <a:endParaRPr lang="zh-CN" altLang="en-US" sz="1500" dirty="0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>
            <a:spLocks noChangeArrowheads="1"/>
          </p:cNvSpPr>
          <p:nvPr/>
        </p:nvSpPr>
        <p:spPr bwMode="auto">
          <a:xfrm>
            <a:off x="4954456" y="4123138"/>
            <a:ext cx="192285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 err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Chengjun</a:t>
            </a:r>
            <a:r>
              <a:rPr lang="en-US" altLang="zh-CN" sz="1500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Li</a:t>
            </a:r>
            <a:endParaRPr lang="zh-CN" altLang="en-US" sz="1500" dirty="0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00151" y="2728120"/>
            <a:ext cx="6717506" cy="1879865"/>
          </a:xfrm>
          <a:prstGeom prst="rect">
            <a:avLst/>
          </a:prstGeom>
          <a:noFill/>
          <a:ln w="25400">
            <a:solidFill>
              <a:srgbClr val="0448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43" name="组合 42"/>
          <p:cNvGrpSpPr/>
          <p:nvPr/>
        </p:nvGrpSpPr>
        <p:grpSpPr bwMode="auto">
          <a:xfrm>
            <a:off x="7717632" y="4414973"/>
            <a:ext cx="832247" cy="847725"/>
            <a:chOff x="2666985" y="682103"/>
            <a:chExt cx="1109138" cy="1131217"/>
          </a:xfrm>
        </p:grpSpPr>
        <p:sp>
          <p:nvSpPr>
            <p:cNvPr id="40" name="矩形 39"/>
            <p:cNvSpPr/>
            <p:nvPr/>
          </p:nvSpPr>
          <p:spPr>
            <a:xfrm>
              <a:off x="2841527" y="858458"/>
              <a:ext cx="769574" cy="768973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2666985" y="682103"/>
              <a:ext cx="558536" cy="5592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3217587" y="1254067"/>
              <a:ext cx="558536" cy="5592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grpSp>
        <p:nvGrpSpPr>
          <p:cNvPr id="44" name="组合 43"/>
          <p:cNvGrpSpPr/>
          <p:nvPr/>
        </p:nvGrpSpPr>
        <p:grpSpPr bwMode="auto">
          <a:xfrm>
            <a:off x="594122" y="2131618"/>
            <a:ext cx="832247" cy="848915"/>
            <a:chOff x="2666985" y="682103"/>
            <a:chExt cx="1109138" cy="1131217"/>
          </a:xfrm>
        </p:grpSpPr>
        <p:sp>
          <p:nvSpPr>
            <p:cNvPr id="45" name="矩形 44"/>
            <p:cNvSpPr/>
            <p:nvPr/>
          </p:nvSpPr>
          <p:spPr>
            <a:xfrm>
              <a:off x="2841528" y="858211"/>
              <a:ext cx="769573" cy="769482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2666985" y="682103"/>
              <a:ext cx="558536" cy="55846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3217587" y="1254851"/>
              <a:ext cx="558536" cy="55846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49" name="矩形 48"/>
          <p:cNvSpPr/>
          <p:nvPr/>
        </p:nvSpPr>
        <p:spPr>
          <a:xfrm>
            <a:off x="0" y="847726"/>
            <a:ext cx="9144000" cy="27979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8674894" y="5749528"/>
            <a:ext cx="469106" cy="25122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-1" y="5749528"/>
            <a:ext cx="8674894" cy="25122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083974" y="2466167"/>
            <a:ext cx="4757090" cy="369332"/>
          </a:xfrm>
          <a:prstGeom prst="rect">
            <a:avLst/>
          </a:prstGeom>
          <a:blipFill dpi="0" rotWithShape="1">
            <a:blip r:embed="rId2"/>
            <a:srcRect/>
            <a:stretch>
              <a:fillRect t="-45000"/>
            </a:stretch>
          </a:blipFill>
        </p:spPr>
        <p:txBody>
          <a:bodyPr wrap="square">
            <a:sp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b="1" dirty="0">
              <a:solidFill>
                <a:srgbClr val="044875"/>
              </a:solidFill>
              <a:latin typeface="PMingLiU-ExtB" pitchFamily="18" charset="-120"/>
              <a:ea typeface="微软雅黑" pitchFamily="34" charset="-122"/>
              <a:sym typeface="微软雅黑" pitchFamily="3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67055" y="1455359"/>
            <a:ext cx="887401" cy="85075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  <p:bldP spid="26" grpId="0"/>
      <p:bldP spid="9" grpId="0" animBg="1"/>
      <p:bldP spid="49" grpId="0" animBg="1"/>
      <p:bldP spid="53" grpId="0" animBg="1"/>
      <p:bldP spid="5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368153"/>
            <a:ext cx="9144000" cy="213717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" y="2855119"/>
            <a:ext cx="822722" cy="406004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709613" y="2357438"/>
            <a:ext cx="1154906" cy="1419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8625" dirty="0" smtClean="0">
                <a:solidFill>
                  <a:prstClr val="white"/>
                </a:solidFill>
                <a:latin typeface="Impact" panose="020B0806030902050204" pitchFamily="34" charset="0"/>
              </a:rPr>
              <a:t>3</a:t>
            </a:r>
            <a:endParaRPr lang="zh-CN" altLang="en-US" sz="8625" dirty="0">
              <a:solidFill>
                <a:prstClr val="white"/>
              </a:solidFill>
              <a:latin typeface="Impact" panose="020B080603090205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874044" y="2855119"/>
            <a:ext cx="7269956" cy="406004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0" y="3581400"/>
            <a:ext cx="938926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400" b="1" dirty="0">
                <a:solidFill>
                  <a:srgbClr val="FFC000">
                    <a:lumMod val="60000"/>
                    <a:lumOff val="40000"/>
                  </a:srgbClr>
                </a:solidFill>
              </a:rPr>
              <a:t>Topology of Interconnection Networks</a:t>
            </a:r>
            <a:endParaRPr lang="zh-CN" altLang="en-US" sz="4400" b="1" dirty="0">
              <a:solidFill>
                <a:srgbClr val="FFC000">
                  <a:lumMod val="60000"/>
                  <a:lumOff val="40000"/>
                </a:srgbClr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/>
      <p:bldP spid="10" grpId="0" animBg="1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Abstract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An interconnection network of computers is modelled mathematically as a graph with vertices representing computer nodes and edges depicting the communication links between those nodes. </a:t>
            </a:r>
          </a:p>
          <a:p>
            <a:r>
              <a:rPr lang="en-US" altLang="zh-CN" dirty="0"/>
              <a:t>If a logical network is different from the underlying physical network, one needs to transpose or embed the logical network onto the physical network. </a:t>
            </a:r>
          </a:p>
        </p:txBody>
      </p:sp>
    </p:spTree>
    <p:extLst>
      <p:ext uri="{BB962C8B-B14F-4D97-AF65-F5344CB8AC3E}">
        <p14:creationId xmlns:p14="http://schemas.microsoft.com/office/powerpoint/2010/main" val="2318808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Static Versus Dynamic Networks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5608" y="2204864"/>
            <a:ext cx="7498080" cy="4043536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In this chapter, a parallel computer is a computer cluster architecture with distributed memory.</a:t>
            </a:r>
          </a:p>
          <a:p>
            <a:r>
              <a:rPr lang="en-US" altLang="zh-CN" dirty="0"/>
              <a:t>A set of computers interconnected by a network. We shall consider two types of network: </a:t>
            </a:r>
            <a:r>
              <a:rPr lang="en-US" altLang="zh-CN" i="1" dirty="0"/>
              <a:t>static networks</a:t>
            </a:r>
            <a:r>
              <a:rPr lang="en-US" altLang="zh-CN" dirty="0"/>
              <a:t> that are once for all fixed and </a:t>
            </a:r>
            <a:r>
              <a:rPr lang="en-US" altLang="zh-CN" i="1" dirty="0"/>
              <a:t>dynamic networks</a:t>
            </a:r>
            <a:r>
              <a:rPr lang="en-US" altLang="zh-CN" dirty="0"/>
              <a:t> that can always be adapted to suit.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Logic Versus Physical Networks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When implementing a parallel we also need to distinguish between the </a:t>
            </a:r>
            <a:r>
              <a:rPr lang="en-US" altLang="zh-CN" i="1" dirty="0"/>
              <a:t>physical network</a:t>
            </a:r>
            <a:r>
              <a:rPr lang="en-US" altLang="zh-CN" dirty="0"/>
              <a:t> and the </a:t>
            </a:r>
            <a:r>
              <a:rPr lang="en-US" altLang="zh-CN" i="1" dirty="0"/>
              <a:t>logical network</a:t>
            </a:r>
            <a:r>
              <a:rPr lang="en-US" altLang="zh-CN" dirty="0"/>
              <a:t> . </a:t>
            </a:r>
          </a:p>
          <a:p>
            <a:r>
              <a:rPr lang="en-US" altLang="zh-CN" dirty="0"/>
              <a:t>The physical network is the real-world hardware. </a:t>
            </a:r>
          </a:p>
          <a:p>
            <a:r>
              <a:rPr lang="en-US" altLang="zh-CN" dirty="0"/>
              <a:t>The logical network is an </a:t>
            </a:r>
            <a:r>
              <a:rPr lang="en-US" altLang="zh-CN" i="1" dirty="0"/>
              <a:t>abstraction</a:t>
            </a:r>
            <a:r>
              <a:rPr lang="en-US" altLang="zh-CN" dirty="0"/>
              <a:t> of a communication network that is independent of the hardware architecture.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Logic Versus Physical Networks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Of course, we obtain an ideal performance when the physical network coincides with the logical network. </a:t>
            </a:r>
          </a:p>
          <a:p>
            <a:r>
              <a:rPr lang="en-US" altLang="zh-CN" dirty="0"/>
              <a:t>Otherwise, we seek for a transposition or an embedding of the logical network onto the physical network that minimizes the loss of efficiency of communication primitives.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5229200"/>
            <a:ext cx="3371850" cy="14478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383350" y="5747109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smtClean="0"/>
              <a:t>VS</a:t>
            </a:r>
            <a:endParaRPr lang="zh-CN" altLang="en-US" sz="4000" dirty="0"/>
          </a:p>
        </p:txBody>
      </p:sp>
      <p:pic>
        <p:nvPicPr>
          <p:cNvPr id="6" name="Picture 4" descr="https://inews.gtimg.com/newsapp_bt/0/12019878930/64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259" y="5059187"/>
            <a:ext cx="2411760" cy="1772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Interconnection Network: Graph Modeling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CN" dirty="0"/>
              <a:t>Let </a:t>
            </a:r>
            <a:r>
              <a:rPr lang="en-US" altLang="zh-CN" i="1" dirty="0"/>
              <a:t>P</a:t>
            </a:r>
            <a:r>
              <a:rPr lang="en-US" altLang="zh-CN" dirty="0"/>
              <a:t> processors communicate between them (each one with its own independent local memory attached to). </a:t>
            </a:r>
          </a:p>
          <a:p>
            <a:r>
              <a:rPr lang="en-US" altLang="zh-CN" dirty="0"/>
              <a:t>Here, we can either consider </a:t>
            </a:r>
          </a:p>
          <a:p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) an architecture linking all processors using a shared </a:t>
            </a:r>
            <a:r>
              <a:rPr lang="en-US" altLang="zh-CN" i="1" dirty="0"/>
              <a:t>communication (</a:t>
            </a:r>
            <a:r>
              <a:rPr lang="en-US" altLang="zh-CN" dirty="0"/>
              <a:t>has to deal with potential messages colliding when messages are simultaneously sent), or </a:t>
            </a:r>
          </a:p>
          <a:p>
            <a:r>
              <a:rPr lang="en-US" altLang="zh-CN" dirty="0"/>
              <a:t>(ii) a </a:t>
            </a:r>
            <a:r>
              <a:rPr lang="en-US" altLang="zh-CN" i="1" dirty="0"/>
              <a:t>point-to-point network</a:t>
            </a:r>
            <a:r>
              <a:rPr lang="en-US" altLang="zh-CN" dirty="0"/>
              <a:t> linking all pairs of processors using a dedicated link to transmit messages. (this communication design requires O(P</a:t>
            </a:r>
            <a:r>
              <a:rPr lang="en-US" altLang="zh-CN" baseline="30000" dirty="0"/>
              <a:t>2</a:t>
            </a:r>
            <a:r>
              <a:rPr lang="en-US" altLang="zh-CN" dirty="0"/>
              <a:t>) links) 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Topology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Hence, we use many topologies to connect  processors.</a:t>
            </a:r>
          </a:p>
          <a:p>
            <a:r>
              <a:rPr lang="en-US" altLang="zh-CN" i="1" dirty="0"/>
              <a:t>Topology</a:t>
            </a:r>
            <a:r>
              <a:rPr lang="en-US" altLang="zh-CN" dirty="0"/>
              <a:t> of a network is described by a </a:t>
            </a:r>
            <a:r>
              <a:rPr lang="en-US" altLang="zh-CN" i="1" dirty="0"/>
              <a:t>graph</a:t>
            </a:r>
            <a:r>
              <a:rPr lang="en-US" altLang="zh-CN" dirty="0"/>
              <a:t> </a:t>
            </a:r>
            <a:r>
              <a:rPr lang="en-US" altLang="zh-CN" i="1" dirty="0"/>
              <a:t>G</a:t>
            </a:r>
            <a:r>
              <a:rPr lang="en-US" altLang="zh-CN" dirty="0"/>
              <a:t>=(</a:t>
            </a:r>
            <a:r>
              <a:rPr lang="en-US" altLang="zh-CN" i="1" dirty="0"/>
              <a:t>V</a:t>
            </a:r>
            <a:r>
              <a:rPr lang="en-US" altLang="zh-CN" dirty="0"/>
              <a:t>,</a:t>
            </a:r>
            <a:r>
              <a:rPr lang="en-US" altLang="zh-CN" i="1" dirty="0"/>
              <a:t>E</a:t>
            </a:r>
            <a:r>
              <a:rPr lang="en-US" altLang="zh-CN" dirty="0"/>
              <a:t>) .</a:t>
            </a:r>
          </a:p>
          <a:p>
            <a:r>
              <a:rPr lang="en-US" altLang="zh-CN" i="1" dirty="0"/>
              <a:t>V</a:t>
            </a:r>
            <a:r>
              <a:rPr lang="en-US" altLang="zh-CN" dirty="0"/>
              <a:t>: the set of </a:t>
            </a:r>
            <a:r>
              <a:rPr lang="en-US" altLang="zh-CN" i="1" dirty="0"/>
              <a:t>vertices</a:t>
            </a:r>
            <a:r>
              <a:rPr lang="en-US" altLang="zh-CN" dirty="0"/>
              <a:t> representing processes </a:t>
            </a:r>
          </a:p>
          <a:p>
            <a:r>
              <a:rPr lang="en-US" altLang="zh-CN" i="1" dirty="0"/>
              <a:t>E</a:t>
            </a:r>
            <a:r>
              <a:rPr lang="en-US" altLang="zh-CN" dirty="0"/>
              <a:t>: the set of </a:t>
            </a:r>
            <a:r>
              <a:rPr lang="en-US" altLang="zh-CN" i="1" dirty="0"/>
              <a:t>edges</a:t>
            </a:r>
            <a:r>
              <a:rPr lang="en-US" altLang="zh-CN" dirty="0"/>
              <a:t> representing communication links between processes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Topology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09893"/>
            <a:ext cx="8292813" cy="4458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689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Topology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 order to build a good topology, we seek to set a trade-off between two opposing criteria: </a:t>
            </a:r>
          </a:p>
          <a:p>
            <a:r>
              <a:rPr lang="en-US" altLang="zh-CN" dirty="0"/>
              <a:t>minimize the number of links in order to decrease the material cost, and</a:t>
            </a:r>
          </a:p>
          <a:p>
            <a:r>
              <a:rPr lang="en-US" altLang="zh-CN" dirty="0"/>
              <a:t>maximize the number of direct communication links (arcs/edges) in order to decrease the communication cost of parallel algorithms.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386</Words>
  <Application>Microsoft Office PowerPoint</Application>
  <PresentationFormat>全屏显示(4:3)</PresentationFormat>
  <Paragraphs>34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PMingLiU-ExtB</vt:lpstr>
      <vt:lpstr>宋体</vt:lpstr>
      <vt:lpstr>微软雅黑</vt:lpstr>
      <vt:lpstr>Arial</vt:lpstr>
      <vt:lpstr>Calibri</vt:lpstr>
      <vt:lpstr>Calibri Light</vt:lpstr>
      <vt:lpstr>Impact</vt:lpstr>
      <vt:lpstr>Office 主题</vt:lpstr>
      <vt:lpstr>1_Office 主题</vt:lpstr>
      <vt:lpstr>PowerPoint 演示文稿</vt:lpstr>
      <vt:lpstr>PowerPoint 演示文稿</vt:lpstr>
      <vt:lpstr>Abstract</vt:lpstr>
      <vt:lpstr>Static Versus Dynamic Networks </vt:lpstr>
      <vt:lpstr>Logic Versus Physical Networks</vt:lpstr>
      <vt:lpstr>Logic Versus Physical Networks</vt:lpstr>
      <vt:lpstr>Interconnection Network: Graph Modeling</vt:lpstr>
      <vt:lpstr>Topology</vt:lpstr>
      <vt:lpstr>Topology</vt:lpstr>
      <vt:lpstr>Topology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Glance at High Performance Computing (HPC)</dc:title>
  <dc:creator>Administrator</dc:creator>
  <cp:lastModifiedBy>Admin</cp:lastModifiedBy>
  <cp:revision>17</cp:revision>
  <dcterms:created xsi:type="dcterms:W3CDTF">2019-12-10T06:14:19Z</dcterms:created>
  <dcterms:modified xsi:type="dcterms:W3CDTF">2025-02-17T07:38:58Z</dcterms:modified>
</cp:coreProperties>
</file>