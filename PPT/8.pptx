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7" r:id="rId2"/>
    <p:sldId id="278" r:id="rId3"/>
    <p:sldId id="279" r:id="rId4"/>
    <p:sldId id="280" r:id="rId5"/>
    <p:sldId id="281" r:id="rId6"/>
    <p:sldId id="282" r:id="rId7"/>
    <p:sldId id="283" r:id="rId8"/>
    <p:sldId id="284" r:id="rId9"/>
    <p:sldId id="285" r:id="rId10"/>
    <p:sldId id="264" r:id="rId11"/>
    <p:sldId id="286" r:id="rId12"/>
    <p:sldId id="287" r:id="rId13"/>
    <p:sldId id="267" r:id="rId14"/>
    <p:sldId id="288" r:id="rId15"/>
    <p:sldId id="289" r:id="rId16"/>
    <p:sldId id="293" r:id="rId17"/>
    <p:sldId id="294" r:id="rId18"/>
    <p:sldId id="295" r:id="rId19"/>
    <p:sldId id="296" r:id="rId20"/>
    <p:sldId id="297" r:id="rId21"/>
    <p:sldId id="298" r:id="rId22"/>
    <p:sldId id="299" r:id="rId23"/>
    <p:sldId id="300" r:id="rId24"/>
    <p:sldId id="301" r:id="rId25"/>
    <p:sldId id="302" r:id="rId26"/>
    <p:sldId id="306" r:id="rId27"/>
    <p:sldId id="312" r:id="rId28"/>
    <p:sldId id="311" r:id="rId29"/>
    <p:sldId id="303" r:id="rId30"/>
    <p:sldId id="307" r:id="rId31"/>
    <p:sldId id="308" r:id="rId32"/>
    <p:sldId id="309" r:id="rId33"/>
    <p:sldId id="310" r:id="rId34"/>
    <p:sldId id="304" r:id="rId35"/>
    <p:sldId id="305" r:id="rId36"/>
    <p:sldId id="320" r:id="rId37"/>
    <p:sldId id="321" r:id="rId38"/>
    <p:sldId id="322" r:id="rId39"/>
    <p:sldId id="323"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57C86F7A-4C13-4512-9546-7A2E13DD49E4}" type="datetimeFigureOut">
              <a:rPr lang="zh-CN" altLang="en-US"/>
              <a:t>2022/9/24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46D5BE2B-728A-4539-B86A-F2CEE53DE51F}"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928C279-DE8B-468B-BC28-587297351CC5}" type="datetimeFigureOut">
              <a:rPr lang="zh-CN" altLang="en-US"/>
              <a:t>2022/9/24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D58769B-FD91-4354-84DF-C542D236D279}"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E649DB7B-3909-433D-9621-020AC3631DB6}" type="datetimeFigureOut">
              <a:rPr lang="zh-CN" altLang="en-US"/>
              <a:t>2022/9/24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C02487E-DA75-40AD-AFB9-B7E667800914}"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57891DE-9EFB-436C-8098-DA346D61F734}" type="datetimeFigureOut">
              <a:rPr lang="zh-CN" altLang="en-US"/>
              <a:t>2022/9/24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C9019AB3-A56A-40DC-B315-4C9AF1D9AEF0}"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2588A4FD-48AA-4EB3-ADAB-90805DF574A9}" type="datetimeFigureOut">
              <a:rPr lang="zh-CN" altLang="en-US"/>
              <a:t>2022/9/24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0219823B-989B-4FE0-A31C-A45838B716C6}"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CC83F5B-15CF-41AD-AAF7-C365C83FF08D}" type="datetimeFigureOut">
              <a:rPr lang="zh-CN" altLang="en-US"/>
              <a:t>2022/9/24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fld id="{687C2566-FD93-41C5-8007-9C6D9D8DF86C}"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7F8473D-2D84-413D-97BD-015ADE628A5A}" type="datetimeFigureOut">
              <a:rPr lang="zh-CN" altLang="en-US"/>
              <a:t>2022/9/24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9D55DC8D-C4F0-4F0D-B826-92573808DA56}"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CFA7D9F-B4F6-4B7D-8D30-9FDE43AA2DD2}" type="datetimeFigureOut">
              <a:rPr lang="zh-CN" altLang="en-US"/>
              <a:t>2022/9/24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CCB07F97-2FC2-4714-850C-6700199D6194}"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DAE2CA6-8D79-400E-AD1E-56E3E0DA2BAA}" type="datetimeFigureOut">
              <a:rPr lang="zh-CN" altLang="en-US"/>
              <a:t>2022/9/24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84D9D1E1-5454-45C3-93DA-86C3DA9ECB48}"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C852424-72F4-440E-8E03-587598E5B119}" type="datetimeFigureOut">
              <a:rPr lang="zh-CN" altLang="en-US"/>
              <a:t>2022/9/24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07DF9EC1-C088-4DAC-AB69-D10F40584BD3}"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F9EF9C9-4C84-4072-AFAA-D241A8D58A51}" type="datetimeFigureOut">
              <a:rPr lang="zh-CN" altLang="en-US"/>
              <a:t>2022/9/24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E90597D9-2D04-4C83-915B-79D3B5D496F9}"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365126"/>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83BA994-DBC0-4389-9AC3-50B67B3923E1}" type="datetimeFigureOut">
              <a:rPr lang="zh-CN" altLang="en-US"/>
              <a:t>2022/9/24</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wrap="square" lIns="91440" tIns="45720" rIns="91440" bIns="45720" numCol="1" anchor="ctr" anchorCtr="0" compatLnSpc="1"/>
          <a:lstStyle>
            <a:lvl1pPr algn="r" eaLnBrk="1" hangingPunct="1">
              <a:defRPr sz="900">
                <a:solidFill>
                  <a:srgbClr val="898989"/>
                </a:solidFill>
              </a:defRPr>
            </a:lvl1pPr>
          </a:lstStyle>
          <a:p>
            <a:fld id="{DA430D88-0AE5-4EDA-BDD3-1B97B5FCD56A}"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3429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6858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0287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3716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l"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494235" y="2931718"/>
            <a:ext cx="6128147" cy="600164"/>
          </a:xfrm>
          <a:prstGeom prst="rect">
            <a:avLst/>
          </a:prstGeom>
          <a:noFill/>
        </p:spPr>
        <p:txBody>
          <a:bodyPr>
            <a:spAutoFit/>
          </a:bodyPr>
          <a:lstStyle/>
          <a:p>
            <a:pPr algn="ctr" defTabSz="685800">
              <a:defRPr/>
            </a:pPr>
            <a:r>
              <a:rPr lang="en-US" altLang="zh-CN" sz="3300" b="1" dirty="0">
                <a:solidFill>
                  <a:prstClr val="black"/>
                </a:solidFill>
                <a:latin typeface="Calibri" panose="020F0502020204030204" pitchFamily="34" charset="0"/>
                <a:ea typeface="宋体" panose="02010600030101010101" pitchFamily="2" charset="-122"/>
              </a:rPr>
              <a:t>High Performance Computation </a:t>
            </a:r>
            <a:endParaRPr lang="zh-CN" altLang="en-US" sz="3300" b="1" spc="225" dirty="0">
              <a:solidFill>
                <a:prstClr val="black"/>
              </a:solidFill>
              <a:latin typeface="微软雅黑" panose="020B0503020204020204" pitchFamily="34" charset="-122"/>
              <a:ea typeface="微软雅黑" panose="020B0503020204020204" pitchFamily="34" charset="-122"/>
            </a:endParaRPr>
          </a:p>
        </p:txBody>
      </p:sp>
      <p:grpSp>
        <p:nvGrpSpPr>
          <p:cNvPr id="59" name="组合 58"/>
          <p:cNvGrpSpPr/>
          <p:nvPr/>
        </p:nvGrpSpPr>
        <p:grpSpPr bwMode="auto">
          <a:xfrm>
            <a:off x="3136041" y="3861598"/>
            <a:ext cx="2884884" cy="271463"/>
            <a:chOff x="4154888" y="3453573"/>
            <a:chExt cx="3846874" cy="361046"/>
          </a:xfrm>
        </p:grpSpPr>
        <p:cxnSp>
          <p:nvCxnSpPr>
            <p:cNvPr id="21" name="直接连接符 20"/>
            <p:cNvCxnSpPr/>
            <p:nvPr/>
          </p:nvCxnSpPr>
          <p:spPr>
            <a:xfrm>
              <a:off x="4154888" y="3453573"/>
              <a:ext cx="3846874" cy="0"/>
            </a:xfrm>
            <a:prstGeom prst="line">
              <a:avLst/>
            </a:prstGeom>
            <a:ln w="25400">
              <a:solidFill>
                <a:srgbClr val="044875"/>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flipV="1">
              <a:off x="5872725" y="3459907"/>
              <a:ext cx="411201" cy="354712"/>
            </a:xfrm>
            <a:prstGeom prst="triangl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grpSp>
      <p:sp>
        <p:nvSpPr>
          <p:cNvPr id="22" name="文本框 21"/>
          <p:cNvSpPr txBox="1">
            <a:spLocks noChangeArrowheads="1"/>
          </p:cNvSpPr>
          <p:nvPr/>
        </p:nvSpPr>
        <p:spPr bwMode="auto">
          <a:xfrm>
            <a:off x="2178845" y="4123138"/>
            <a:ext cx="222527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1500" dirty="0">
                <a:solidFill>
                  <a:srgbClr val="044875"/>
                </a:solidFill>
                <a:latin typeface="微软雅黑" panose="020B0503020204020204" pitchFamily="34" charset="-122"/>
                <a:ea typeface="微软雅黑" panose="020B0503020204020204" pitchFamily="34" charset="-122"/>
              </a:rPr>
              <a:t>China University of Geosciences</a:t>
            </a:r>
            <a:endParaRPr lang="zh-CN" altLang="en-US" sz="1500" dirty="0">
              <a:solidFill>
                <a:srgbClr val="044875"/>
              </a:solidFill>
              <a:latin typeface="微软雅黑" panose="020B0503020204020204" pitchFamily="34" charset="-122"/>
              <a:ea typeface="微软雅黑" panose="020B0503020204020204" pitchFamily="34" charset="-122"/>
            </a:endParaRPr>
          </a:p>
        </p:txBody>
      </p:sp>
      <p:sp>
        <p:nvSpPr>
          <p:cNvPr id="26" name="文本框 25"/>
          <p:cNvSpPr txBox="1">
            <a:spLocks noChangeArrowheads="1"/>
          </p:cNvSpPr>
          <p:nvPr/>
        </p:nvSpPr>
        <p:spPr bwMode="auto">
          <a:xfrm>
            <a:off x="4954456" y="4123138"/>
            <a:ext cx="192285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1500" dirty="0" err="1">
                <a:solidFill>
                  <a:srgbClr val="044875"/>
                </a:solidFill>
                <a:latin typeface="微软雅黑" panose="020B0503020204020204" pitchFamily="34" charset="-122"/>
                <a:ea typeface="微软雅黑" panose="020B0503020204020204" pitchFamily="34" charset="-122"/>
              </a:rPr>
              <a:t>Chengjun</a:t>
            </a:r>
            <a:r>
              <a:rPr lang="en-US" altLang="zh-CN" sz="1500" dirty="0">
                <a:solidFill>
                  <a:srgbClr val="044875"/>
                </a:solidFill>
                <a:latin typeface="微软雅黑" panose="020B0503020204020204" pitchFamily="34" charset="-122"/>
                <a:ea typeface="微软雅黑" panose="020B0503020204020204" pitchFamily="34" charset="-122"/>
              </a:rPr>
              <a:t> Li</a:t>
            </a:r>
            <a:endParaRPr lang="zh-CN" altLang="en-US" sz="1500" dirty="0">
              <a:solidFill>
                <a:srgbClr val="044875"/>
              </a:solidFill>
              <a:latin typeface="微软雅黑" panose="020B0503020204020204" pitchFamily="34" charset="-122"/>
              <a:ea typeface="微软雅黑" panose="020B0503020204020204" pitchFamily="34" charset="-122"/>
            </a:endParaRPr>
          </a:p>
        </p:txBody>
      </p:sp>
      <p:sp>
        <p:nvSpPr>
          <p:cNvPr id="9" name="矩形 8"/>
          <p:cNvSpPr/>
          <p:nvPr/>
        </p:nvSpPr>
        <p:spPr>
          <a:xfrm>
            <a:off x="1200151" y="2728120"/>
            <a:ext cx="6717506" cy="1879865"/>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grpSp>
        <p:nvGrpSpPr>
          <p:cNvPr id="43" name="组合 42"/>
          <p:cNvGrpSpPr/>
          <p:nvPr/>
        </p:nvGrpSpPr>
        <p:grpSpPr bwMode="auto">
          <a:xfrm>
            <a:off x="7717632" y="4414973"/>
            <a:ext cx="832247" cy="847725"/>
            <a:chOff x="2666985" y="682103"/>
            <a:chExt cx="1109138" cy="1131217"/>
          </a:xfrm>
        </p:grpSpPr>
        <p:sp>
          <p:nvSpPr>
            <p:cNvPr id="40" name="矩形 39"/>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41" name="矩形 40"/>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42" name="矩形 41"/>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grpSp>
      <p:grpSp>
        <p:nvGrpSpPr>
          <p:cNvPr id="44" name="组合 43"/>
          <p:cNvGrpSpPr/>
          <p:nvPr/>
        </p:nvGrpSpPr>
        <p:grpSpPr bwMode="auto">
          <a:xfrm>
            <a:off x="594122" y="2131618"/>
            <a:ext cx="832247" cy="848915"/>
            <a:chOff x="2666985" y="682103"/>
            <a:chExt cx="1109138" cy="1131217"/>
          </a:xfrm>
        </p:grpSpPr>
        <p:sp>
          <p:nvSpPr>
            <p:cNvPr id="45" name="矩形 44"/>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46" name="矩形 45"/>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47" name="矩形 46"/>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grpSp>
      <p:sp>
        <p:nvSpPr>
          <p:cNvPr id="49" name="矩形 48"/>
          <p:cNvSpPr/>
          <p:nvPr/>
        </p:nvSpPr>
        <p:spPr>
          <a:xfrm>
            <a:off x="0" y="847726"/>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53" name="矩形 52"/>
          <p:cNvSpPr/>
          <p:nvPr/>
        </p:nvSpPr>
        <p:spPr>
          <a:xfrm>
            <a:off x="8674894" y="5749528"/>
            <a:ext cx="469106"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54" name="矩形 53"/>
          <p:cNvSpPr/>
          <p:nvPr/>
        </p:nvSpPr>
        <p:spPr>
          <a:xfrm>
            <a:off x="-1" y="5749528"/>
            <a:ext cx="8674894"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10" name="文本框 9"/>
          <p:cNvSpPr txBox="1"/>
          <p:nvPr/>
        </p:nvSpPr>
        <p:spPr>
          <a:xfrm>
            <a:off x="2083974" y="2466167"/>
            <a:ext cx="4757090" cy="369332"/>
          </a:xfrm>
          <a:prstGeom prst="rect">
            <a:avLst/>
          </a:prstGeom>
          <a:blipFill dpi="0" rotWithShape="1">
            <a:blip r:embed="rId2"/>
            <a:srcRect/>
            <a:stretch>
              <a:fillRect t="-45000"/>
            </a:stretch>
          </a:blipFill>
        </p:spPr>
        <p:txBody>
          <a:bodyPr wrap="square">
            <a:spAutoFit/>
          </a:bodyPr>
          <a:lstStyle/>
          <a:p>
            <a:pPr algn="ctr" defTabSz="685800" fontAlgn="base">
              <a:spcBef>
                <a:spcPct val="0"/>
              </a:spcBef>
              <a:spcAft>
                <a:spcPct val="0"/>
              </a:spcAft>
            </a:pPr>
            <a:endParaRPr lang="zh-CN" altLang="en-US" b="1" dirty="0">
              <a:solidFill>
                <a:srgbClr val="044875"/>
              </a:solidFill>
              <a:latin typeface="PMingLiU-ExtB" panose="02020500000000000000" pitchFamily="18" charset="-120"/>
              <a:ea typeface="微软雅黑" panose="020B0503020204020204" pitchFamily="34" charset="-122"/>
              <a:sym typeface="微软雅黑" panose="020B0503020204020204" pitchFamily="34" charset="-122"/>
            </a:endParaRPr>
          </a:p>
        </p:txBody>
      </p:sp>
      <p:pic>
        <p:nvPicPr>
          <p:cNvPr id="24" name="图片 23"/>
          <p:cNvPicPr>
            <a:picLocks noChangeAspect="1"/>
          </p:cNvPicPr>
          <p:nvPr/>
        </p:nvPicPr>
        <p:blipFill>
          <a:blip r:embed="rId3" cstate="print"/>
          <a:stretch>
            <a:fillRect/>
          </a:stretch>
        </p:blipFill>
        <p:spPr>
          <a:xfrm>
            <a:off x="4067055" y="1455359"/>
            <a:ext cx="887401" cy="85075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wipe(left)">
                                      <p:cBhvr>
                                        <p:cTn id="10" dur="500"/>
                                        <p:tgtEl>
                                          <p:spTgt spid="54"/>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right)">
                                      <p:cBhvr>
                                        <p:cTn id="13" dur="500"/>
                                        <p:tgtEl>
                                          <p:spTgt spid="53"/>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1)">
                                      <p:cBhvr>
                                        <p:cTn id="16" dur="2000"/>
                                        <p:tgtEl>
                                          <p:spTgt spid="9"/>
                                        </p:tgtEl>
                                      </p:cBhvr>
                                    </p:animEffect>
                                  </p:childTnLst>
                                </p:cTn>
                              </p:par>
                              <p:par>
                                <p:cTn id="17" presetID="53" presetClass="entr" presetSubtype="16"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p:cTn id="19" dur="500" fill="hold"/>
                                        <p:tgtEl>
                                          <p:spTgt spid="44"/>
                                        </p:tgtEl>
                                        <p:attrNameLst>
                                          <p:attrName>ppt_w</p:attrName>
                                        </p:attrNameLst>
                                      </p:cBhvr>
                                      <p:tavLst>
                                        <p:tav tm="0">
                                          <p:val>
                                            <p:fltVal val="0"/>
                                          </p:val>
                                        </p:tav>
                                        <p:tav tm="100000">
                                          <p:val>
                                            <p:strVal val="#ppt_w"/>
                                          </p:val>
                                        </p:tav>
                                      </p:tavLst>
                                    </p:anim>
                                    <p:anim calcmode="lin" valueType="num">
                                      <p:cBhvr>
                                        <p:cTn id="20" dur="500" fill="hold"/>
                                        <p:tgtEl>
                                          <p:spTgt spid="44"/>
                                        </p:tgtEl>
                                        <p:attrNameLst>
                                          <p:attrName>ppt_h</p:attrName>
                                        </p:attrNameLst>
                                      </p:cBhvr>
                                      <p:tavLst>
                                        <p:tav tm="0">
                                          <p:val>
                                            <p:fltVal val="0"/>
                                          </p:val>
                                        </p:tav>
                                        <p:tav tm="100000">
                                          <p:val>
                                            <p:strVal val="#ppt_h"/>
                                          </p:val>
                                        </p:tav>
                                      </p:tavLst>
                                    </p:anim>
                                    <p:animEffect transition="in" filter="fade">
                                      <p:cBhvr>
                                        <p:cTn id="21" dur="500"/>
                                        <p:tgtEl>
                                          <p:spTgt spid="44"/>
                                        </p:tgtEl>
                                      </p:cBhvr>
                                    </p:animEffect>
                                  </p:childTnLst>
                                </p:cTn>
                              </p:par>
                              <p:par>
                                <p:cTn id="22" presetID="53"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p:cTn id="24" dur="500" fill="hold"/>
                                        <p:tgtEl>
                                          <p:spTgt spid="43"/>
                                        </p:tgtEl>
                                        <p:attrNameLst>
                                          <p:attrName>ppt_w</p:attrName>
                                        </p:attrNameLst>
                                      </p:cBhvr>
                                      <p:tavLst>
                                        <p:tav tm="0">
                                          <p:val>
                                            <p:fltVal val="0"/>
                                          </p:val>
                                        </p:tav>
                                        <p:tav tm="100000">
                                          <p:val>
                                            <p:strVal val="#ppt_w"/>
                                          </p:val>
                                        </p:tav>
                                      </p:tavLst>
                                    </p:anim>
                                    <p:anim calcmode="lin" valueType="num">
                                      <p:cBhvr>
                                        <p:cTn id="25" dur="500" fill="hold"/>
                                        <p:tgtEl>
                                          <p:spTgt spid="43"/>
                                        </p:tgtEl>
                                        <p:attrNameLst>
                                          <p:attrName>ppt_h</p:attrName>
                                        </p:attrNameLst>
                                      </p:cBhvr>
                                      <p:tavLst>
                                        <p:tav tm="0">
                                          <p:val>
                                            <p:fltVal val="0"/>
                                          </p:val>
                                        </p:tav>
                                        <p:tav tm="100000">
                                          <p:val>
                                            <p:strVal val="#ppt_h"/>
                                          </p:val>
                                        </p:tav>
                                      </p:tavLst>
                                    </p:anim>
                                    <p:animEffect transition="in" filter="fade">
                                      <p:cBhvr>
                                        <p:cTn id="26" dur="500"/>
                                        <p:tgtEl>
                                          <p:spTgt spid="43"/>
                                        </p:tgtEl>
                                      </p:cBhvr>
                                    </p:animEffect>
                                  </p:childTnLst>
                                </p:cTn>
                              </p:par>
                              <p:par>
                                <p:cTn id="27" presetID="2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500"/>
                                        <p:tgtEl>
                                          <p:spTgt spid="10"/>
                                        </p:tgtEl>
                                      </p:cBhvr>
                                    </p:animEffect>
                                  </p:childTnLst>
                                </p:cTn>
                              </p:par>
                              <p:par>
                                <p:cTn id="30" presetID="53" presetClass="entr" presetSubtype="16" fill="hold" grpId="0" nodeType="withEffect">
                                  <p:stCondLst>
                                    <p:cond delay="0"/>
                                  </p:stCondLst>
                                  <p:iterate type="lt">
                                    <p:tmPct val="10000"/>
                                  </p:iterate>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par>
                                <p:cTn id="35" presetID="22" presetClass="entr" presetSubtype="1"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wipe(up)">
                                      <p:cBhvr>
                                        <p:cTn id="37" dur="500"/>
                                        <p:tgtEl>
                                          <p:spTgt spid="5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par>
                                <p:cTn id="41" presetID="22" presetClass="entr" presetSubtype="4" fill="hold" grpId="0" nodeType="withEffect">
                                  <p:stCondLst>
                                    <p:cond delay="25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00"/>
                                        <p:tgtEl>
                                          <p:spTgt spid="26"/>
                                        </p:tgtEl>
                                      </p:cBhvr>
                                    </p:animEffect>
                                  </p:childTnLst>
                                </p:cTn>
                              </p:par>
                              <p:par>
                                <p:cTn id="44" presetID="22" presetClass="entr" presetSubtype="4" fill="hold" nodeType="withEffect">
                                  <p:stCondLst>
                                    <p:cond delay="250"/>
                                  </p:stCondLst>
                                  <p:childTnLst>
                                    <p:set>
                                      <p:cBhvr>
                                        <p:cTn id="45" dur="1" fill="hold">
                                          <p:stCondLst>
                                            <p:cond delay="0"/>
                                          </p:stCondLst>
                                        </p:cTn>
                                        <p:tgtEl>
                                          <p:spTgt spid="24"/>
                                        </p:tgtEl>
                                        <p:attrNameLst>
                                          <p:attrName>style.visibility</p:attrName>
                                        </p:attrNameLst>
                                      </p:cBhvr>
                                      <p:to>
                                        <p:strVal val="visible"/>
                                      </p:to>
                                    </p:set>
                                    <p:animEffect transition="in" filter="wipe(down)">
                                      <p:cBhvr>
                                        <p:cTn id="46"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6" grpId="0"/>
      <p:bldP spid="9" grpId="0" animBg="1"/>
      <p:bldP spid="49" grpId="0" animBg="1"/>
      <p:bldP spid="53" grpId="0" animBg="1"/>
      <p:bldP spid="5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36815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6" name="矩形 5"/>
          <p:cNvSpPr/>
          <p:nvPr/>
        </p:nvSpPr>
        <p:spPr>
          <a:xfrm>
            <a:off x="1" y="285511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8" name="文本框 7"/>
          <p:cNvSpPr txBox="1">
            <a:spLocks noChangeArrowheads="1"/>
          </p:cNvSpPr>
          <p:nvPr/>
        </p:nvSpPr>
        <p:spPr bwMode="auto">
          <a:xfrm>
            <a:off x="709613" y="2357438"/>
            <a:ext cx="1154906"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8625" dirty="0">
                <a:solidFill>
                  <a:prstClr val="white"/>
                </a:solidFill>
                <a:latin typeface="Impact" panose="020B0806030902050204" pitchFamily="34" charset="0"/>
              </a:rPr>
              <a:t>8</a:t>
            </a:r>
            <a:endParaRPr lang="zh-CN" altLang="en-US" sz="8625" dirty="0">
              <a:solidFill>
                <a:prstClr val="white"/>
              </a:solidFill>
              <a:latin typeface="Impact" panose="020B0806030902050204" pitchFamily="34" charset="0"/>
            </a:endParaRPr>
          </a:p>
        </p:txBody>
      </p:sp>
      <p:sp>
        <p:nvSpPr>
          <p:cNvPr id="10" name="矩形 9"/>
          <p:cNvSpPr/>
          <p:nvPr/>
        </p:nvSpPr>
        <p:spPr>
          <a:xfrm>
            <a:off x="1874044" y="285511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panose="020F0502020204030204"/>
              <a:ea typeface="宋体" panose="02010600030101010101" pitchFamily="2" charset="-122"/>
            </a:endParaRPr>
          </a:p>
        </p:txBody>
      </p:sp>
      <p:sp>
        <p:nvSpPr>
          <p:cNvPr id="12" name="文本框 11"/>
          <p:cNvSpPr txBox="1">
            <a:spLocks noChangeArrowheads="1"/>
          </p:cNvSpPr>
          <p:nvPr/>
        </p:nvSpPr>
        <p:spPr bwMode="auto">
          <a:xfrm>
            <a:off x="0" y="3581400"/>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4000" b="1" dirty="0">
                <a:solidFill>
                  <a:srgbClr val="FFC000">
                    <a:lumMod val="60000"/>
                    <a:lumOff val="40000"/>
                  </a:srgbClr>
                </a:solidFill>
              </a:rPr>
              <a:t>Hierarchical Clustering</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53" presetClass="entr" presetSubtype="16" fill="hold" grpId="0" nodeType="withEffect">
                                  <p:stCondLst>
                                    <p:cond delay="0"/>
                                  </p:stCondLst>
                                  <p:iterate type="lt">
                                    <p:tmPct val="10000"/>
                                  </p:iterate>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0" grpId="0" animBg="1"/>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eaLnBrk="1" hangingPunct="1"/>
            <a:r>
              <a:rPr lang="en-US" altLang="zh-CN" sz="4400" b="1" dirty="0"/>
              <a:t>Abstract</a:t>
            </a:r>
            <a:endParaRPr lang="zh-CN" altLang="en-US" sz="4400" b="1" dirty="0"/>
          </a:p>
        </p:txBody>
      </p:sp>
      <p:sp>
        <p:nvSpPr>
          <p:cNvPr id="3" name="内容占位符 2"/>
          <p:cNvSpPr>
            <a:spLocks noGrp="1"/>
          </p:cNvSpPr>
          <p:nvPr>
            <p:ph idx="1"/>
          </p:nvPr>
        </p:nvSpPr>
        <p:spPr/>
        <p:txBody>
          <a:bodyPr>
            <a:normAutofit/>
          </a:bodyPr>
          <a:lstStyle/>
          <a:p>
            <a:r>
              <a:rPr lang="en-US" altLang="zh-CN" sz="2800" dirty="0"/>
              <a:t>Agglomerative hierarchical clustering differs from partition-based clustering. </a:t>
            </a:r>
          </a:p>
          <a:p>
            <a:r>
              <a:rPr lang="en-US" altLang="zh-CN" sz="2800" dirty="0"/>
              <a:t>To implement a hierarchical clustering algorithm, one has to choose a linkage function. </a:t>
            </a:r>
          </a:p>
          <a:p>
            <a:r>
              <a:rPr lang="en-US" altLang="zh-CN" sz="2800" dirty="0"/>
              <a:t>A hierarchical clustering is monotonous if and only if the similarity decreases along the path from any leaf to the root, otherwise there exists at least one inversion.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eaLnBrk="1" hangingPunct="1"/>
            <a:r>
              <a:rPr lang="en-US" altLang="zh-CN" sz="3600" b="1" dirty="0"/>
              <a:t>Agglomerative Versus Divisive Hierarchical Clustering, and Dendrogram Representations</a:t>
            </a:r>
          </a:p>
        </p:txBody>
      </p:sp>
      <p:sp>
        <p:nvSpPr>
          <p:cNvPr id="3" name="内容占位符 2"/>
          <p:cNvSpPr>
            <a:spLocks noGrp="1"/>
          </p:cNvSpPr>
          <p:nvPr>
            <p:ph idx="1"/>
          </p:nvPr>
        </p:nvSpPr>
        <p:spPr/>
        <p:txBody>
          <a:bodyPr/>
          <a:lstStyle/>
          <a:p>
            <a:r>
              <a:rPr lang="zh-CN" altLang="en-US" sz="2800" dirty="0"/>
              <a:t>Hierarchical clustering is yet another technique for performing data exploratory </a:t>
            </a:r>
            <a:r>
              <a:rPr lang="zh-CN" altLang="en-US" sz="2800" dirty="0" smtClean="0"/>
              <a:t>analysis</a:t>
            </a:r>
            <a:r>
              <a:rPr lang="en-US" altLang="zh-CN" sz="2800" dirty="0" smtClean="0"/>
              <a:t>, </a:t>
            </a:r>
            <a:r>
              <a:rPr lang="zh-CN" altLang="en-US" sz="2800" dirty="0" smtClean="0"/>
              <a:t>an </a:t>
            </a:r>
            <a:r>
              <a:rPr lang="zh-CN" altLang="en-US" sz="2800" dirty="0"/>
              <a:t>unsupervised technique. </a:t>
            </a:r>
            <a:endParaRPr lang="en-US" altLang="zh-CN" sz="2800" dirty="0" smtClean="0"/>
          </a:p>
          <a:p>
            <a:r>
              <a:rPr lang="en-US" altLang="zh-CN" sz="2800" dirty="0" smtClean="0"/>
              <a:t>In partition for a data-set, </a:t>
            </a:r>
            <a:r>
              <a:rPr lang="zh-CN" altLang="en-US" sz="2800" dirty="0" smtClean="0"/>
              <a:t>we </a:t>
            </a:r>
            <a:r>
              <a:rPr lang="zh-CN" altLang="en-US" sz="2800" dirty="0"/>
              <a:t>dealt with flat clustering that delivers a non-hierarchical partition structure of the data-set. </a:t>
            </a:r>
            <a:endParaRPr lang="en-US" altLang="zh-CN" sz="2800" dirty="0" smtClean="0"/>
          </a:p>
          <a:p>
            <a:r>
              <a:rPr lang="zh-CN" altLang="en-US" sz="2800" dirty="0" smtClean="0"/>
              <a:t>To </a:t>
            </a:r>
            <a:r>
              <a:rPr lang="zh-CN" altLang="en-US" sz="2800" dirty="0"/>
              <a:t>contrast with this flat clustering technique, we cover in this chapter another widely used clustering technique: namely, hierarchical clustering.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eaLnBrk="1" hangingPunct="1"/>
            <a:r>
              <a:rPr lang="en-US" altLang="zh-CN" sz="3600" b="1" dirty="0">
                <a:sym typeface="+mn-ea"/>
              </a:rPr>
              <a:t>Agglomerative Versus Divisive Hierarchical Clustering, and Dendrogram Representations</a:t>
            </a:r>
            <a:endParaRPr lang="zh-CN" altLang="en-US" sz="3600" b="1" dirty="0"/>
          </a:p>
        </p:txBody>
      </p:sp>
      <p:sp>
        <p:nvSpPr>
          <p:cNvPr id="4" name="内容占位符 3"/>
          <p:cNvSpPr>
            <a:spLocks noGrp="1"/>
          </p:cNvSpPr>
          <p:nvPr>
            <p:ph idx="1"/>
          </p:nvPr>
        </p:nvSpPr>
        <p:spPr/>
        <p:txBody>
          <a:bodyPr/>
          <a:lstStyle/>
          <a:p>
            <a:endParaRPr lang="zh-CN" altLang="en-US"/>
          </a:p>
        </p:txBody>
      </p:sp>
      <p:pic>
        <p:nvPicPr>
          <p:cNvPr id="100" name="图片 99"/>
          <p:cNvPicPr/>
          <p:nvPr/>
        </p:nvPicPr>
        <p:blipFill>
          <a:blip r:embed="rId2"/>
          <a:stretch>
            <a:fillRect/>
          </a:stretch>
        </p:blipFill>
        <p:spPr>
          <a:xfrm>
            <a:off x="791210" y="1825625"/>
            <a:ext cx="7495540" cy="347789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eaLnBrk="1" hangingPunct="1"/>
            <a:r>
              <a:rPr lang="en-US" altLang="zh-CN" sz="3600" b="1" dirty="0">
                <a:sym typeface="+mn-ea"/>
              </a:rPr>
              <a:t>Agglomerative Versus Divisive Hierarchical Clustering, and Dendrogram Representations</a:t>
            </a:r>
            <a:endParaRPr lang="zh-CN" altLang="en-US" sz="3600" b="1" dirty="0"/>
          </a:p>
        </p:txBody>
      </p:sp>
      <p:sp>
        <p:nvSpPr>
          <p:cNvPr id="3" name="内容占位符 2"/>
          <p:cNvSpPr>
            <a:spLocks noGrp="1"/>
          </p:cNvSpPr>
          <p:nvPr>
            <p:ph idx="1"/>
          </p:nvPr>
        </p:nvSpPr>
        <p:spPr/>
        <p:txBody>
          <a:bodyPr/>
          <a:lstStyle/>
          <a:p>
            <a:endParaRPr lang="zh-CN" altLang="en-US" sz="2800" dirty="0"/>
          </a:p>
        </p:txBody>
      </p:sp>
      <p:pic>
        <p:nvPicPr>
          <p:cNvPr id="101" name="图片 100"/>
          <p:cNvPicPr/>
          <p:nvPr/>
        </p:nvPicPr>
        <p:blipFill>
          <a:blip r:embed="rId2"/>
          <a:stretch>
            <a:fillRect/>
          </a:stretch>
        </p:blipFill>
        <p:spPr>
          <a:xfrm>
            <a:off x="684530" y="2390775"/>
            <a:ext cx="7830185" cy="378714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895" y="332740"/>
            <a:ext cx="8166100" cy="1325880"/>
          </a:xfrm>
        </p:spPr>
        <p:txBody>
          <a:bodyPr/>
          <a:lstStyle/>
          <a:p>
            <a:pPr algn="ctr" eaLnBrk="1" hangingPunct="1"/>
            <a:r>
              <a:rPr lang="en-US" altLang="zh-CN" sz="3600" b="1" dirty="0">
                <a:sym typeface="+mn-ea"/>
              </a:rPr>
              <a:t>Agglomerative Versus Divisive Hierarchical Clustering, and Dendrogram Representations</a:t>
            </a:r>
            <a:endParaRPr lang="zh-CN" altLang="en-US" sz="3600" b="1" dirty="0"/>
          </a:p>
        </p:txBody>
      </p:sp>
      <p:sp>
        <p:nvSpPr>
          <p:cNvPr id="3" name="内容占位符 2"/>
          <p:cNvSpPr>
            <a:spLocks noGrp="1"/>
          </p:cNvSpPr>
          <p:nvPr>
            <p:ph idx="1"/>
          </p:nvPr>
        </p:nvSpPr>
        <p:spPr/>
        <p:txBody>
          <a:bodyPr/>
          <a:lstStyle/>
          <a:p>
            <a:endParaRPr lang="zh-CN" altLang="en-US" dirty="0"/>
          </a:p>
        </p:txBody>
      </p:sp>
      <p:pic>
        <p:nvPicPr>
          <p:cNvPr id="17410" name="Picture 2"/>
          <p:cNvPicPr>
            <a:picLocks noChangeAspect="1" noChangeArrowheads="1"/>
          </p:cNvPicPr>
          <p:nvPr/>
        </p:nvPicPr>
        <p:blipFill>
          <a:blip r:embed="rId2" cstate="print"/>
          <a:srcRect/>
          <a:stretch>
            <a:fillRect/>
          </a:stretch>
        </p:blipFill>
        <p:spPr bwMode="auto">
          <a:xfrm>
            <a:off x="1763688" y="3501008"/>
            <a:ext cx="5591175" cy="1333500"/>
          </a:xfrm>
          <a:prstGeom prst="rect">
            <a:avLst/>
          </a:prstGeom>
          <a:noFill/>
          <a:ln w="9525">
            <a:noFill/>
            <a:miter lim="800000"/>
            <a:headEnd/>
            <a:tailEnd/>
          </a:ln>
        </p:spPr>
      </p:pic>
      <p:pic>
        <p:nvPicPr>
          <p:cNvPr id="102" name="图片 101"/>
          <p:cNvPicPr/>
          <p:nvPr/>
        </p:nvPicPr>
        <p:blipFill>
          <a:blip r:embed="rId3"/>
          <a:stretch>
            <a:fillRect/>
          </a:stretch>
        </p:blipFill>
        <p:spPr>
          <a:xfrm>
            <a:off x="1331640" y="1658621"/>
            <a:ext cx="6408712" cy="5082748"/>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eaLnBrk="1" hangingPunct="1"/>
            <a:r>
              <a:rPr lang="en-US" altLang="zh-CN" sz="3600" b="1" dirty="0">
                <a:sym typeface="+mn-ea"/>
              </a:rPr>
              <a:t>Agglomerative Versus Divisive Hierarchical Clustering, and Dendrogram Representations</a:t>
            </a:r>
            <a:endParaRPr lang="zh-CN" altLang="en-US" sz="3600" b="1" dirty="0"/>
          </a:p>
        </p:txBody>
      </p:sp>
      <p:sp>
        <p:nvSpPr>
          <p:cNvPr id="3" name="内容占位符 2"/>
          <p:cNvSpPr>
            <a:spLocks noGrp="1"/>
          </p:cNvSpPr>
          <p:nvPr>
            <p:ph idx="1"/>
          </p:nvPr>
        </p:nvSpPr>
        <p:spPr/>
        <p:txBody>
          <a:bodyPr/>
          <a:lstStyle/>
          <a:p>
            <a:r>
              <a:rPr lang="en-US" altLang="zh-CN" sz="2800" dirty="0"/>
              <a:t>We have chosen the Euclidean distance D(xi,xj)=∥xi−xj∥ as the basic distance between any two elements of X, and the minimum distance as the linkage distance for defining the sub-set distance Δ(Xi,Xj)=minx∈X,y∈XjD(x,y). </a:t>
            </a:r>
            <a:endParaRPr lang="en-US" altLang="zh-CN" sz="2800" dirty="0" smtClean="0"/>
          </a:p>
          <a:p>
            <a:r>
              <a:rPr lang="en-US" altLang="zh-CN" sz="2800" dirty="0" smtClean="0"/>
              <a:t>Here </a:t>
            </a:r>
            <a:r>
              <a:rPr lang="en-US" altLang="zh-CN" sz="2800" dirty="0"/>
              <a:t>is an excerpt of that data-set that describes some features for the car data-set: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eaLnBrk="1" hangingPunct="1"/>
            <a:endParaRPr lang="zh-CN" altLang="en-US" sz="3600" b="1" dirty="0"/>
          </a:p>
        </p:txBody>
      </p:sp>
      <p:sp>
        <p:nvSpPr>
          <p:cNvPr id="3" name="内容占位符 2"/>
          <p:cNvSpPr>
            <a:spLocks noGrp="1"/>
          </p:cNvSpPr>
          <p:nvPr>
            <p:ph idx="1"/>
          </p:nvPr>
        </p:nvSpPr>
        <p:spPr/>
        <p:txBody>
          <a:bodyPr>
            <a:normAutofit/>
          </a:bodyPr>
          <a:lstStyle/>
          <a:p>
            <a:endParaRPr lang="en-US" altLang="zh-CN" sz="2800" dirty="0"/>
          </a:p>
        </p:txBody>
      </p:sp>
      <p:pic>
        <p:nvPicPr>
          <p:cNvPr id="103" name="图片 102"/>
          <p:cNvPicPr/>
          <p:nvPr/>
        </p:nvPicPr>
        <p:blipFill>
          <a:blip r:embed="rId2"/>
          <a:stretch>
            <a:fillRect/>
          </a:stretch>
        </p:blipFill>
        <p:spPr>
          <a:xfrm>
            <a:off x="629285" y="280670"/>
            <a:ext cx="7886065" cy="645033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200" b="1" dirty="0"/>
              <a:t>Strategies to Define a Good Linkage Distance</a:t>
            </a:r>
          </a:p>
        </p:txBody>
      </p:sp>
      <p:sp>
        <p:nvSpPr>
          <p:cNvPr id="3" name="内容占位符 2"/>
          <p:cNvSpPr>
            <a:spLocks noGrp="1"/>
          </p:cNvSpPr>
          <p:nvPr>
            <p:ph idx="1"/>
          </p:nvPr>
        </p:nvSpPr>
        <p:spPr/>
        <p:txBody>
          <a:bodyPr>
            <a:normAutofit/>
          </a:bodyPr>
          <a:lstStyle/>
          <a:p>
            <a:r>
              <a:rPr lang="en-US" altLang="zh-CN" sz="2800" dirty="0"/>
              <a:t>Let D(x</a:t>
            </a:r>
            <a:r>
              <a:rPr lang="en-US" altLang="zh-CN" sz="2800" baseline="-25000" dirty="0"/>
              <a:t>i</a:t>
            </a:r>
            <a:r>
              <a:rPr lang="en-US" altLang="zh-CN" sz="2800" dirty="0"/>
              <a:t>,x</a:t>
            </a:r>
            <a:r>
              <a:rPr lang="en-US" altLang="zh-CN" sz="2800" baseline="-25000" dirty="0"/>
              <a:t>j</a:t>
            </a:r>
            <a:r>
              <a:rPr lang="en-US" altLang="zh-CN" sz="2800" dirty="0"/>
              <a:t>) denote the elementary distance between any two elements of X (for example, the Euclidean distance). </a:t>
            </a:r>
            <a:endParaRPr lang="en-US" altLang="zh-CN" sz="2800" dirty="0" smtClean="0"/>
          </a:p>
          <a:p>
            <a:r>
              <a:rPr lang="en-US" altLang="zh-CN" sz="2800" dirty="0" smtClean="0"/>
              <a:t>In </a:t>
            </a:r>
            <a:r>
              <a:rPr lang="en-US" altLang="zh-CN" sz="2800" dirty="0"/>
              <a:t>order to select at each stage of the hierarchical clustering the closest pair of sub-sets, we need to define a sub-set distance Δ(X</a:t>
            </a:r>
            <a:r>
              <a:rPr lang="en-US" altLang="zh-CN" sz="2800" baseline="-25000" dirty="0"/>
              <a:t>i</a:t>
            </a:r>
            <a:r>
              <a:rPr lang="en-US" altLang="zh-CN" sz="2800" dirty="0"/>
              <a:t>,X</a:t>
            </a:r>
            <a:r>
              <a:rPr lang="en-US" altLang="zh-CN" sz="2800" baseline="-25000" dirty="0"/>
              <a:t>j</a:t>
            </a:r>
            <a:r>
              <a:rPr lang="en-US" altLang="zh-CN" sz="2800" dirty="0"/>
              <a:t>) between any two sub-sets of elements. </a:t>
            </a:r>
            <a:endParaRPr lang="en-US" altLang="zh-CN" sz="2800" dirty="0" smtClean="0"/>
          </a:p>
          <a:p>
            <a:r>
              <a:rPr lang="en-US" altLang="zh-CN" sz="2800" dirty="0" smtClean="0"/>
              <a:t>When </a:t>
            </a:r>
            <a:r>
              <a:rPr lang="en-US" altLang="zh-CN" sz="2800" dirty="0"/>
              <a:t>both sub-sets are singletons X</a:t>
            </a:r>
            <a:r>
              <a:rPr lang="en-US" altLang="zh-CN" sz="2800" baseline="-25000" dirty="0"/>
              <a:t>i</a:t>
            </a:r>
            <a:r>
              <a:rPr lang="en-US" altLang="zh-CN" sz="2800" dirty="0"/>
              <a:t>={x</a:t>
            </a:r>
            <a:r>
              <a:rPr lang="en-US" altLang="zh-CN" sz="2800" baseline="-25000" dirty="0"/>
              <a:t>i</a:t>
            </a:r>
            <a:r>
              <a:rPr lang="en-US" altLang="zh-CN" sz="2800" dirty="0"/>
              <a:t>} and X</a:t>
            </a:r>
            <a:r>
              <a:rPr lang="en-US" altLang="zh-CN" sz="2800" baseline="-25000" dirty="0"/>
              <a:t>j</a:t>
            </a:r>
            <a:r>
              <a:rPr lang="en-US" altLang="zh-CN" sz="2800" dirty="0"/>
              <a:t>={x</a:t>
            </a:r>
            <a:r>
              <a:rPr lang="en-US" altLang="zh-CN" sz="2800" baseline="-25000" dirty="0"/>
              <a:t>j</a:t>
            </a:r>
            <a:r>
              <a:rPr lang="en-US" altLang="zh-CN" sz="2800" dirty="0"/>
              <a:t>}, we should have Δ(X</a:t>
            </a:r>
            <a:r>
              <a:rPr lang="en-US" altLang="zh-CN" sz="2800" baseline="-25000" dirty="0"/>
              <a:t>i</a:t>
            </a:r>
            <a:r>
              <a:rPr lang="en-US" altLang="zh-CN" sz="2800" dirty="0"/>
              <a:t>,X</a:t>
            </a:r>
            <a:r>
              <a:rPr lang="en-US" altLang="zh-CN" sz="2800" baseline="-25000" dirty="0"/>
              <a:t>j</a:t>
            </a:r>
            <a:r>
              <a:rPr lang="en-US" altLang="zh-CN" sz="2800" dirty="0"/>
              <a:t>)=D(x</a:t>
            </a:r>
            <a:r>
              <a:rPr lang="en-US" altLang="zh-CN" sz="2800" baseline="-25000" dirty="0"/>
              <a:t>i</a:t>
            </a:r>
            <a:r>
              <a:rPr lang="en-US" altLang="zh-CN" sz="2800" dirty="0"/>
              <a:t>,x</a:t>
            </a:r>
            <a:r>
              <a:rPr lang="en-US" altLang="zh-CN" sz="2800" baseline="-25000" dirty="0"/>
              <a:t>j</a:t>
            </a:r>
            <a:r>
              <a:rPr lang="en-US" altLang="zh-CN" sz="28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200" b="1" dirty="0">
                <a:sym typeface="+mn-ea"/>
              </a:rPr>
              <a:t>Strategies to Define a Good Linkage Distance</a:t>
            </a:r>
            <a:endParaRPr lang="zh-CN" altLang="en-US" sz="3200" b="1" dirty="0"/>
          </a:p>
        </p:txBody>
      </p:sp>
      <p:sp>
        <p:nvSpPr>
          <p:cNvPr id="3" name="内容占位符 2"/>
          <p:cNvSpPr>
            <a:spLocks noGrp="1"/>
          </p:cNvSpPr>
          <p:nvPr>
            <p:ph idx="1"/>
          </p:nvPr>
        </p:nvSpPr>
        <p:spPr>
          <a:xfrm>
            <a:off x="-46990" y="1825625"/>
            <a:ext cx="9301480" cy="5101590"/>
          </a:xfrm>
        </p:spPr>
        <p:txBody>
          <a:bodyPr>
            <a:normAutofit/>
          </a:bodyPr>
          <a:lstStyle/>
          <a:p>
            <a:r>
              <a:rPr lang="en-US" altLang="zh-CN" sz="2800" dirty="0"/>
              <a:t>There exist many other sub-set distances Δ that are commonly called linkage distances because they literally allow one to link sub-trees representing the sub-sets in the dendrogram representation.</a:t>
            </a:r>
          </a:p>
        </p:txBody>
      </p:sp>
      <p:pic>
        <p:nvPicPr>
          <p:cNvPr id="104" name="图片 103"/>
          <p:cNvPicPr/>
          <p:nvPr/>
        </p:nvPicPr>
        <p:blipFill>
          <a:blip r:embed="rId2"/>
          <a:stretch>
            <a:fillRect/>
          </a:stretch>
        </p:blipFill>
        <p:spPr>
          <a:xfrm>
            <a:off x="934720" y="3573145"/>
            <a:ext cx="7327265" cy="260604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200" b="1" dirty="0"/>
              <a:t>A Generic Algorithm for Agglomerative Hierarchical Clustering</a:t>
            </a:r>
          </a:p>
        </p:txBody>
      </p:sp>
      <p:sp>
        <p:nvSpPr>
          <p:cNvPr id="3" name="内容占位符 2"/>
          <p:cNvSpPr>
            <a:spLocks noGrp="1"/>
          </p:cNvSpPr>
          <p:nvPr>
            <p:ph idx="1"/>
          </p:nvPr>
        </p:nvSpPr>
        <p:spPr/>
        <p:txBody>
          <a:bodyPr/>
          <a:lstStyle/>
          <a:p>
            <a:r>
              <a:rPr lang="en-US" altLang="zh-CN" sz="2800" dirty="0"/>
              <a:t>At run time, each processor knows the overall number of processors of the cluster, P, by using the function </a:t>
            </a:r>
            <a:r>
              <a:rPr lang="en-US" altLang="zh-CN" sz="2800" dirty="0" err="1"/>
              <a:t>MPI_Comm_size</a:t>
            </a:r>
            <a:r>
              <a:rPr lang="en-US" altLang="zh-CN" sz="2800" dirty="0"/>
              <a:t>(), and its rank number indexed between 0 and P−1 by using the standard MPI function </a:t>
            </a:r>
            <a:r>
              <a:rPr lang="en-US" altLang="zh-CN" sz="2800" dirty="0" err="1"/>
              <a:t>MPI_Comm_rank</a:t>
            </a:r>
            <a:r>
              <a:rPr lang="en-US" altLang="zh-CN" sz="2800" dirty="0"/>
              <a:t>(). </a:t>
            </a:r>
            <a:endParaRPr lang="zh-CN" altLang="en-US" sz="2800" dirty="0"/>
          </a:p>
        </p:txBody>
      </p:sp>
      <p:pic>
        <p:nvPicPr>
          <p:cNvPr id="4" name="图片 3" descr="ZLK3PI83EC1X{O{PVA$5_K0"/>
          <p:cNvPicPr>
            <a:picLocks noChangeAspect="1"/>
          </p:cNvPicPr>
          <p:nvPr>
            <p:custDataLst>
              <p:tags r:id="rId1"/>
            </p:custDataLst>
          </p:nvPr>
        </p:nvPicPr>
        <p:blipFill>
          <a:blip r:embed="rId3"/>
          <a:stretch>
            <a:fillRect/>
          </a:stretch>
        </p:blipFill>
        <p:spPr>
          <a:xfrm>
            <a:off x="0" y="1798955"/>
            <a:ext cx="9201785" cy="38068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200" b="1" dirty="0">
                <a:sym typeface="+mn-ea"/>
              </a:rPr>
              <a:t>A Generic Algorithm for Agglomerative Hierarchical Clustering</a:t>
            </a:r>
            <a:endParaRPr lang="zh-CN" altLang="en-US" sz="3200" b="1" dirty="0"/>
          </a:p>
        </p:txBody>
      </p:sp>
      <p:sp>
        <p:nvSpPr>
          <p:cNvPr id="3" name="内容占位符 2"/>
          <p:cNvSpPr>
            <a:spLocks noGrp="1"/>
          </p:cNvSpPr>
          <p:nvPr>
            <p:ph idx="1"/>
          </p:nvPr>
        </p:nvSpPr>
        <p:spPr/>
        <p:txBody>
          <a:bodyPr>
            <a:normAutofit/>
          </a:bodyPr>
          <a:lstStyle/>
          <a:p>
            <a:r>
              <a:rPr lang="en-US" altLang="zh-CN" sz="2800" dirty="0"/>
              <a:t>Since we start from n=|X| leaves to finish with a root containing the full set X, we perform exactly n−1 merge operations. </a:t>
            </a:r>
            <a:endParaRPr lang="en-US" altLang="zh-CN" sz="2800" dirty="0" smtClean="0"/>
          </a:p>
          <a:p>
            <a:r>
              <a:rPr lang="en-US" altLang="zh-CN" sz="2800" dirty="0" smtClean="0"/>
              <a:t>A </a:t>
            </a:r>
            <a:r>
              <a:rPr lang="en-US" altLang="zh-CN" sz="2800" dirty="0"/>
              <a:t>straightforward implementation of this AHC algorithm yields a cubic time complexity, in O(n3</a:t>
            </a:r>
            <a:r>
              <a:rPr lang="en-US" altLang="zh-CN" sz="2800" dirty="0" smtClean="0"/>
              <a:t>).</a:t>
            </a:r>
          </a:p>
          <a:p>
            <a:r>
              <a:rPr lang="en-US" altLang="zh-CN" sz="2800" dirty="0" smtClean="0"/>
              <a:t> </a:t>
            </a:r>
            <a:r>
              <a:rPr lang="en-US" altLang="zh-CN" sz="2800" dirty="0"/>
              <a:t>Depending on the linkage distance, we can optimize this naive algorithm and obtain far better time complexities.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200" b="1" dirty="0"/>
              <a:t>Choosing the Appropriate Elementary Distance Between Elements</a:t>
            </a:r>
          </a:p>
        </p:txBody>
      </p:sp>
      <p:sp>
        <p:nvSpPr>
          <p:cNvPr id="3" name="内容占位符 2"/>
          <p:cNvSpPr>
            <a:spLocks noGrp="1"/>
          </p:cNvSpPr>
          <p:nvPr>
            <p:ph idx="1"/>
          </p:nvPr>
        </p:nvSpPr>
        <p:spPr/>
        <p:txBody>
          <a:bodyPr/>
          <a:lstStyle/>
          <a:p>
            <a:r>
              <a:rPr lang="en-US" altLang="zh-CN" sz="2800" dirty="0"/>
              <a:t>The base distance function plays a crucial role on the shape of </a:t>
            </a:r>
            <a:r>
              <a:rPr lang="en-US" altLang="zh-CN" sz="2800" dirty="0" err="1"/>
              <a:t>dendrograms</a:t>
            </a:r>
            <a:r>
              <a:rPr lang="en-US" altLang="zh-CN" sz="2800" dirty="0"/>
              <a:t>. This distance function is a dissimilarity measure that evaluates how different element x</a:t>
            </a:r>
            <a:r>
              <a:rPr lang="en-US" altLang="zh-CN" sz="2800" baseline="-25000" dirty="0"/>
              <a:t>i</a:t>
            </a:r>
            <a:r>
              <a:rPr lang="en-US" altLang="zh-CN" sz="2800" dirty="0"/>
              <a:t> is from element </a:t>
            </a:r>
            <a:r>
              <a:rPr lang="en-US" altLang="zh-CN" sz="2800" dirty="0" err="1"/>
              <a:t>x</a:t>
            </a:r>
            <a:r>
              <a:rPr lang="en-US" altLang="zh-CN" sz="2800" baseline="-25000" dirty="0" err="1"/>
              <a:t>j</a:t>
            </a:r>
            <a:r>
              <a:rPr lang="en-US" altLang="zh-CN" sz="2800" dirty="0"/>
              <a:t> (for any pair of elements). </a:t>
            </a:r>
            <a:endParaRPr lang="en-US" altLang="zh-CN" sz="2800" dirty="0" smtClean="0"/>
          </a:p>
          <a:p>
            <a:r>
              <a:rPr lang="en-US" altLang="zh-CN" sz="2800" dirty="0" smtClean="0"/>
              <a:t>Beside </a:t>
            </a:r>
            <a:r>
              <a:rPr lang="en-US" altLang="zh-CN" sz="2800" dirty="0"/>
              <a:t>Euclidean distance, we can also choose other metric distances Footnote 2 like the city block distance:</a:t>
            </a:r>
          </a:p>
          <a:p>
            <a:endParaRPr lang="en-US" altLang="zh-CN" sz="2800" dirty="0"/>
          </a:p>
        </p:txBody>
      </p:sp>
      <p:pic>
        <p:nvPicPr>
          <p:cNvPr id="4" name="图片 3" descr="CH6D9OB0F862Q4K60]C]27E"/>
          <p:cNvPicPr>
            <a:picLocks noChangeAspect="1"/>
          </p:cNvPicPr>
          <p:nvPr/>
        </p:nvPicPr>
        <p:blipFill>
          <a:blip r:embed="rId2"/>
          <a:stretch>
            <a:fillRect/>
          </a:stretch>
        </p:blipFill>
        <p:spPr>
          <a:xfrm>
            <a:off x="3420110" y="5085080"/>
            <a:ext cx="3493135" cy="1158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eaLnBrk="1" hangingPunct="1"/>
            <a:r>
              <a:rPr lang="en-US" altLang="zh-CN" sz="3600" b="1" dirty="0">
                <a:sym typeface="+mn-ea"/>
              </a:rPr>
              <a:t>Choosing the Appropriate Elementary Distance Between Elements</a:t>
            </a:r>
            <a:endParaRPr lang="zh-CN" altLang="en-US" sz="3600" b="1" dirty="0"/>
          </a:p>
        </p:txBody>
      </p:sp>
      <p:sp>
        <p:nvSpPr>
          <p:cNvPr id="3" name="内容占位符 2"/>
          <p:cNvSpPr>
            <a:spLocks noGrp="1"/>
          </p:cNvSpPr>
          <p:nvPr>
            <p:ph idx="1"/>
          </p:nvPr>
        </p:nvSpPr>
        <p:spPr/>
        <p:txBody>
          <a:bodyPr/>
          <a:lstStyle/>
          <a:p>
            <a:r>
              <a:rPr lang="en-US" altLang="zh-CN" sz="2400" dirty="0"/>
              <a:t>There exist many other distance functions that have been used in a broad panel of applications. </a:t>
            </a:r>
            <a:endParaRPr lang="en-US" altLang="zh-CN" sz="2400" dirty="0" smtClean="0"/>
          </a:p>
          <a:p>
            <a:r>
              <a:rPr lang="en-US" altLang="zh-CN" sz="2400" dirty="0" smtClean="0"/>
              <a:t>Let </a:t>
            </a:r>
            <a:r>
              <a:rPr lang="en-US" altLang="zh-CN" sz="2400" dirty="0"/>
              <a:t>us cite the Jaccard distance D</a:t>
            </a:r>
            <a:r>
              <a:rPr lang="en-US" altLang="zh-CN" sz="2400" baseline="-25000" dirty="0"/>
              <a:t>J</a:t>
            </a:r>
            <a:r>
              <a:rPr lang="en-US" altLang="zh-CN" sz="2400" dirty="0"/>
              <a:t>(A,B)=|A∩B|A∪B defined on sets, the edit distance for finding distance between combinatorial structures (like texts or DNA sequences), the cosine distance D</a:t>
            </a:r>
            <a:r>
              <a:rPr lang="en-US" altLang="zh-CN" sz="2400" baseline="-25000" dirty="0"/>
              <a:t>cos</a:t>
            </a:r>
            <a:r>
              <a:rPr lang="en-US" altLang="zh-CN" sz="2400" dirty="0"/>
              <a:t>(p,q)=1−p⊤q∥p∥∥q∥ </a:t>
            </a:r>
            <a:endParaRPr lang="en-US" altLang="zh-CN" sz="2400" dirty="0" smtClean="0"/>
          </a:p>
          <a:p>
            <a:r>
              <a:rPr lang="en-US" altLang="zh-CN" sz="2400" dirty="0" smtClean="0"/>
              <a:t>Very </a:t>
            </a:r>
            <a:r>
              <a:rPr lang="en-US" altLang="zh-CN" sz="2400" dirty="0"/>
              <a:t>useful when analyzing a corpus of texts with documents represented by a frequency histogram of word </a:t>
            </a:r>
            <a:r>
              <a:rPr lang="en-US" altLang="zh-CN" sz="2400" dirty="0" smtClean="0"/>
              <a:t>occurrences, </a:t>
            </a:r>
            <a:r>
              <a:rPr lang="en-US" altLang="zh-CN" sz="2400" dirty="0"/>
              <a:t>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r>
              <a:rPr lang="zh-CN" altLang="en-US" sz="3200" dirty="0"/>
              <a:t>One can also take a sub-set distance Δ according to the centroids of the sub-sets. This criterion allows us to implement a variance minimization process. </a:t>
            </a:r>
            <a:endParaRPr lang="en-US" altLang="zh-CN" sz="3200" dirty="0" smtClean="0"/>
          </a:p>
          <a:p>
            <a:r>
              <a:rPr lang="zh-CN" altLang="en-US" sz="3200" dirty="0" smtClean="0"/>
              <a:t>This </a:t>
            </a:r>
            <a:r>
              <a:rPr lang="zh-CN" altLang="en-US" sz="3200" dirty="0"/>
              <a:t>yields the Ward linkage function: to merge X</a:t>
            </a:r>
            <a:r>
              <a:rPr lang="zh-CN" altLang="en-US" sz="3200" baseline="-25000" dirty="0"/>
              <a:t>i</a:t>
            </a:r>
            <a:r>
              <a:rPr lang="zh-CN" altLang="en-US" sz="3200" dirty="0"/>
              <a:t> (n</a:t>
            </a:r>
            <a:r>
              <a:rPr lang="zh-CN" altLang="en-US" sz="3200" baseline="-25000" dirty="0"/>
              <a:t>i</a:t>
            </a:r>
            <a:r>
              <a:rPr lang="zh-CN" altLang="en-US" sz="3200" dirty="0"/>
              <a:t>=|X</a:t>
            </a:r>
            <a:r>
              <a:rPr lang="zh-CN" altLang="en-US" sz="3200" baseline="-25000" dirty="0"/>
              <a:t>i</a:t>
            </a:r>
            <a:r>
              <a:rPr lang="zh-CN" altLang="en-US" sz="3200" dirty="0"/>
              <a:t>|) with X</a:t>
            </a:r>
            <a:r>
              <a:rPr lang="zh-CN" altLang="en-US" sz="3200" baseline="-25000" dirty="0"/>
              <a:t>j</a:t>
            </a:r>
            <a:r>
              <a:rPr lang="zh-CN" altLang="en-US" sz="3200" dirty="0"/>
              <a:t> (n</a:t>
            </a:r>
            <a:r>
              <a:rPr lang="zh-CN" altLang="en-US" sz="3200" baseline="-25000" dirty="0"/>
              <a:t>j</a:t>
            </a:r>
            <a:r>
              <a:rPr lang="zh-CN" altLang="en-US" sz="3200" dirty="0"/>
              <a:t>=|X</a:t>
            </a:r>
            <a:r>
              <a:rPr lang="zh-CN" altLang="en-US" sz="3200" baseline="-25000" dirty="0"/>
              <a:t>j</a:t>
            </a:r>
            <a:r>
              <a:rPr lang="zh-CN" altLang="en-US" sz="3200" dirty="0"/>
              <a:t>|), we consider the following Ward criterion:</a:t>
            </a:r>
          </a:p>
          <a:p>
            <a:endParaRPr lang="zh-CN" altLang="en-US" sz="3200" dirty="0"/>
          </a:p>
        </p:txBody>
      </p:sp>
      <p:pic>
        <p:nvPicPr>
          <p:cNvPr id="4" name="图片 3" descr="J[EVX8F7X[OU`9IF~}NFI{0"/>
          <p:cNvPicPr>
            <a:picLocks noChangeAspect="1"/>
          </p:cNvPicPr>
          <p:nvPr/>
        </p:nvPicPr>
        <p:blipFill>
          <a:blip r:embed="rId2"/>
          <a:stretch>
            <a:fillRect/>
          </a:stretch>
        </p:blipFill>
        <p:spPr>
          <a:xfrm>
            <a:off x="2195830" y="5300980"/>
            <a:ext cx="5014595" cy="817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r>
              <a:rPr lang="zh-CN" altLang="en-US" sz="2800" dirty="0" smtClean="0"/>
              <a:t>c</a:t>
            </a:r>
            <a:r>
              <a:rPr lang="zh-CN" altLang="en-US" sz="2800" dirty="0"/>
              <a:t>(X′) denotes the centroid of subset X′⊆X: c(X′)=1|X′|∑x∈X′</a:t>
            </a:r>
            <a:r>
              <a:rPr lang="zh-CN" altLang="en-US" sz="2800" baseline="-25000" dirty="0"/>
              <a:t>x</a:t>
            </a:r>
            <a:r>
              <a:rPr lang="zh-CN" altLang="en-US" sz="2800" dirty="0"/>
              <a:t> </a:t>
            </a:r>
            <a:r>
              <a:rPr lang="en-US" altLang="zh-CN" sz="2800" dirty="0" smtClean="0"/>
              <a:t>.</a:t>
            </a:r>
          </a:p>
          <a:p>
            <a:r>
              <a:rPr lang="zh-CN" altLang="en-US" sz="2800" dirty="0" smtClean="0"/>
              <a:t>Observe </a:t>
            </a:r>
            <a:r>
              <a:rPr lang="zh-CN" altLang="en-US" sz="2800" dirty="0"/>
              <a:t>that the distance between two elements induced from the sub-set distance Δ is merely half of the squared Euclidean distance: Δ({x</a:t>
            </a:r>
            <a:r>
              <a:rPr lang="zh-CN" altLang="en-US" sz="2800" baseline="-25000" dirty="0"/>
              <a:t>i</a:t>
            </a:r>
            <a:r>
              <a:rPr lang="zh-CN" altLang="en-US" sz="2800" dirty="0"/>
              <a:t>},{x</a:t>
            </a:r>
            <a:r>
              <a:rPr lang="zh-CN" altLang="en-US" sz="2800" baseline="-25000" dirty="0"/>
              <a:t>j</a:t>
            </a:r>
            <a:r>
              <a:rPr lang="zh-CN" altLang="en-US" sz="2800" dirty="0"/>
              <a:t>})=D(x</a:t>
            </a:r>
            <a:r>
              <a:rPr lang="zh-CN" altLang="en-US" sz="2800" baseline="-25000" dirty="0"/>
              <a:t>i</a:t>
            </a:r>
            <a:r>
              <a:rPr lang="zh-CN" altLang="en-US" sz="2800" dirty="0"/>
              <a:t>,x</a:t>
            </a:r>
            <a:r>
              <a:rPr lang="zh-CN" altLang="en-US" sz="2800" baseline="-25000" dirty="0"/>
              <a:t>j</a:t>
            </a:r>
            <a:r>
              <a:rPr lang="zh-CN" altLang="en-US" sz="2800" dirty="0"/>
              <a:t>)=12∥x</a:t>
            </a:r>
            <a:r>
              <a:rPr lang="zh-CN" altLang="en-US" sz="2800" baseline="-25000" dirty="0"/>
              <a:t>i</a:t>
            </a:r>
            <a:r>
              <a:rPr lang="zh-CN" altLang="en-US" sz="2800" dirty="0"/>
              <a:t>−x</a:t>
            </a:r>
            <a:r>
              <a:rPr lang="zh-CN" altLang="en-US" sz="2800" baseline="-25000" dirty="0"/>
              <a:t>j</a:t>
            </a:r>
            <a:r>
              <a:rPr lang="zh-CN" altLang="en-US" sz="2800" dirty="0"/>
              <a:t>∥2. </a:t>
            </a:r>
            <a:endParaRPr lang="en-US" altLang="zh-CN" sz="2800" dirty="0" smtClean="0"/>
          </a:p>
          <a:p>
            <a:r>
              <a:rPr lang="en-US" altLang="zh-CN" sz="2800" dirty="0" smtClean="0"/>
              <a:t>The f</a:t>
            </a:r>
            <a:r>
              <a:rPr lang="zh-CN" altLang="en-US" sz="2800" dirty="0" smtClean="0"/>
              <a:t>igure </a:t>
            </a:r>
            <a:r>
              <a:rPr lang="zh-CN" altLang="en-US" sz="2800" dirty="0"/>
              <a:t>illustrates visually the difference between the dendrograms obtained from the group average AHC and from the Ward </a:t>
            </a:r>
            <a:r>
              <a:rPr lang="zh-CN" altLang="en-US" sz="2800" dirty="0" smtClean="0"/>
              <a:t>AHC.</a:t>
            </a:r>
            <a:endParaRPr lang="zh-CN"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a:xfrm>
            <a:off x="628650" y="1332865"/>
            <a:ext cx="7886700" cy="4844415"/>
          </a:xfrm>
        </p:spPr>
        <p:txBody>
          <a:bodyPr/>
          <a:lstStyle/>
          <a:p>
            <a:endParaRPr lang="zh-CN" altLang="en-US" sz="3200"/>
          </a:p>
        </p:txBody>
      </p:sp>
      <p:pic>
        <p:nvPicPr>
          <p:cNvPr id="105" name="图片 104"/>
          <p:cNvPicPr/>
          <p:nvPr/>
        </p:nvPicPr>
        <p:blipFill>
          <a:blip r:embed="rId2"/>
          <a:stretch>
            <a:fillRect/>
          </a:stretch>
        </p:blipFill>
        <p:spPr>
          <a:xfrm>
            <a:off x="107504" y="1196752"/>
            <a:ext cx="8939341" cy="5545678"/>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r>
              <a:rPr lang="zh-CN" altLang="en-US" sz="3200" dirty="0"/>
              <a:t>Notice that we can always define the similarity S(X</a:t>
            </a:r>
            <a:r>
              <a:rPr lang="zh-CN" altLang="en-US" sz="3200" baseline="-25000" dirty="0"/>
              <a:t>i</a:t>
            </a:r>
            <a:r>
              <a:rPr lang="zh-CN" altLang="en-US" sz="3200" dirty="0"/>
              <a:t>,X</a:t>
            </a:r>
            <a:r>
              <a:rPr lang="zh-CN" altLang="en-US" sz="3200" baseline="-25000" dirty="0"/>
              <a:t>j</a:t>
            </a:r>
            <a:r>
              <a:rPr lang="zh-CN" altLang="en-US" sz="3200" dirty="0"/>
              <a:t>) between two sub-sets by defining S(X</a:t>
            </a:r>
            <a:r>
              <a:rPr lang="zh-CN" altLang="en-US" sz="3200" baseline="-25000" dirty="0"/>
              <a:t>i</a:t>
            </a:r>
            <a:r>
              <a:rPr lang="zh-CN" altLang="en-US" sz="3200" dirty="0"/>
              <a:t>,X</a:t>
            </a:r>
            <a:r>
              <a:rPr lang="zh-CN" altLang="en-US" sz="3200" baseline="-25000" dirty="0"/>
              <a:t>j</a:t>
            </a:r>
            <a:r>
              <a:rPr lang="zh-CN" altLang="en-US" sz="3200" dirty="0"/>
              <a:t>)=−Δ(X</a:t>
            </a:r>
            <a:r>
              <a:rPr lang="zh-CN" altLang="en-US" sz="3200" baseline="-25000" dirty="0"/>
              <a:t>i</a:t>
            </a:r>
            <a:r>
              <a:rPr lang="zh-CN" altLang="en-US" sz="3200" dirty="0"/>
              <a:t>,X</a:t>
            </a:r>
            <a:r>
              <a:rPr lang="zh-CN" altLang="en-US" sz="3200" baseline="-25000" dirty="0"/>
              <a:t>j</a:t>
            </a:r>
            <a:r>
              <a:rPr lang="zh-CN" altLang="en-US" sz="3200" dirty="0"/>
              <a:t>). </a:t>
            </a:r>
            <a:endParaRPr lang="en-US" altLang="zh-CN" sz="3200" dirty="0" smtClean="0"/>
          </a:p>
          <a:p>
            <a:r>
              <a:rPr lang="zh-CN" altLang="en-US" sz="3200" dirty="0" smtClean="0"/>
              <a:t>The </a:t>
            </a:r>
            <a:r>
              <a:rPr lang="zh-CN" altLang="en-US" sz="3200" dirty="0"/>
              <a:t>merging steps of a path sequence of length l in the tree dendrogram are said monotonous when we have the property that S</a:t>
            </a:r>
            <a:r>
              <a:rPr lang="zh-CN" altLang="en-US" sz="3200" baseline="-25000" dirty="0"/>
              <a:t>1</a:t>
            </a:r>
            <a:r>
              <a:rPr lang="zh-CN" altLang="en-US" sz="3200" dirty="0"/>
              <a:t>≥S</a:t>
            </a:r>
            <a:r>
              <a:rPr lang="zh-CN" altLang="en-US" sz="3200" baseline="-25000" dirty="0"/>
              <a:t>2</a:t>
            </a:r>
            <a:r>
              <a:rPr lang="zh-CN" altLang="en-US" sz="3200" dirty="0"/>
              <a:t>≥⋯≥S</a:t>
            </a:r>
            <a:r>
              <a:rPr lang="zh-CN" altLang="en-US" sz="3200" baseline="-25000" dirty="0"/>
              <a:t>l</a:t>
            </a:r>
            <a:r>
              <a:rPr lang="zh-CN" altLang="en-US" sz="3200"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r>
              <a:rPr lang="zh-CN" altLang="en-US" sz="3200" dirty="0">
                <a:sym typeface="+mn-ea"/>
              </a:rPr>
              <a:t>A hierarchical clustering is said non-monotonous when there exists at least one inversion, say S</a:t>
            </a:r>
            <a:r>
              <a:rPr lang="zh-CN" altLang="en-US" sz="3200" baseline="-25000" dirty="0">
                <a:sym typeface="+mn-ea"/>
              </a:rPr>
              <a:t>i</a:t>
            </a:r>
            <a:r>
              <a:rPr lang="zh-CN" altLang="en-US" sz="3200" dirty="0">
                <a:sym typeface="+mn-ea"/>
              </a:rPr>
              <a:t>&lt;S</a:t>
            </a:r>
            <a:r>
              <a:rPr lang="zh-CN" altLang="en-US" sz="3200" baseline="-25000" dirty="0">
                <a:sym typeface="+mn-ea"/>
              </a:rPr>
              <a:t>i</a:t>
            </a:r>
            <a:r>
              <a:rPr lang="zh-CN" altLang="en-US" sz="3200" dirty="0">
                <a:sym typeface="+mn-ea"/>
              </a:rPr>
              <a:t>+1, on a path from the leaves to the root of the dendrogram. </a:t>
            </a:r>
            <a:endParaRPr lang="en-US" altLang="zh-CN" sz="3200" dirty="0" smtClean="0">
              <a:sym typeface="+mn-ea"/>
            </a:endParaRPr>
          </a:p>
          <a:p>
            <a:r>
              <a:rPr lang="zh-CN" altLang="en-US" sz="3200" dirty="0" smtClean="0">
                <a:sym typeface="+mn-ea"/>
              </a:rPr>
              <a:t>The </a:t>
            </a:r>
            <a:r>
              <a:rPr lang="zh-CN" altLang="en-US" sz="3200" dirty="0">
                <a:sym typeface="+mn-ea"/>
              </a:rPr>
              <a:t>Ward AHC is not monotonous because there can exist inversions. </a:t>
            </a:r>
            <a:endParaRPr lang="en-US" altLang="zh-CN" sz="3200" dirty="0" smtClean="0">
              <a:sym typeface="+mn-ea"/>
            </a:endParaRPr>
          </a:p>
          <a:p>
            <a:r>
              <a:rPr lang="en-US" altLang="zh-CN" sz="3200" dirty="0" smtClean="0">
                <a:sym typeface="+mn-ea"/>
              </a:rPr>
              <a:t>The </a:t>
            </a:r>
            <a:r>
              <a:rPr lang="zh-CN" altLang="en-US" sz="3200" dirty="0" smtClean="0">
                <a:sym typeface="+mn-ea"/>
              </a:rPr>
              <a:t>single </a:t>
            </a:r>
            <a:r>
              <a:rPr lang="zh-CN" altLang="en-US" sz="3200" dirty="0">
                <a:sym typeface="+mn-ea"/>
              </a:rPr>
              <a:t>linkage, complete linkage and group average linkage are all guaranteed to be monotonous.</a:t>
            </a:r>
            <a:endParaRPr lang="zh-CN" alt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r>
              <a:rPr lang="zh-CN" altLang="en-US" sz="3200" dirty="0"/>
              <a:t>When we draw the nodes of the merge </a:t>
            </a:r>
            <a:r>
              <a:rPr lang="zh-CN" altLang="en-US" sz="3200" dirty="0" smtClean="0"/>
              <a:t>using </a:t>
            </a:r>
            <a:r>
              <a:rPr lang="zh-CN" altLang="en-US" sz="3200" dirty="0"/>
              <a:t>a height function defined as the similarity, an inversion in a dendrogram can be noticed graphically by the fact that one horizontal height line can be lower than another horizontal height line for a former merging operation.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r>
              <a:rPr lang="zh-CN" altLang="en-US" sz="3200" dirty="0">
                <a:sym typeface="+mn-ea"/>
              </a:rPr>
              <a:t>Indeed, this contradicts the fact the nodes on a path from a leaf to the root should be y-monotonous. </a:t>
            </a:r>
            <a:endParaRPr lang="en-US" altLang="zh-CN" sz="3200" dirty="0" smtClean="0">
              <a:sym typeface="+mn-ea"/>
            </a:endParaRPr>
          </a:p>
          <a:p>
            <a:r>
              <a:rPr lang="zh-CN" altLang="en-US" sz="3200" dirty="0" smtClean="0">
                <a:sym typeface="+mn-ea"/>
              </a:rPr>
              <a:t>Figure </a:t>
            </a:r>
            <a:r>
              <a:rPr lang="zh-CN" altLang="en-US" sz="3200" dirty="0">
                <a:sym typeface="+mn-ea"/>
              </a:rPr>
              <a:t>illustrates an inversion in a dendrogram.</a:t>
            </a:r>
            <a:endParaRPr lang="zh-CN" alt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Ward Merging Criterion and Centroids</a:t>
            </a:r>
          </a:p>
        </p:txBody>
      </p:sp>
      <p:sp>
        <p:nvSpPr>
          <p:cNvPr id="3" name="内容占位符 2"/>
          <p:cNvSpPr>
            <a:spLocks noGrp="1"/>
          </p:cNvSpPr>
          <p:nvPr>
            <p:ph idx="1"/>
          </p:nvPr>
        </p:nvSpPr>
        <p:spPr/>
        <p:txBody>
          <a:bodyPr/>
          <a:lstStyle/>
          <a:p>
            <a:endParaRPr lang="zh-CN" altLang="en-US" sz="3200"/>
          </a:p>
        </p:txBody>
      </p:sp>
      <p:pic>
        <p:nvPicPr>
          <p:cNvPr id="106" name="图片 105"/>
          <p:cNvPicPr/>
          <p:nvPr/>
        </p:nvPicPr>
        <p:blipFill>
          <a:blip r:embed="rId2"/>
          <a:stretch>
            <a:fillRect/>
          </a:stretch>
        </p:blipFill>
        <p:spPr>
          <a:xfrm>
            <a:off x="718820" y="2590800"/>
            <a:ext cx="7566025" cy="311277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Retrieving Flat Partitions from Dendrograms</a:t>
            </a:r>
          </a:p>
        </p:txBody>
      </p:sp>
      <p:sp>
        <p:nvSpPr>
          <p:cNvPr id="3" name="内容占位符 2"/>
          <p:cNvSpPr>
            <a:spLocks noGrp="1"/>
          </p:cNvSpPr>
          <p:nvPr>
            <p:ph idx="1"/>
          </p:nvPr>
        </p:nvSpPr>
        <p:spPr/>
        <p:txBody>
          <a:bodyPr/>
          <a:lstStyle/>
          <a:p>
            <a:pPr marL="0" indent="0">
              <a:buNone/>
            </a:pPr>
            <a:endParaRPr lang="zh-CN" altLang="en-US" sz="3200"/>
          </a:p>
        </p:txBody>
      </p:sp>
      <p:pic>
        <p:nvPicPr>
          <p:cNvPr id="107" name="图片 106"/>
          <p:cNvPicPr/>
          <p:nvPr/>
        </p:nvPicPr>
        <p:blipFill>
          <a:blip r:embed="rId2"/>
          <a:stretch>
            <a:fillRect/>
          </a:stretch>
        </p:blipFill>
        <p:spPr>
          <a:xfrm>
            <a:off x="542925" y="1580515"/>
            <a:ext cx="8057515" cy="521335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Ultra-metric Distances and Phylogenetic Trees</a:t>
            </a:r>
          </a:p>
        </p:txBody>
      </p:sp>
      <p:sp>
        <p:nvSpPr>
          <p:cNvPr id="3" name="内容占位符 2"/>
          <p:cNvSpPr>
            <a:spLocks noGrp="1"/>
          </p:cNvSpPr>
          <p:nvPr>
            <p:ph idx="1"/>
          </p:nvPr>
        </p:nvSpPr>
        <p:spPr/>
        <p:txBody>
          <a:bodyPr/>
          <a:lstStyle/>
          <a:p>
            <a:r>
              <a:rPr lang="zh-CN" altLang="en-US" sz="3200" dirty="0"/>
              <a:t>The Euclidean distance and the Hamming distance are two examples of metric distances. </a:t>
            </a:r>
            <a:endParaRPr lang="en-US" altLang="zh-CN" sz="3200" dirty="0" smtClean="0"/>
          </a:p>
          <a:p>
            <a:r>
              <a:rPr lang="zh-CN" altLang="en-US" sz="3200" dirty="0" smtClean="0"/>
              <a:t>Beware </a:t>
            </a:r>
            <a:r>
              <a:rPr lang="zh-CN" altLang="en-US" sz="3200" dirty="0"/>
              <a:t>that the squared Euclidean distance is not a metric although it is symmetric and satisfies the law of indiscernibility.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r>
              <a:rPr lang="en-US" altLang="zh-CN" sz="3600" b="1" dirty="0"/>
              <a:t/>
            </a:r>
            <a:br>
              <a:rPr lang="en-US" altLang="zh-CN" sz="3600" b="1" dirty="0"/>
            </a:br>
            <a:endParaRPr lang="en-US" altLang="zh-CN" sz="3600" b="1" dirty="0"/>
          </a:p>
        </p:txBody>
      </p:sp>
      <p:sp>
        <p:nvSpPr>
          <p:cNvPr id="3" name="内容占位符 2"/>
          <p:cNvSpPr>
            <a:spLocks noGrp="1"/>
          </p:cNvSpPr>
          <p:nvPr>
            <p:ph idx="1"/>
          </p:nvPr>
        </p:nvSpPr>
        <p:spPr/>
        <p:txBody>
          <a:bodyPr/>
          <a:lstStyle/>
          <a:p>
            <a:r>
              <a:rPr lang="zh-CN" altLang="en-US" sz="3200" dirty="0">
                <a:sym typeface="+mn-ea"/>
              </a:rPr>
              <a:t>Indeed, the triangular inequality is not anymore satisfied when we take the square of the Euclidean distance. </a:t>
            </a:r>
            <a:endParaRPr lang="en-US" altLang="zh-CN" sz="3200" dirty="0" smtClean="0">
              <a:sym typeface="+mn-ea"/>
            </a:endParaRPr>
          </a:p>
          <a:p>
            <a:r>
              <a:rPr lang="zh-CN" altLang="en-US" sz="3200" dirty="0" smtClean="0">
                <a:sym typeface="+mn-ea"/>
              </a:rPr>
              <a:t>The </a:t>
            </a:r>
            <a:r>
              <a:rPr lang="zh-CN" altLang="en-US" sz="3200" dirty="0">
                <a:sym typeface="+mn-ea"/>
              </a:rPr>
              <a:t>law of indiscernibility can further be split into two sub-axioms: The law of non-negativity D(p,q)≥0, and the law of reflexivity: D(p,q)=0⇔p=q.</a:t>
            </a:r>
            <a:endParaRPr lang="zh-CN" altLang="en-US" sz="3200" dirty="0"/>
          </a:p>
          <a:p>
            <a:endParaRPr lang="zh-CN" altLang="en-US"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endParaRPr lang="en-US" altLang="zh-CN" sz="3600" b="1" dirty="0"/>
          </a:p>
        </p:txBody>
      </p:sp>
      <p:sp>
        <p:nvSpPr>
          <p:cNvPr id="3" name="内容占位符 2"/>
          <p:cNvSpPr>
            <a:spLocks noGrp="1"/>
          </p:cNvSpPr>
          <p:nvPr>
            <p:ph idx="1"/>
          </p:nvPr>
        </p:nvSpPr>
        <p:spPr/>
        <p:txBody>
          <a:bodyPr/>
          <a:lstStyle/>
          <a:p>
            <a:r>
              <a:rPr lang="zh-CN" altLang="en-US" sz="3200" dirty="0"/>
              <a:t>Hierarchical clustering is tightly linked to a class of distances called the class of ultra-metrics. </a:t>
            </a:r>
            <a:endParaRPr lang="en-US" altLang="zh-CN" sz="3200" dirty="0" smtClean="0"/>
          </a:p>
          <a:p>
            <a:r>
              <a:rPr lang="zh-CN" altLang="en-US" sz="3200" dirty="0" smtClean="0"/>
              <a:t>A </a:t>
            </a:r>
            <a:r>
              <a:rPr lang="zh-CN" altLang="en-US" sz="3200" dirty="0"/>
              <a:t>distance is said ultra-metric if it is a metric and further ensures that:</a:t>
            </a:r>
          </a:p>
          <a:p>
            <a:r>
              <a:rPr lang="zh-CN" altLang="en-US" sz="3200" dirty="0"/>
              <a:t>D(x,y)≤maxz(D(x,z),D(z,y)).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endParaRPr lang="en-US" altLang="zh-CN" sz="3600" b="1" dirty="0"/>
          </a:p>
        </p:txBody>
      </p:sp>
      <p:sp>
        <p:nvSpPr>
          <p:cNvPr id="3" name="内容占位符 2"/>
          <p:cNvSpPr>
            <a:spLocks noGrp="1"/>
          </p:cNvSpPr>
          <p:nvPr>
            <p:ph idx="1"/>
          </p:nvPr>
        </p:nvSpPr>
        <p:spPr/>
        <p:txBody>
          <a:bodyPr/>
          <a:lstStyle/>
          <a:p>
            <a:r>
              <a:rPr lang="zh-CN" altLang="en-US" sz="3200" dirty="0"/>
              <a:t>Let us now explain the link between ultra-metrics and hierarchical clustering: In evolution theory, species evolve with time, and the distance between species is represented by a so-called phylogenetic tree. Let us write for short D</a:t>
            </a:r>
            <a:r>
              <a:rPr lang="zh-CN" altLang="en-US" sz="3200" baseline="-25000" dirty="0"/>
              <a:t>i,j</a:t>
            </a:r>
            <a:r>
              <a:rPr lang="zh-CN" altLang="en-US" sz="3200" dirty="0"/>
              <a:t>=D(x</a:t>
            </a:r>
            <a:r>
              <a:rPr lang="zh-CN" altLang="en-US" sz="3200" baseline="-25000" dirty="0"/>
              <a:t>i</a:t>
            </a:r>
            <a:r>
              <a:rPr lang="zh-CN" altLang="en-US" sz="3200" dirty="0"/>
              <a:t>,x</a:t>
            </a:r>
            <a:r>
              <a:rPr lang="zh-CN" altLang="en-US" sz="3200" baseline="-25000" dirty="0"/>
              <a:t>j</a:t>
            </a:r>
            <a:r>
              <a:rPr lang="zh-CN" altLang="en-US" sz="32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endParaRPr lang="en-US" altLang="zh-CN" sz="3600" b="1" dirty="0"/>
          </a:p>
        </p:txBody>
      </p:sp>
      <p:sp>
        <p:nvSpPr>
          <p:cNvPr id="3" name="内容占位符 2"/>
          <p:cNvSpPr>
            <a:spLocks noGrp="1"/>
          </p:cNvSpPr>
          <p:nvPr>
            <p:ph idx="1"/>
          </p:nvPr>
        </p:nvSpPr>
        <p:spPr/>
        <p:txBody>
          <a:bodyPr/>
          <a:lstStyle/>
          <a:p>
            <a:r>
              <a:rPr lang="zh-CN" altLang="en-US" sz="3200">
                <a:sym typeface="+mn-ea"/>
              </a:rPr>
              <a:t>A tree is said additive if and only if we can attach to each edge a weight so that for each pair of leaves, the distance between them is equal to the sum of the distances of the edges linking them. </a:t>
            </a:r>
            <a:endParaRPr lang="zh-CN" altLang="en-US" sz="3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endParaRPr lang="en-US" altLang="zh-CN" sz="3600" b="1" dirty="0"/>
          </a:p>
        </p:txBody>
      </p:sp>
      <p:sp>
        <p:nvSpPr>
          <p:cNvPr id="3" name="内容占位符 2"/>
          <p:cNvSpPr>
            <a:spLocks noGrp="1"/>
          </p:cNvSpPr>
          <p:nvPr>
            <p:ph idx="1"/>
          </p:nvPr>
        </p:nvSpPr>
        <p:spPr/>
        <p:txBody>
          <a:bodyPr/>
          <a:lstStyle/>
          <a:p>
            <a:r>
              <a:rPr lang="zh-CN" altLang="en-US" sz="3200" dirty="0">
                <a:sym typeface="+mn-ea"/>
              </a:rPr>
              <a:t>A tree is said ultra-metric when the distance between two leaves, say i and j, and their common ancestor, say k, is equal: D</a:t>
            </a:r>
            <a:r>
              <a:rPr lang="zh-CN" altLang="en-US" sz="3200" baseline="-25000" dirty="0">
                <a:sym typeface="+mn-ea"/>
              </a:rPr>
              <a:t>i,k</a:t>
            </a:r>
            <a:r>
              <a:rPr lang="zh-CN" altLang="en-US" sz="3200" dirty="0">
                <a:sym typeface="+mn-ea"/>
              </a:rPr>
              <a:t>=D</a:t>
            </a:r>
            <a:r>
              <a:rPr lang="zh-CN" altLang="en-US" sz="3200" baseline="-25000" dirty="0">
                <a:sym typeface="+mn-ea"/>
              </a:rPr>
              <a:t>j,k</a:t>
            </a:r>
            <a:r>
              <a:rPr lang="zh-CN" altLang="en-US" sz="3200" dirty="0">
                <a:sym typeface="+mn-ea"/>
              </a:rPr>
              <a:t>. </a:t>
            </a:r>
            <a:endParaRPr lang="en-US" altLang="zh-CN" sz="3200" dirty="0" smtClean="0">
              <a:sym typeface="+mn-ea"/>
            </a:endParaRPr>
          </a:p>
          <a:p>
            <a:r>
              <a:rPr lang="zh-CN" altLang="en-US" sz="3200" dirty="0" smtClean="0">
                <a:sym typeface="+mn-ea"/>
              </a:rPr>
              <a:t>We </a:t>
            </a:r>
            <a:r>
              <a:rPr lang="zh-CN" altLang="en-US" sz="3200" dirty="0">
                <a:sym typeface="+mn-ea"/>
              </a:rPr>
              <a:t>can draw an ultra-metric tree by choosing the height distance 12D</a:t>
            </a:r>
            <a:r>
              <a:rPr lang="zh-CN" altLang="en-US" sz="3200" baseline="-25000" dirty="0">
                <a:sym typeface="+mn-ea"/>
              </a:rPr>
              <a:t>i,j</a:t>
            </a:r>
            <a:r>
              <a:rPr lang="zh-CN" altLang="en-US" sz="3200" dirty="0">
                <a:sym typeface="+mn-ea"/>
              </a:rPr>
              <a:t> for visualizing a dendrogram. </a:t>
            </a:r>
            <a:endParaRPr lang="en-US" altLang="zh-CN" sz="3200" dirty="0" smtClean="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endParaRPr lang="en-US" altLang="zh-CN" sz="3600" b="1" dirty="0"/>
          </a:p>
        </p:txBody>
      </p:sp>
      <p:sp>
        <p:nvSpPr>
          <p:cNvPr id="3" name="内容占位符 2"/>
          <p:cNvSpPr>
            <a:spLocks noGrp="1"/>
          </p:cNvSpPr>
          <p:nvPr>
            <p:ph idx="1"/>
          </p:nvPr>
        </p:nvSpPr>
        <p:spPr/>
        <p:txBody>
          <a:bodyPr/>
          <a:lstStyle/>
          <a:p>
            <a:r>
              <a:rPr lang="zh-CN" altLang="en-US" sz="3200" dirty="0"/>
              <a:t>The group average AHC guarantees to produce an ultra-metric tree. </a:t>
            </a:r>
            <a:endParaRPr lang="en-US" altLang="zh-CN" sz="3200" dirty="0" smtClean="0"/>
          </a:p>
          <a:p>
            <a:r>
              <a:rPr lang="zh-CN" altLang="en-US" sz="3200" dirty="0" smtClean="0"/>
              <a:t>We </a:t>
            </a:r>
            <a:r>
              <a:rPr lang="zh-CN" altLang="en-US" sz="3200" dirty="0"/>
              <a:t>shall call this hierarchical clustering that embeds the nodes of the tree with its height the Unweighted Pair Group Method using arithmetic Averages algorithm (or UPGMA, for short).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Ultra-metric Distances and Phylogenetic Trees</a:t>
            </a:r>
            <a:endParaRPr lang="en-US" altLang="zh-CN" sz="3600" b="1" dirty="0"/>
          </a:p>
        </p:txBody>
      </p:sp>
      <p:sp>
        <p:nvSpPr>
          <p:cNvPr id="3" name="内容占位符 2"/>
          <p:cNvSpPr>
            <a:spLocks noGrp="1"/>
          </p:cNvSpPr>
          <p:nvPr>
            <p:ph idx="1"/>
          </p:nvPr>
        </p:nvSpPr>
        <p:spPr/>
        <p:txBody>
          <a:bodyPr/>
          <a:lstStyle/>
          <a:p>
            <a:pPr marL="0" indent="0">
              <a:buNone/>
            </a:pPr>
            <a:endParaRPr lang="zh-CN" altLang="en-US" sz="3200"/>
          </a:p>
        </p:txBody>
      </p:sp>
      <p:pic>
        <p:nvPicPr>
          <p:cNvPr id="108" name="图片 107"/>
          <p:cNvPicPr/>
          <p:nvPr/>
        </p:nvPicPr>
        <p:blipFill>
          <a:blip r:embed="rId2"/>
          <a:stretch>
            <a:fillRect/>
          </a:stretch>
        </p:blipFill>
        <p:spPr>
          <a:xfrm>
            <a:off x="796925" y="1552575"/>
            <a:ext cx="7856855" cy="522478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t>Notes and References</a:t>
            </a:r>
          </a:p>
        </p:txBody>
      </p:sp>
      <p:sp>
        <p:nvSpPr>
          <p:cNvPr id="3" name="内容占位符 2"/>
          <p:cNvSpPr>
            <a:spLocks noGrp="1"/>
          </p:cNvSpPr>
          <p:nvPr>
            <p:ph idx="1"/>
          </p:nvPr>
        </p:nvSpPr>
        <p:spPr/>
        <p:txBody>
          <a:bodyPr/>
          <a:lstStyle/>
          <a:p>
            <a:r>
              <a:rPr lang="zh-CN" altLang="en-US" sz="3200"/>
              <a:t>There exist many hierarchical clustering algorithms. Let us cite SLINK (Single Linkage, 1973), CLINK</a:t>
            </a:r>
            <a:r>
              <a:rPr lang="en-US" altLang="zh-CN" sz="3200"/>
              <a:t> </a:t>
            </a:r>
            <a:r>
              <a:rPr lang="zh-CN" altLang="en-US" sz="3200"/>
              <a:t>(Complete Linkage, 1977), and a general survey providing a high-level abstraction of hierarchical clustering.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Notes and References</a:t>
            </a:r>
            <a:endParaRPr lang="en-US" altLang="zh-CN" sz="3600" b="1" dirty="0"/>
          </a:p>
        </p:txBody>
      </p:sp>
      <p:sp>
        <p:nvSpPr>
          <p:cNvPr id="3" name="内容占位符 2"/>
          <p:cNvSpPr>
            <a:spLocks noGrp="1"/>
          </p:cNvSpPr>
          <p:nvPr>
            <p:ph idx="1"/>
          </p:nvPr>
        </p:nvSpPr>
        <p:spPr/>
        <p:txBody>
          <a:bodyPr/>
          <a:lstStyle/>
          <a:p>
            <a:r>
              <a:rPr lang="zh-CN" altLang="en-US" sz="3200">
                <a:sym typeface="+mn-ea"/>
              </a:rPr>
              <a:t>Although that flat clustering minimizing the k-means objective function is NP-hard (even in the plane), it has been recently proved (2012) that we can extract from a single linkage hierarchical clustering the optimal k-means clustering provided that some stability criterion is satisfied). </a:t>
            </a:r>
            <a:endParaRPr lang="zh-CN" altLang="en-US" sz="3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41437"/>
            <a:ext cx="7886700" cy="1325563"/>
          </a:xfrm>
        </p:spPr>
        <p:txBody>
          <a:bodyPr/>
          <a:lstStyle/>
          <a:p>
            <a:pPr algn="ctr" eaLnBrk="1" hangingPunct="1"/>
            <a:r>
              <a:rPr lang="en-US" altLang="zh-CN" sz="3600" b="1" dirty="0">
                <a:sym typeface="+mn-ea"/>
              </a:rPr>
              <a:t>Notes and References</a:t>
            </a:r>
            <a:r>
              <a:rPr lang="en-US" altLang="zh-CN" sz="3600" b="1" dirty="0"/>
              <a:t/>
            </a:r>
            <a:br>
              <a:rPr lang="en-US" altLang="zh-CN" sz="3600" b="1" dirty="0"/>
            </a:br>
            <a:endParaRPr lang="en-US" altLang="zh-CN" sz="3600" b="1" dirty="0"/>
          </a:p>
        </p:txBody>
      </p:sp>
      <p:sp>
        <p:nvSpPr>
          <p:cNvPr id="3" name="内容占位符 2"/>
          <p:cNvSpPr>
            <a:spLocks noGrp="1"/>
          </p:cNvSpPr>
          <p:nvPr>
            <p:ph idx="1"/>
          </p:nvPr>
        </p:nvSpPr>
        <p:spPr/>
        <p:txBody>
          <a:bodyPr/>
          <a:lstStyle/>
          <a:p>
            <a:r>
              <a:rPr lang="zh-CN" altLang="en-US" sz="3200" dirty="0">
                <a:sym typeface="+mn-ea"/>
              </a:rPr>
              <a:t>The hierarchical clustering that minimizes </a:t>
            </a:r>
            <a:r>
              <a:rPr lang="zh-CN" altLang="en-US" sz="3200" dirty="0" smtClean="0">
                <a:sym typeface="+mn-ea"/>
              </a:rPr>
              <a:t>Ward</a:t>
            </a:r>
            <a:r>
              <a:rPr lang="en-US" altLang="zh-CN" sz="3200" dirty="0" smtClean="0">
                <a:sym typeface="+mn-ea"/>
              </a:rPr>
              <a:t>’</a:t>
            </a:r>
            <a:r>
              <a:rPr lang="zh-CN" altLang="en-US" sz="3200" dirty="0" smtClean="0">
                <a:sym typeface="+mn-ea"/>
              </a:rPr>
              <a:t>s </a:t>
            </a:r>
            <a:r>
              <a:rPr lang="zh-CN" altLang="en-US" sz="3200" dirty="0">
                <a:sym typeface="+mn-ea"/>
              </a:rPr>
              <a:t>variance criterion and its related criteria have been thoroughly investigated. Various hierarchical clustering algorithms (including SLINK, CLINK and Ward) can be unified in the generic Lance-Williams framework. </a:t>
            </a:r>
            <a:endParaRPr lang="zh-CN" alt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600" b="1" dirty="0"/>
              <a:t>Summary</a:t>
            </a:r>
          </a:p>
        </p:txBody>
      </p:sp>
      <p:sp>
        <p:nvSpPr>
          <p:cNvPr id="3" name="内容占位符 2"/>
          <p:cNvSpPr>
            <a:spLocks noGrp="1"/>
          </p:cNvSpPr>
          <p:nvPr>
            <p:ph idx="1"/>
          </p:nvPr>
        </p:nvSpPr>
        <p:spPr/>
        <p:txBody>
          <a:bodyPr/>
          <a:lstStyle/>
          <a:p>
            <a:pPr algn="l">
              <a:buClrTx/>
              <a:buSzTx/>
            </a:pPr>
            <a:r>
              <a:rPr lang="zh-CN" altLang="en-US" sz="3200" dirty="0"/>
              <a:t>Agglomerative hierarchical clustering differs from partition-based clustering since it builds a binary merge tree starting from leaves that contain data elements to the root that contains the full data-set. </a:t>
            </a:r>
            <a:endParaRPr lang="en-US" altLang="zh-CN" sz="3200" dirty="0" smtClean="0"/>
          </a:p>
          <a:p>
            <a:pPr algn="l">
              <a:buClrTx/>
              <a:buSzTx/>
            </a:pPr>
            <a:r>
              <a:rPr lang="zh-CN" altLang="en-US" sz="3200" dirty="0" smtClean="0"/>
              <a:t>The </a:t>
            </a:r>
            <a:r>
              <a:rPr lang="zh-CN" altLang="en-US" sz="3200" dirty="0"/>
              <a:t>graphical representation of that tree that embeds the nodes on the plane is called a dendrogram.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buClrTx/>
              <a:buSzTx/>
              <a:buFontTx/>
            </a:pPr>
            <a:r>
              <a:rPr lang="en-US" altLang="zh-CN" sz="3600" b="1" dirty="0">
                <a:sym typeface="+mn-ea"/>
              </a:rPr>
              <a:t>Summary</a:t>
            </a:r>
            <a:endParaRPr lang="en-US" altLang="zh-CN" sz="3600" b="1" dirty="0"/>
          </a:p>
        </p:txBody>
      </p:sp>
      <p:sp>
        <p:nvSpPr>
          <p:cNvPr id="3" name="内容占位符 2"/>
          <p:cNvSpPr>
            <a:spLocks noGrp="1"/>
          </p:cNvSpPr>
          <p:nvPr>
            <p:ph idx="1"/>
          </p:nvPr>
        </p:nvSpPr>
        <p:spPr/>
        <p:txBody>
          <a:bodyPr/>
          <a:lstStyle/>
          <a:p>
            <a:pPr algn="l">
              <a:buClrTx/>
              <a:buSzTx/>
            </a:pPr>
            <a:r>
              <a:rPr lang="zh-CN" altLang="en-US" sz="3200">
                <a:sym typeface="+mn-ea"/>
              </a:rPr>
              <a:t>To implement a hierarchical clustering algorithm, one has to choose a linkage function (single linkage, average linkage, complete linkage, Ward linkage, etc.) that defines the distance between any two sub-sets (and rely on the base distance between elements). </a:t>
            </a:r>
            <a:endParaRPr lang="zh-CN" altLang="en-US" sz="3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buClrTx/>
              <a:buSzTx/>
              <a:buFontTx/>
            </a:pPr>
            <a:r>
              <a:rPr lang="en-US" altLang="zh-CN" sz="3600" b="1" dirty="0">
                <a:sym typeface="+mn-ea"/>
              </a:rPr>
              <a:t>Summary</a:t>
            </a:r>
            <a:endParaRPr lang="en-US" altLang="zh-CN" sz="3600" b="1" dirty="0"/>
          </a:p>
        </p:txBody>
      </p:sp>
      <p:sp>
        <p:nvSpPr>
          <p:cNvPr id="3" name="内容占位符 2"/>
          <p:cNvSpPr>
            <a:spLocks noGrp="1"/>
          </p:cNvSpPr>
          <p:nvPr>
            <p:ph idx="1"/>
          </p:nvPr>
        </p:nvSpPr>
        <p:spPr/>
        <p:txBody>
          <a:bodyPr/>
          <a:lstStyle/>
          <a:p>
            <a:pPr algn="l">
              <a:buClrTx/>
              <a:buSzTx/>
            </a:pPr>
            <a:r>
              <a:rPr lang="zh-CN" altLang="en-US" sz="3200">
                <a:sym typeface="+mn-ea"/>
              </a:rPr>
              <a:t>A hierarchical clustering is monotonous if and only if the similarity decreases along the path from any leaf to the root, otherwise there exists at least one inversion. The single, complete, and average linkage criteria guarantee the monotonic property, but not the often used Ward’s criterion.</a:t>
            </a:r>
            <a:endParaRPr lang="zh-CN" altLang="en-US" sz="3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buClrTx/>
              <a:buSzTx/>
              <a:buFontTx/>
            </a:pPr>
            <a:r>
              <a:rPr lang="en-US" altLang="zh-CN" sz="3600" b="1" dirty="0">
                <a:sym typeface="+mn-ea"/>
              </a:rPr>
              <a:t>Summary</a:t>
            </a:r>
            <a:endParaRPr lang="en-US" altLang="zh-CN" sz="3600" b="1" dirty="0"/>
          </a:p>
        </p:txBody>
      </p:sp>
      <p:sp>
        <p:nvSpPr>
          <p:cNvPr id="3" name="内容占位符 2"/>
          <p:cNvSpPr>
            <a:spLocks noGrp="1"/>
          </p:cNvSpPr>
          <p:nvPr>
            <p:ph idx="1"/>
          </p:nvPr>
        </p:nvSpPr>
        <p:spPr/>
        <p:txBody>
          <a:bodyPr/>
          <a:lstStyle/>
          <a:p>
            <a:pPr algn="l">
              <a:buClrTx/>
              <a:buSzTx/>
            </a:pPr>
            <a:r>
              <a:rPr lang="zh-CN" altLang="en-US" sz="3200" dirty="0">
                <a:sym typeface="+mn-ea"/>
              </a:rPr>
              <a:t>From a dendrogram, one can extract many data-set partitions that correspond to flat clustering output. </a:t>
            </a:r>
            <a:endParaRPr lang="en-US" altLang="zh-CN" sz="3200" dirty="0" smtClean="0">
              <a:sym typeface="+mn-ea"/>
            </a:endParaRPr>
          </a:p>
          <a:p>
            <a:pPr algn="l">
              <a:buClrTx/>
              <a:buSzTx/>
            </a:pPr>
            <a:r>
              <a:rPr lang="zh-CN" altLang="en-US" sz="3200" dirty="0" smtClean="0">
                <a:sym typeface="+mn-ea"/>
              </a:rPr>
              <a:t>Phylogenetic </a:t>
            </a:r>
            <a:r>
              <a:rPr lang="zh-CN" altLang="en-US" sz="3200" dirty="0">
                <a:sym typeface="+mn-ea"/>
              </a:rPr>
              <a:t>trees used to model the evolution of species are ultra-metric trees. Hierarchical clustering using the average linkage guarantees to build an ultra-metric tree when the base distance between any two elements is ultra-metric.</a:t>
            </a:r>
            <a:endParaRPr lang="zh-CN" altLang="en-US" sz="3200" dirty="0"/>
          </a:p>
          <a:p>
            <a:pPr algn="l">
              <a:buClrTx/>
              <a:buSzTx/>
            </a:pPr>
            <a:endParaRPr lang="zh-CN" altLang="en-US" sz="32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455,&quot;width&quot;:10770}"/>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1804</Words>
  <Application>Microsoft Office PowerPoint</Application>
  <PresentationFormat>全屏显示(4:3)</PresentationFormat>
  <Paragraphs>97</Paragraphs>
  <Slides>39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39</vt:i4>
      </vt:variant>
    </vt:vector>
  </HeadingPairs>
  <TitlesOfParts>
    <vt:vector size="47" baseType="lpstr">
      <vt:lpstr>PMingLiU-ExtB</vt:lpstr>
      <vt:lpstr>宋体</vt:lpstr>
      <vt:lpstr>微软雅黑</vt:lpstr>
      <vt:lpstr>Arial</vt:lpstr>
      <vt:lpstr>Calibri</vt:lpstr>
      <vt:lpstr>Calibri Light</vt:lpstr>
      <vt:lpstr>Impact</vt:lpstr>
      <vt:lpstr>1_Office 主题</vt:lpstr>
      <vt:lpstr>PowerPoint 演示文稿</vt:lpstr>
      <vt:lpstr>PowerPoint 演示文稿</vt:lpstr>
      <vt:lpstr>Abstract</vt:lpstr>
      <vt:lpstr>Agglomerative Versus Divisive Hierarchical Clustering, and Dendrogram Representations</vt:lpstr>
      <vt:lpstr>Agglomerative Versus Divisive Hierarchical Clustering, and Dendrogram Representations</vt:lpstr>
      <vt:lpstr>Agglomerative Versus Divisive Hierarchical Clustering, and Dendrogram Representations</vt:lpstr>
      <vt:lpstr>Agglomerative Versus Divisive Hierarchical Clustering, and Dendrogram Representations</vt:lpstr>
      <vt:lpstr>Agglomerative Versus Divisive Hierarchical Clustering, and Dendrogram Representations</vt:lpstr>
      <vt:lpstr>PowerPoint 演示文稿</vt:lpstr>
      <vt:lpstr>Strategies to Define a Good Linkage Distance</vt:lpstr>
      <vt:lpstr>Strategies to Define a Good Linkage Distance</vt:lpstr>
      <vt:lpstr>A Generic Algorithm for Agglomerative Hierarchical Clustering</vt:lpstr>
      <vt:lpstr>A Generic Algorithm for Agglomerative Hierarchical Clustering</vt:lpstr>
      <vt:lpstr>Choosing the Appropriate Elementary Distance Between Elements</vt:lpstr>
      <vt:lpstr>Choosing the Appropriate Elementary Distance Between Elements</vt:lpstr>
      <vt:lpstr>Ward Merging Criterion and Centroids</vt:lpstr>
      <vt:lpstr>Ward Merging Criterion and Centroids</vt:lpstr>
      <vt:lpstr>Ward Merging Criterion and Centroids</vt:lpstr>
      <vt:lpstr>Ward Merging Criterion and Centroids</vt:lpstr>
      <vt:lpstr>Ward Merging Criterion and Centroids</vt:lpstr>
      <vt:lpstr>Ward Merging Criterion and Centroids</vt:lpstr>
      <vt:lpstr>Ward Merging Criterion and Centroids</vt:lpstr>
      <vt:lpstr>Ward Merging Criterion and Centroids</vt:lpstr>
      <vt:lpstr>Retrieving Flat Partitions from Dendrograms</vt:lpstr>
      <vt:lpstr>Ultra-metric Distances and Phylogenetic Trees</vt:lpstr>
      <vt:lpstr>Ultra-metric Distances and Phylogenetic Trees </vt:lpstr>
      <vt:lpstr>Ultra-metric Distances and Phylogenetic Trees</vt:lpstr>
      <vt:lpstr>Ultra-metric Distances and Phylogenetic Trees</vt:lpstr>
      <vt:lpstr>Ultra-metric Distances and Phylogenetic Trees</vt:lpstr>
      <vt:lpstr>Ultra-metric Distances and Phylogenetic Trees</vt:lpstr>
      <vt:lpstr>Ultra-metric Distances and Phylogenetic Trees</vt:lpstr>
      <vt:lpstr>Ultra-metric Distances and Phylogenetic Trees</vt:lpstr>
      <vt:lpstr>Notes and References</vt:lpstr>
      <vt:lpstr>Notes and References</vt:lpstr>
      <vt:lpstr>Notes and References </vt:lpstr>
      <vt:lpstr>Summary</vt:lpstr>
      <vt:lpstr>Summary</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Glance at High Performance Computing (HPC)</dc:title>
  <dc:creator>Administrator</dc:creator>
  <cp:lastModifiedBy>Administrator</cp:lastModifiedBy>
  <cp:revision>37</cp:revision>
  <dcterms:created xsi:type="dcterms:W3CDTF">2019-12-10T06:14:00Z</dcterms:created>
  <dcterms:modified xsi:type="dcterms:W3CDTF">2022-09-24T01:00:30Z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BB5DE84D96FE49AE95A4C5A8F46E766C</vt:lpwstr>
  </property>
  <property fmtid="{D5CDD505-2E9C-101B-9397-08002B2CF9AE}" pid="3" name="KSOProductBuildVer">
    <vt:lpwstr>2052-11.1.0.10950</vt:lpwstr>
  </property>
</Properties>
</file>