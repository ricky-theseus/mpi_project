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78" r:id="rId4"/>
    <p:sldMasterId id="2147483685" r:id="rId5"/>
    <p:sldMasterId id="2147483691" r:id="rId6"/>
  </p:sldMasterIdLst>
  <p:notesMasterIdLst>
    <p:notesMasterId r:id="rId28"/>
  </p:notesMasterIdLst>
  <p:sldIdLst>
    <p:sldId id="277" r:id="rId7"/>
    <p:sldId id="278" r:id="rId8"/>
    <p:sldId id="257" r:id="rId9"/>
    <p:sldId id="258" r:id="rId10"/>
    <p:sldId id="259" r:id="rId11"/>
    <p:sldId id="279" r:id="rId12"/>
    <p:sldId id="280" r:id="rId13"/>
    <p:sldId id="260" r:id="rId14"/>
    <p:sldId id="265" r:id="rId15"/>
    <p:sldId id="266" r:id="rId16"/>
    <p:sldId id="261" r:id="rId17"/>
    <p:sldId id="263" r:id="rId18"/>
    <p:sldId id="262" r:id="rId19"/>
    <p:sldId id="268" r:id="rId20"/>
    <p:sldId id="269" r:id="rId21"/>
    <p:sldId id="270" r:id="rId22"/>
    <p:sldId id="271" r:id="rId23"/>
    <p:sldId id="282" r:id="rId24"/>
    <p:sldId id="272" r:id="rId25"/>
    <p:sldId id="283" r:id="rId26"/>
    <p:sldId id="274"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191AE-EB7E-4F48-9705-470EB7282769}" type="datetimeFigureOut">
              <a:rPr lang="zh-CN" altLang="en-US" smtClean="0"/>
              <a:t>2025/5/8/Thu</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5F928-EA37-47BB-8426-45346D43E7AC}" type="slidenum">
              <a:rPr lang="zh-CN" altLang="en-US" smtClean="0"/>
              <a:t>‹#›</a:t>
            </a:fld>
            <a:endParaRPr lang="zh-CN" altLang="en-US"/>
          </a:p>
        </p:txBody>
      </p:sp>
    </p:spTree>
    <p:extLst>
      <p:ext uri="{BB962C8B-B14F-4D97-AF65-F5344CB8AC3E}">
        <p14:creationId xmlns:p14="http://schemas.microsoft.com/office/powerpoint/2010/main" val="3234913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baseline="0" dirty="0"/>
              <a:t>HPC</a:t>
            </a:r>
            <a:r>
              <a:rPr lang="zh-CN" altLang="en-US" baseline="0" dirty="0"/>
              <a:t>发展已经有半个多世纪，早期</a:t>
            </a:r>
            <a:r>
              <a:rPr lang="en-US" altLang="zh-CN" baseline="0" dirty="0"/>
              <a:t>HPC</a:t>
            </a:r>
            <a:r>
              <a:rPr lang="zh-CN" altLang="en-US" baseline="0" dirty="0"/>
              <a:t>基于定制计算机，专用于基础科学研究和国防战略等特定领域，随着技术的发展，现在绝大部分</a:t>
            </a:r>
            <a:r>
              <a:rPr lang="en-US" altLang="zh-CN" baseline="0" dirty="0"/>
              <a:t>HPC</a:t>
            </a:r>
            <a:r>
              <a:rPr lang="zh-CN" altLang="en-US" baseline="0" dirty="0"/>
              <a:t>基于</a:t>
            </a:r>
            <a:r>
              <a:rPr lang="en-US" altLang="zh-CN" baseline="0" dirty="0"/>
              <a:t>X86</a:t>
            </a:r>
            <a:r>
              <a:rPr lang="zh-CN" altLang="en-US" baseline="0" dirty="0"/>
              <a:t>服务器的集群架构进行构建。</a:t>
            </a:r>
            <a:endParaRPr lang="en-US" altLang="zh-CN" baseline="0" dirty="0"/>
          </a:p>
          <a:p>
            <a:r>
              <a:rPr lang="en-US" altLang="zh-CN" baseline="0" dirty="0"/>
              <a:t>HPC</a:t>
            </a:r>
            <a:r>
              <a:rPr lang="zh-CN" altLang="en-US" baseline="0" dirty="0"/>
              <a:t>计算集群主要由计算服务器、共享存储、高速互连设备以及配套的管理软件、平台软件和应用软件构成。</a:t>
            </a:r>
            <a:endParaRPr lang="en-US" altLang="zh-CN" baseline="0" dirty="0"/>
          </a:p>
        </p:txBody>
      </p:sp>
      <p:sp>
        <p:nvSpPr>
          <p:cNvPr id="7" name="幻灯片图像占位符 6"/>
          <p:cNvSpPr>
            <a:spLocks noGrp="1" noRot="1" noChangeAspect="1"/>
          </p:cNvSpPr>
          <p:nvPr>
            <p:ph type="sldImg"/>
          </p:nvPr>
        </p:nvSpPr>
        <p:spPr>
          <a:xfrm>
            <a:off x="1325563" y="765175"/>
            <a:ext cx="4448175" cy="3336925"/>
          </a:xfrm>
        </p:spPr>
      </p:sp>
    </p:spTree>
    <p:extLst>
      <p:ext uri="{BB962C8B-B14F-4D97-AF65-F5344CB8AC3E}">
        <p14:creationId xmlns:p14="http://schemas.microsoft.com/office/powerpoint/2010/main" val="223896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不同的行业和研究领域在应用高性能计算时，对高性能计算集群有不同的系统要求：</a:t>
            </a:r>
            <a:endParaRPr lang="en-US" altLang="zh-CN" dirty="0"/>
          </a:p>
          <a:p>
            <a:pPr lvl="1"/>
            <a:r>
              <a:rPr lang="zh-CN" altLang="en-US" dirty="0"/>
              <a:t>譬如在涉及天体物理或分子动力模拟计算应用场景时，需要处理大模型计算，多处理器、共享大容量内存的配置允许中间数据存储在内存中，</a:t>
            </a:r>
            <a:r>
              <a:rPr lang="en-US" altLang="zh-CN" dirty="0"/>
              <a:t>CPU</a:t>
            </a:r>
            <a:r>
              <a:rPr lang="zh-CN" altLang="en-US" dirty="0"/>
              <a:t>可以直接从内存中获取而不需要和硬盘交换数据，可以减少</a:t>
            </a:r>
            <a:r>
              <a:rPr lang="en-US" altLang="zh-CN" dirty="0"/>
              <a:t>IO</a:t>
            </a:r>
            <a:r>
              <a:rPr lang="zh-CN" altLang="en-US" dirty="0"/>
              <a:t>频度，明显提高计算速度。</a:t>
            </a:r>
            <a:endParaRPr lang="en-US" altLang="zh-CN" dirty="0"/>
          </a:p>
          <a:p>
            <a:pPr lvl="1"/>
            <a:r>
              <a:rPr lang="zh-CN" altLang="en-US" dirty="0"/>
              <a:t>在气象预报应用场景中，计算本身有时效性要求，应用的计算量大、并行要求高，所以强劲的节点计算能力有利于提升整体的计算效率。</a:t>
            </a:r>
            <a:endParaRPr lang="en-US" altLang="zh-CN" dirty="0"/>
          </a:p>
          <a:p>
            <a:pPr lvl="1"/>
            <a:r>
              <a:rPr lang="zh-CN" altLang="en-US" dirty="0"/>
              <a:t>在汽车、航空、芯片制造领域借助高性能计算进行产品的</a:t>
            </a:r>
            <a:r>
              <a:rPr lang="en-US" altLang="zh-CN" dirty="0"/>
              <a:t>CAE</a:t>
            </a:r>
            <a:r>
              <a:rPr lang="zh-CN" altLang="en-US" dirty="0"/>
              <a:t>仿真设计，需要对复杂的产品几何模型进行求解，各节点在计算过程中有频繁的通讯需求。为了避免</a:t>
            </a:r>
            <a:r>
              <a:rPr lang="en-US" altLang="zh-CN" dirty="0"/>
              <a:t>CPU</a:t>
            </a:r>
            <a:r>
              <a:rPr lang="zh-CN" altLang="en-US" dirty="0"/>
              <a:t>等待数据进行计算的情况，因此需要低时延、高带宽的网络来连接大量的计算节点间的数据传输，提升计算效率。</a:t>
            </a:r>
            <a:endParaRPr lang="en-US" altLang="zh-CN" dirty="0"/>
          </a:p>
          <a:p>
            <a:pPr lvl="1"/>
            <a:r>
              <a:rPr lang="zh-CN" altLang="en-US" dirty="0"/>
              <a:t>在基因分析场景，序列比对、拼接需要对海量、复杂、多变的数据进行分析计算，单次测序数据量的大幅度提升，在计算过程中会产生大量的数据，因此需要配置高带宽、大容量的共享存储，满足计算节点频繁的数据</a:t>
            </a:r>
            <a:r>
              <a:rPr lang="en-US" altLang="zh-CN" dirty="0"/>
              <a:t>IO</a:t>
            </a:r>
            <a:r>
              <a:rPr lang="zh-CN" altLang="en-US" dirty="0"/>
              <a:t>读写请求。</a:t>
            </a:r>
            <a:endParaRPr lang="en-US" altLang="zh-CN" dirty="0"/>
          </a:p>
          <a:p>
            <a:endParaRPr lang="zh-CN" altLang="en-US" dirty="0"/>
          </a:p>
        </p:txBody>
      </p:sp>
      <p:sp>
        <p:nvSpPr>
          <p:cNvPr id="7" name="幻灯片图像占位符 6"/>
          <p:cNvSpPr>
            <a:spLocks noGrp="1" noRot="1" noChangeAspect="1"/>
          </p:cNvSpPr>
          <p:nvPr>
            <p:ph type="sldImg"/>
          </p:nvPr>
        </p:nvSpPr>
        <p:spPr>
          <a:xfrm>
            <a:off x="1325563" y="765175"/>
            <a:ext cx="4448175" cy="3336925"/>
          </a:xfrm>
        </p:spPr>
      </p:sp>
    </p:spTree>
    <p:extLst>
      <p:ext uri="{BB962C8B-B14F-4D97-AF65-F5344CB8AC3E}">
        <p14:creationId xmlns:p14="http://schemas.microsoft.com/office/powerpoint/2010/main" val="2591909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25563" y="765175"/>
            <a:ext cx="4448175" cy="3336925"/>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070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7C86F7A-4C13-4512-9546-7A2E13DD49E4}" type="datetimeFigureOut">
              <a:rPr lang="zh-CN" altLang="en-US"/>
              <a:t>2025/5/8/Thu</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46D5BE2B-728A-4539-B86A-F2CEE53DE51F}" type="slidenum">
              <a:rPr lang="zh-CN" altLang="en-US"/>
              <a:t>‹#›</a:t>
            </a:fld>
            <a:endParaRPr lang="zh-CN" altLang="en-US"/>
          </a:p>
        </p:txBody>
      </p:sp>
    </p:spTree>
    <p:extLst>
      <p:ext uri="{BB962C8B-B14F-4D97-AF65-F5344CB8AC3E}">
        <p14:creationId xmlns:p14="http://schemas.microsoft.com/office/powerpoint/2010/main" val="2242645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928C279-DE8B-468B-BC28-587297351CC5}" type="datetimeFigureOut">
              <a:rPr lang="zh-CN" altLang="en-US"/>
              <a:t>2025/5/8/Thu</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D58769B-FD91-4354-84DF-C542D236D279}" type="slidenum">
              <a:rPr lang="zh-CN" altLang="en-US"/>
              <a:t>‹#›</a:t>
            </a:fld>
            <a:endParaRPr lang="zh-CN" altLang="en-US"/>
          </a:p>
        </p:txBody>
      </p:sp>
    </p:spTree>
    <p:extLst>
      <p:ext uri="{BB962C8B-B14F-4D97-AF65-F5344CB8AC3E}">
        <p14:creationId xmlns:p14="http://schemas.microsoft.com/office/powerpoint/2010/main" val="3551405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E649DB7B-3909-433D-9621-020AC3631DB6}" type="datetimeFigureOut">
              <a:rPr lang="zh-CN" altLang="en-US"/>
              <a:t>2025/5/8/Thu</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C02487E-DA75-40AD-AFB9-B7E667800914}" type="slidenum">
              <a:rPr lang="zh-CN" altLang="en-US"/>
              <a:t>‹#›</a:t>
            </a:fld>
            <a:endParaRPr lang="zh-CN" altLang="en-US"/>
          </a:p>
        </p:txBody>
      </p:sp>
    </p:spTree>
    <p:extLst>
      <p:ext uri="{BB962C8B-B14F-4D97-AF65-F5344CB8AC3E}">
        <p14:creationId xmlns:p14="http://schemas.microsoft.com/office/powerpoint/2010/main" val="615338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57891DE-9EFB-436C-8098-DA346D61F734}" type="datetimeFigureOut">
              <a:rPr lang="zh-CN" altLang="en-US"/>
              <a:t>2025/5/8/Thu</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C9019AB3-A56A-40DC-B315-4C9AF1D9AEF0}" type="slidenum">
              <a:rPr lang="zh-CN" altLang="en-US"/>
              <a:t>‹#›</a:t>
            </a:fld>
            <a:endParaRPr lang="zh-CN" altLang="en-US"/>
          </a:p>
        </p:txBody>
      </p:sp>
    </p:spTree>
    <p:extLst>
      <p:ext uri="{BB962C8B-B14F-4D97-AF65-F5344CB8AC3E}">
        <p14:creationId xmlns:p14="http://schemas.microsoft.com/office/powerpoint/2010/main" val="30049125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2588A4FD-48AA-4EB3-ADAB-90805DF574A9}" type="datetimeFigureOut">
              <a:rPr lang="zh-CN" altLang="en-US"/>
              <a:t>2025/5/8/Thu</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0219823B-989B-4FE0-A31C-A45838B716C6}" type="slidenum">
              <a:rPr lang="zh-CN" altLang="en-US"/>
              <a:t>‹#›</a:t>
            </a:fld>
            <a:endParaRPr lang="zh-CN" altLang="en-US"/>
          </a:p>
        </p:txBody>
      </p:sp>
    </p:spTree>
    <p:extLst>
      <p:ext uri="{BB962C8B-B14F-4D97-AF65-F5344CB8AC3E}">
        <p14:creationId xmlns:p14="http://schemas.microsoft.com/office/powerpoint/2010/main" val="3677787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CC83F5B-15CF-41AD-AAF7-C365C83FF08D}" type="datetimeFigureOut">
              <a:rPr lang="zh-CN" altLang="en-US"/>
              <a:t>2025/5/8/Thu</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687C2566-FD93-41C5-8007-9C6D9D8DF86C}" type="slidenum">
              <a:rPr lang="zh-CN" altLang="en-US"/>
              <a:t>‹#›</a:t>
            </a:fld>
            <a:endParaRPr lang="zh-CN" altLang="en-US"/>
          </a:p>
        </p:txBody>
      </p:sp>
    </p:spTree>
    <p:extLst>
      <p:ext uri="{BB962C8B-B14F-4D97-AF65-F5344CB8AC3E}">
        <p14:creationId xmlns:p14="http://schemas.microsoft.com/office/powerpoint/2010/main" val="1252467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7F8473D-2D84-413D-97BD-015ADE628A5A}" type="datetimeFigureOut">
              <a:rPr lang="zh-CN" altLang="en-US"/>
              <a:t>2025/5/8/Thu</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9D55DC8D-C4F0-4F0D-B826-92573808DA56}" type="slidenum">
              <a:rPr lang="zh-CN" altLang="en-US"/>
              <a:t>‹#›</a:t>
            </a:fld>
            <a:endParaRPr lang="zh-CN" altLang="en-US"/>
          </a:p>
        </p:txBody>
      </p:sp>
    </p:spTree>
    <p:extLst>
      <p:ext uri="{BB962C8B-B14F-4D97-AF65-F5344CB8AC3E}">
        <p14:creationId xmlns:p14="http://schemas.microsoft.com/office/powerpoint/2010/main" val="97083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CFA7D9F-B4F6-4B7D-8D30-9FDE43AA2DD2}" type="datetimeFigureOut">
              <a:rPr lang="zh-CN" altLang="en-US"/>
              <a:t>2025/5/8/Thu</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CCB07F97-2FC2-4714-850C-6700199D6194}" type="slidenum">
              <a:rPr lang="zh-CN" altLang="en-US"/>
              <a:t>‹#›</a:t>
            </a:fld>
            <a:endParaRPr lang="zh-CN" altLang="en-US"/>
          </a:p>
        </p:txBody>
      </p:sp>
    </p:spTree>
    <p:extLst>
      <p:ext uri="{BB962C8B-B14F-4D97-AF65-F5344CB8AC3E}">
        <p14:creationId xmlns:p14="http://schemas.microsoft.com/office/powerpoint/2010/main" val="19328413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DAE2CA6-8D79-400E-AD1E-56E3E0DA2BAA}" type="datetimeFigureOut">
              <a:rPr lang="zh-CN" altLang="en-US"/>
              <a:t>2025/5/8/Thu</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84D9D1E1-5454-45C3-93DA-86C3DA9ECB48}" type="slidenum">
              <a:rPr lang="zh-CN" altLang="en-US"/>
              <a:t>‹#›</a:t>
            </a:fld>
            <a:endParaRPr lang="zh-CN" altLang="en-US"/>
          </a:p>
        </p:txBody>
      </p:sp>
    </p:spTree>
    <p:extLst>
      <p:ext uri="{BB962C8B-B14F-4D97-AF65-F5344CB8AC3E}">
        <p14:creationId xmlns:p14="http://schemas.microsoft.com/office/powerpoint/2010/main" val="2307794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C852424-72F4-440E-8E03-587598E5B119}" type="datetimeFigureOut">
              <a:rPr lang="zh-CN" altLang="en-US"/>
              <a:t>2025/5/8/Thu</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07DF9EC1-C088-4DAC-AB69-D10F40584BD3}" type="slidenum">
              <a:rPr lang="zh-CN" altLang="en-US"/>
              <a:t>‹#›</a:t>
            </a:fld>
            <a:endParaRPr lang="zh-CN" altLang="en-US"/>
          </a:p>
        </p:txBody>
      </p:sp>
    </p:spTree>
    <p:extLst>
      <p:ext uri="{BB962C8B-B14F-4D97-AF65-F5344CB8AC3E}">
        <p14:creationId xmlns:p14="http://schemas.microsoft.com/office/powerpoint/2010/main" val="10856262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F9EF9C9-4C84-4072-AFAA-D241A8D58A51}" type="datetimeFigureOut">
              <a:rPr lang="zh-CN" altLang="en-US"/>
              <a:t>2025/5/8/Thu</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E90597D9-2D04-4C83-915B-79D3B5D496F9}" type="slidenum">
              <a:rPr lang="zh-CN" altLang="en-US"/>
              <a:t>‹#›</a:t>
            </a:fld>
            <a:endParaRPr lang="zh-CN" altLang="en-US"/>
          </a:p>
        </p:txBody>
      </p:sp>
    </p:spTree>
    <p:extLst>
      <p:ext uri="{BB962C8B-B14F-4D97-AF65-F5344CB8AC3E}">
        <p14:creationId xmlns:p14="http://schemas.microsoft.com/office/powerpoint/2010/main" val="3517304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338872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047071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5331654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1233893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1995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591606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5935354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7315657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1741714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0969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8227695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4271431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521922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5783668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53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41927529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3645902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4537016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6006245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86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3.pn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3.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3.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4.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3.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theme" Target="../theme/theme5.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image" Target="../media/image3.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theme" Target="../theme/theme6.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7000" r="-17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2025/5/8/Thu</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6"/>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83BA994-DBC0-4389-9AC3-50B67B3923E1}" type="datetimeFigureOut">
              <a:rPr lang="zh-CN" altLang="en-US"/>
              <a:t>2025/5/8/Thu</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wrap="square" lIns="91440" tIns="45720" rIns="91440" bIns="45720" numCol="1" anchor="ctr" anchorCtr="0" compatLnSpc="1"/>
          <a:lstStyle>
            <a:lvl1pPr algn="r" eaLnBrk="1" hangingPunct="1">
              <a:defRPr sz="900">
                <a:solidFill>
                  <a:srgbClr val="898989"/>
                </a:solidFill>
              </a:defRPr>
            </a:lvl1pPr>
          </a:lstStyle>
          <a:p>
            <a:fld id="{DA430D88-0AE5-4EDA-BDD3-1B97B5FCD56A}" type="slidenum">
              <a:rPr lang="zh-CN" altLang="en-US"/>
              <a:t>‹#›</a:t>
            </a:fld>
            <a:endParaRPr lang="zh-CN" altLang="en-US"/>
          </a:p>
        </p:txBody>
      </p:sp>
    </p:spTree>
    <p:extLst>
      <p:ext uri="{BB962C8B-B14F-4D97-AF65-F5344CB8AC3E}">
        <p14:creationId xmlns:p14="http://schemas.microsoft.com/office/powerpoint/2010/main" val="2548609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3429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6858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0287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3716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l"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548879" y="1484313"/>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1" dirty="0">
                <a:solidFill>
                  <a:srgbClr val="1D1D1B"/>
                </a:solidFill>
                <a:cs typeface="Huawei Sans" panose="020C0503030203020204" pitchFamily="34" charset="0"/>
              </a:rPr>
              <a:t>Huawei Confidential</a:t>
            </a: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defTabSz="668179">
              <a:defRPr/>
            </a:pPr>
            <a:fld id="{C3837181-38C6-AD4F-B8BA-B444770388BB}" type="slidenum">
              <a:rPr lang="en-US" sz="731" smtClean="0">
                <a:solidFill>
                  <a:srgbClr val="1D1D1B"/>
                </a:solidFill>
                <a:cs typeface="Huawei Sans" panose="020C0503030203020204" pitchFamily="34" charset="0"/>
              </a:rPr>
              <a:pPr defTabSz="668179">
                <a:defRPr/>
              </a:pPr>
              <a:t>‹#›</a:t>
            </a:fld>
            <a:endParaRPr lang="en-US" sz="731" dirty="0">
              <a:solidFill>
                <a:srgbClr val="1D1D1B"/>
              </a:solidFill>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196/0/84</a:t>
              </a: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公司辅助色</a:t>
              </a: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199/0/11  </a:t>
              </a: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公司色</a:t>
              </a: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200/16/46  </a:t>
              </a: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35/24/21</a:t>
              </a: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spTree>
    <p:extLst>
      <p:ext uri="{BB962C8B-B14F-4D97-AF65-F5344CB8AC3E}">
        <p14:creationId xmlns:p14="http://schemas.microsoft.com/office/powerpoint/2010/main" val="36567015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lgn="l" defTabSz="685324"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324" rtl="0" eaLnBrk="1" fontAlgn="ctr" latinLnBrk="0" hangingPunct="1">
        <a:lnSpc>
          <a:spcPct val="140000"/>
        </a:lnSpc>
        <a:spcBef>
          <a:spcPts val="593"/>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014" indent="-189071" algn="l" defTabSz="685324"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2951" indent="-150971" algn="l" defTabSz="685324" rtl="0" eaLnBrk="1" fontAlgn="ctr" latinLnBrk="0" hangingPunct="1">
        <a:lnSpc>
          <a:spcPct val="140000"/>
        </a:lnSpc>
        <a:spcBef>
          <a:spcPts val="488"/>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324" rtl="0" eaLnBrk="1" fontAlgn="ctr" latinLnBrk="0" hangingPunct="1">
        <a:lnSpc>
          <a:spcPct val="140000"/>
        </a:lnSpc>
        <a:spcBef>
          <a:spcPts val="431"/>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2074" indent="-150971" algn="l" defTabSz="685324" rtl="0" eaLnBrk="1" fontAlgn="ctr" latinLnBrk="0" hangingPunct="1">
        <a:lnSpc>
          <a:spcPct val="140000"/>
        </a:lnSpc>
        <a:spcBef>
          <a:spcPts val="431"/>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49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78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07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6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324" rtl="0" eaLnBrk="1" latinLnBrk="0" hangingPunct="1">
        <a:defRPr sz="1350" kern="1200">
          <a:solidFill>
            <a:schemeClr val="tx1"/>
          </a:solidFill>
          <a:latin typeface="+mn-lt"/>
          <a:ea typeface="+mn-ea"/>
          <a:cs typeface="+mn-cs"/>
        </a:defRPr>
      </a:lvl1pPr>
      <a:lvl2pPr marL="342900" algn="l" defTabSz="685324" rtl="0" eaLnBrk="1" latinLnBrk="0" hangingPunct="1">
        <a:defRPr sz="1350" kern="1200">
          <a:solidFill>
            <a:schemeClr val="tx1"/>
          </a:solidFill>
          <a:latin typeface="+mn-lt"/>
          <a:ea typeface="+mn-ea"/>
          <a:cs typeface="+mn-cs"/>
        </a:defRPr>
      </a:lvl2pPr>
      <a:lvl3pPr marL="685324" algn="l" defTabSz="685324" rtl="0" eaLnBrk="1" latinLnBrk="0" hangingPunct="1">
        <a:defRPr sz="1350" kern="1200">
          <a:solidFill>
            <a:schemeClr val="tx1"/>
          </a:solidFill>
          <a:latin typeface="+mn-lt"/>
          <a:ea typeface="+mn-ea"/>
          <a:cs typeface="+mn-cs"/>
        </a:defRPr>
      </a:lvl3pPr>
      <a:lvl4pPr marL="1028224" algn="l" defTabSz="685324" rtl="0" eaLnBrk="1" latinLnBrk="0" hangingPunct="1">
        <a:defRPr sz="1350" kern="1200">
          <a:solidFill>
            <a:schemeClr val="tx1"/>
          </a:solidFill>
          <a:latin typeface="+mn-lt"/>
          <a:ea typeface="+mn-ea"/>
          <a:cs typeface="+mn-cs"/>
        </a:defRPr>
      </a:lvl4pPr>
      <a:lvl5pPr marL="1371124" algn="l" defTabSz="685324" rtl="0" eaLnBrk="1" latinLnBrk="0" hangingPunct="1">
        <a:defRPr sz="1350" kern="1200">
          <a:solidFill>
            <a:schemeClr val="tx1"/>
          </a:solidFill>
          <a:latin typeface="+mn-lt"/>
          <a:ea typeface="+mn-ea"/>
          <a:cs typeface="+mn-cs"/>
        </a:defRPr>
      </a:lvl5pPr>
      <a:lvl6pPr marL="1714024" algn="l" defTabSz="685324" rtl="0" eaLnBrk="1" latinLnBrk="0" hangingPunct="1">
        <a:defRPr sz="1350" kern="1200">
          <a:solidFill>
            <a:schemeClr val="tx1"/>
          </a:solidFill>
          <a:latin typeface="+mn-lt"/>
          <a:ea typeface="+mn-ea"/>
          <a:cs typeface="+mn-cs"/>
        </a:defRPr>
      </a:lvl6pPr>
      <a:lvl7pPr marL="2056448" algn="l" defTabSz="685324" rtl="0" eaLnBrk="1" latinLnBrk="0" hangingPunct="1">
        <a:defRPr sz="1350" kern="1200">
          <a:solidFill>
            <a:schemeClr val="tx1"/>
          </a:solidFill>
          <a:latin typeface="+mn-lt"/>
          <a:ea typeface="+mn-ea"/>
          <a:cs typeface="+mn-cs"/>
        </a:defRPr>
      </a:lvl7pPr>
      <a:lvl8pPr marL="2399348" algn="l" defTabSz="685324" rtl="0" eaLnBrk="1" latinLnBrk="0" hangingPunct="1">
        <a:defRPr sz="1350" kern="1200">
          <a:solidFill>
            <a:schemeClr val="tx1"/>
          </a:solidFill>
          <a:latin typeface="+mn-lt"/>
          <a:ea typeface="+mn-ea"/>
          <a:cs typeface="+mn-cs"/>
        </a:defRPr>
      </a:lvl8pPr>
      <a:lvl9pPr marL="2742248" algn="l" defTabSz="685324"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548879" y="1484313"/>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1" dirty="0">
                <a:solidFill>
                  <a:srgbClr val="1D1D1B"/>
                </a:solidFill>
                <a:cs typeface="Huawei Sans" panose="020C0503030203020204" pitchFamily="34" charset="0"/>
              </a:rPr>
              <a:t>Huawei Confidential</a:t>
            </a: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defTabSz="668179">
              <a:defRPr/>
            </a:pPr>
            <a:fld id="{C3837181-38C6-AD4F-B8BA-B444770388BB}" type="slidenum">
              <a:rPr lang="en-US" sz="731" smtClean="0">
                <a:solidFill>
                  <a:srgbClr val="1D1D1B"/>
                </a:solidFill>
                <a:cs typeface="Huawei Sans" panose="020C0503030203020204" pitchFamily="34" charset="0"/>
              </a:rPr>
              <a:pPr defTabSz="668179">
                <a:defRPr/>
              </a:pPr>
              <a:t>‹#›</a:t>
            </a:fld>
            <a:endParaRPr lang="en-US" sz="731" dirty="0">
              <a:solidFill>
                <a:srgbClr val="1D1D1B"/>
              </a:solidFill>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196/0/84</a:t>
              </a: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公司辅助色</a:t>
              </a: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199/0/11  </a:t>
              </a: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公司色</a:t>
              </a: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200/16/46  </a:t>
              </a: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35/24/21</a:t>
              </a: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spTree>
    <p:extLst>
      <p:ext uri="{BB962C8B-B14F-4D97-AF65-F5344CB8AC3E}">
        <p14:creationId xmlns:p14="http://schemas.microsoft.com/office/powerpoint/2010/main" val="183463803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lgn="l" defTabSz="685324"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324" rtl="0" eaLnBrk="1" fontAlgn="ctr" latinLnBrk="0" hangingPunct="1">
        <a:lnSpc>
          <a:spcPct val="140000"/>
        </a:lnSpc>
        <a:spcBef>
          <a:spcPts val="593"/>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014" indent="-189071" algn="l" defTabSz="685324"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2951" indent="-150971" algn="l" defTabSz="685324" rtl="0" eaLnBrk="1" fontAlgn="ctr" latinLnBrk="0" hangingPunct="1">
        <a:lnSpc>
          <a:spcPct val="140000"/>
        </a:lnSpc>
        <a:spcBef>
          <a:spcPts val="488"/>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324" rtl="0" eaLnBrk="1" fontAlgn="ctr" latinLnBrk="0" hangingPunct="1">
        <a:lnSpc>
          <a:spcPct val="140000"/>
        </a:lnSpc>
        <a:spcBef>
          <a:spcPts val="431"/>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2074" indent="-150971" algn="l" defTabSz="685324" rtl="0" eaLnBrk="1" fontAlgn="ctr" latinLnBrk="0" hangingPunct="1">
        <a:lnSpc>
          <a:spcPct val="140000"/>
        </a:lnSpc>
        <a:spcBef>
          <a:spcPts val="431"/>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49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78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07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6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324" rtl="0" eaLnBrk="1" latinLnBrk="0" hangingPunct="1">
        <a:defRPr sz="1350" kern="1200">
          <a:solidFill>
            <a:schemeClr val="tx1"/>
          </a:solidFill>
          <a:latin typeface="+mn-lt"/>
          <a:ea typeface="+mn-ea"/>
          <a:cs typeface="+mn-cs"/>
        </a:defRPr>
      </a:lvl1pPr>
      <a:lvl2pPr marL="342900" algn="l" defTabSz="685324" rtl="0" eaLnBrk="1" latinLnBrk="0" hangingPunct="1">
        <a:defRPr sz="1350" kern="1200">
          <a:solidFill>
            <a:schemeClr val="tx1"/>
          </a:solidFill>
          <a:latin typeface="+mn-lt"/>
          <a:ea typeface="+mn-ea"/>
          <a:cs typeface="+mn-cs"/>
        </a:defRPr>
      </a:lvl2pPr>
      <a:lvl3pPr marL="685324" algn="l" defTabSz="685324" rtl="0" eaLnBrk="1" latinLnBrk="0" hangingPunct="1">
        <a:defRPr sz="1350" kern="1200">
          <a:solidFill>
            <a:schemeClr val="tx1"/>
          </a:solidFill>
          <a:latin typeface="+mn-lt"/>
          <a:ea typeface="+mn-ea"/>
          <a:cs typeface="+mn-cs"/>
        </a:defRPr>
      </a:lvl3pPr>
      <a:lvl4pPr marL="1028224" algn="l" defTabSz="685324" rtl="0" eaLnBrk="1" latinLnBrk="0" hangingPunct="1">
        <a:defRPr sz="1350" kern="1200">
          <a:solidFill>
            <a:schemeClr val="tx1"/>
          </a:solidFill>
          <a:latin typeface="+mn-lt"/>
          <a:ea typeface="+mn-ea"/>
          <a:cs typeface="+mn-cs"/>
        </a:defRPr>
      </a:lvl4pPr>
      <a:lvl5pPr marL="1371124" algn="l" defTabSz="685324" rtl="0" eaLnBrk="1" latinLnBrk="0" hangingPunct="1">
        <a:defRPr sz="1350" kern="1200">
          <a:solidFill>
            <a:schemeClr val="tx1"/>
          </a:solidFill>
          <a:latin typeface="+mn-lt"/>
          <a:ea typeface="+mn-ea"/>
          <a:cs typeface="+mn-cs"/>
        </a:defRPr>
      </a:lvl5pPr>
      <a:lvl6pPr marL="1714024" algn="l" defTabSz="685324" rtl="0" eaLnBrk="1" latinLnBrk="0" hangingPunct="1">
        <a:defRPr sz="1350" kern="1200">
          <a:solidFill>
            <a:schemeClr val="tx1"/>
          </a:solidFill>
          <a:latin typeface="+mn-lt"/>
          <a:ea typeface="+mn-ea"/>
          <a:cs typeface="+mn-cs"/>
        </a:defRPr>
      </a:lvl6pPr>
      <a:lvl7pPr marL="2056448" algn="l" defTabSz="685324" rtl="0" eaLnBrk="1" latinLnBrk="0" hangingPunct="1">
        <a:defRPr sz="1350" kern="1200">
          <a:solidFill>
            <a:schemeClr val="tx1"/>
          </a:solidFill>
          <a:latin typeface="+mn-lt"/>
          <a:ea typeface="+mn-ea"/>
          <a:cs typeface="+mn-cs"/>
        </a:defRPr>
      </a:lvl7pPr>
      <a:lvl8pPr marL="2399348" algn="l" defTabSz="685324" rtl="0" eaLnBrk="1" latinLnBrk="0" hangingPunct="1">
        <a:defRPr sz="1350" kern="1200">
          <a:solidFill>
            <a:schemeClr val="tx1"/>
          </a:solidFill>
          <a:latin typeface="+mn-lt"/>
          <a:ea typeface="+mn-ea"/>
          <a:cs typeface="+mn-cs"/>
        </a:defRPr>
      </a:lvl8pPr>
      <a:lvl9pPr marL="2742248" algn="l" defTabSz="685324"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548879" y="1484313"/>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1" dirty="0">
                <a:solidFill>
                  <a:srgbClr val="1D1D1B"/>
                </a:solidFill>
                <a:cs typeface="Huawei Sans" panose="020C0503030203020204" pitchFamily="34" charset="0"/>
              </a:rPr>
              <a:t>Huawei Confidential</a:t>
            </a: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defTabSz="668179">
              <a:defRPr/>
            </a:pPr>
            <a:fld id="{C3837181-38C6-AD4F-B8BA-B444770388BB}" type="slidenum">
              <a:rPr lang="en-US" sz="731" smtClean="0">
                <a:solidFill>
                  <a:srgbClr val="1D1D1B"/>
                </a:solidFill>
                <a:cs typeface="Huawei Sans" panose="020C0503030203020204" pitchFamily="34" charset="0"/>
              </a:rPr>
              <a:pPr defTabSz="668179">
                <a:defRPr/>
              </a:pPr>
              <a:t>‹#›</a:t>
            </a:fld>
            <a:endParaRPr lang="en-US" sz="731" dirty="0">
              <a:solidFill>
                <a:srgbClr val="1D1D1B"/>
              </a:solidFill>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196/0/84</a:t>
              </a: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公司辅助色</a:t>
              </a: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199/0/11  </a:t>
              </a: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公司色</a:t>
              </a: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200/16/46  </a:t>
              </a: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35/24/21</a:t>
              </a: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spTree>
    <p:extLst>
      <p:ext uri="{BB962C8B-B14F-4D97-AF65-F5344CB8AC3E}">
        <p14:creationId xmlns:p14="http://schemas.microsoft.com/office/powerpoint/2010/main" val="42411513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Lst>
  <p:txStyles>
    <p:titleStyle>
      <a:lvl1pPr algn="l" defTabSz="685324"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324" rtl="0" eaLnBrk="1" fontAlgn="ctr" latinLnBrk="0" hangingPunct="1">
        <a:lnSpc>
          <a:spcPct val="140000"/>
        </a:lnSpc>
        <a:spcBef>
          <a:spcPts val="593"/>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014" indent="-189071" algn="l" defTabSz="685324"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2951" indent="-150971" algn="l" defTabSz="685324" rtl="0" eaLnBrk="1" fontAlgn="ctr" latinLnBrk="0" hangingPunct="1">
        <a:lnSpc>
          <a:spcPct val="140000"/>
        </a:lnSpc>
        <a:spcBef>
          <a:spcPts val="488"/>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324" rtl="0" eaLnBrk="1" fontAlgn="ctr" latinLnBrk="0" hangingPunct="1">
        <a:lnSpc>
          <a:spcPct val="140000"/>
        </a:lnSpc>
        <a:spcBef>
          <a:spcPts val="431"/>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2074" indent="-150971" algn="l" defTabSz="685324" rtl="0" eaLnBrk="1" fontAlgn="ctr" latinLnBrk="0" hangingPunct="1">
        <a:lnSpc>
          <a:spcPct val="140000"/>
        </a:lnSpc>
        <a:spcBef>
          <a:spcPts val="431"/>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49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78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07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6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324" rtl="0" eaLnBrk="1" latinLnBrk="0" hangingPunct="1">
        <a:defRPr sz="1350" kern="1200">
          <a:solidFill>
            <a:schemeClr val="tx1"/>
          </a:solidFill>
          <a:latin typeface="+mn-lt"/>
          <a:ea typeface="+mn-ea"/>
          <a:cs typeface="+mn-cs"/>
        </a:defRPr>
      </a:lvl1pPr>
      <a:lvl2pPr marL="342900" algn="l" defTabSz="685324" rtl="0" eaLnBrk="1" latinLnBrk="0" hangingPunct="1">
        <a:defRPr sz="1350" kern="1200">
          <a:solidFill>
            <a:schemeClr val="tx1"/>
          </a:solidFill>
          <a:latin typeface="+mn-lt"/>
          <a:ea typeface="+mn-ea"/>
          <a:cs typeface="+mn-cs"/>
        </a:defRPr>
      </a:lvl2pPr>
      <a:lvl3pPr marL="685324" algn="l" defTabSz="685324" rtl="0" eaLnBrk="1" latinLnBrk="0" hangingPunct="1">
        <a:defRPr sz="1350" kern="1200">
          <a:solidFill>
            <a:schemeClr val="tx1"/>
          </a:solidFill>
          <a:latin typeface="+mn-lt"/>
          <a:ea typeface="+mn-ea"/>
          <a:cs typeface="+mn-cs"/>
        </a:defRPr>
      </a:lvl3pPr>
      <a:lvl4pPr marL="1028224" algn="l" defTabSz="685324" rtl="0" eaLnBrk="1" latinLnBrk="0" hangingPunct="1">
        <a:defRPr sz="1350" kern="1200">
          <a:solidFill>
            <a:schemeClr val="tx1"/>
          </a:solidFill>
          <a:latin typeface="+mn-lt"/>
          <a:ea typeface="+mn-ea"/>
          <a:cs typeface="+mn-cs"/>
        </a:defRPr>
      </a:lvl4pPr>
      <a:lvl5pPr marL="1371124" algn="l" defTabSz="685324" rtl="0" eaLnBrk="1" latinLnBrk="0" hangingPunct="1">
        <a:defRPr sz="1350" kern="1200">
          <a:solidFill>
            <a:schemeClr val="tx1"/>
          </a:solidFill>
          <a:latin typeface="+mn-lt"/>
          <a:ea typeface="+mn-ea"/>
          <a:cs typeface="+mn-cs"/>
        </a:defRPr>
      </a:lvl5pPr>
      <a:lvl6pPr marL="1714024" algn="l" defTabSz="685324" rtl="0" eaLnBrk="1" latinLnBrk="0" hangingPunct="1">
        <a:defRPr sz="1350" kern="1200">
          <a:solidFill>
            <a:schemeClr val="tx1"/>
          </a:solidFill>
          <a:latin typeface="+mn-lt"/>
          <a:ea typeface="+mn-ea"/>
          <a:cs typeface="+mn-cs"/>
        </a:defRPr>
      </a:lvl6pPr>
      <a:lvl7pPr marL="2056448" algn="l" defTabSz="685324" rtl="0" eaLnBrk="1" latinLnBrk="0" hangingPunct="1">
        <a:defRPr sz="1350" kern="1200">
          <a:solidFill>
            <a:schemeClr val="tx1"/>
          </a:solidFill>
          <a:latin typeface="+mn-lt"/>
          <a:ea typeface="+mn-ea"/>
          <a:cs typeface="+mn-cs"/>
        </a:defRPr>
      </a:lvl7pPr>
      <a:lvl8pPr marL="2399348" algn="l" defTabSz="685324" rtl="0" eaLnBrk="1" latinLnBrk="0" hangingPunct="1">
        <a:defRPr sz="1350" kern="1200">
          <a:solidFill>
            <a:schemeClr val="tx1"/>
          </a:solidFill>
          <a:latin typeface="+mn-lt"/>
          <a:ea typeface="+mn-ea"/>
          <a:cs typeface="+mn-cs"/>
        </a:defRPr>
      </a:lvl8pPr>
      <a:lvl9pPr marL="2742248" algn="l" defTabSz="685324"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1064">
              <a:lnSpc>
                <a:spcPts val="2573"/>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548879" y="1484313"/>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1" dirty="0">
                <a:solidFill>
                  <a:srgbClr val="1D1D1B"/>
                </a:solidFill>
                <a:cs typeface="Huawei Sans" panose="020C0503030203020204" pitchFamily="34" charset="0"/>
              </a:rPr>
              <a:t>Huawei Confidential</a:t>
            </a: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defTabSz="668179">
              <a:defRPr/>
            </a:pPr>
            <a:fld id="{C3837181-38C6-AD4F-B8BA-B444770388BB}" type="slidenum">
              <a:rPr lang="en-US" sz="731" smtClean="0">
                <a:solidFill>
                  <a:srgbClr val="1D1D1B"/>
                </a:solidFill>
                <a:cs typeface="Huawei Sans" panose="020C0503030203020204" pitchFamily="34" charset="0"/>
              </a:rPr>
              <a:pPr defTabSz="668179">
                <a:defRPr/>
              </a:pPr>
              <a:t>‹#›</a:t>
            </a:fld>
            <a:endParaRPr lang="en-US" sz="731" dirty="0">
              <a:solidFill>
                <a:srgbClr val="1D1D1B"/>
              </a:solidFill>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196/0/84</a:t>
              </a: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公司辅助色</a:t>
              </a: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199/0/11  </a:t>
              </a: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r>
                <a:rPr kumimoji="1" lang="zh-CN" altLang="en-US" sz="600" dirty="0">
                  <a:solidFill>
                    <a:prstClr val="black"/>
                  </a:solidFill>
                  <a:latin typeface="微软雅黑" panose="020B0503020204020204" pitchFamily="34" charset="-122"/>
                  <a:ea typeface="微软雅黑" panose="020B0503020204020204" pitchFamily="34" charset="-122"/>
                </a:rPr>
                <a:t>公司色</a:t>
              </a: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465"/>
                </a:lnSpc>
              </a:pP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44546A"/>
                  </a:solidFill>
                  <a:latin typeface="Arial" panose="020B0604020202020204" pitchFamily="34" charset="0"/>
                  <a:ea typeface="Arial" panose="020B0604020202020204" pitchFamily="34" charset="0"/>
                  <a:cs typeface="Arial" panose="020B0604020202020204" pitchFamily="34" charset="0"/>
                </a:rPr>
                <a:t>200/16/46  </a:t>
              </a: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defRPr/>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35/24/21</a:t>
              </a: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465"/>
                </a:lnSpc>
              </a:pP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375"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spTree>
    <p:extLst>
      <p:ext uri="{BB962C8B-B14F-4D97-AF65-F5344CB8AC3E}">
        <p14:creationId xmlns:p14="http://schemas.microsoft.com/office/powerpoint/2010/main" val="19932563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Lst>
  <p:txStyles>
    <p:titleStyle>
      <a:lvl1pPr algn="l" defTabSz="685324"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324" rtl="0" eaLnBrk="1" fontAlgn="ctr" latinLnBrk="0" hangingPunct="1">
        <a:lnSpc>
          <a:spcPct val="140000"/>
        </a:lnSpc>
        <a:spcBef>
          <a:spcPts val="593"/>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014" indent="-189071" algn="l" defTabSz="685324"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2951" indent="-150971" algn="l" defTabSz="685324" rtl="0" eaLnBrk="1" fontAlgn="ctr" latinLnBrk="0" hangingPunct="1">
        <a:lnSpc>
          <a:spcPct val="140000"/>
        </a:lnSpc>
        <a:spcBef>
          <a:spcPts val="488"/>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324" rtl="0" eaLnBrk="1" fontAlgn="ctr" latinLnBrk="0" hangingPunct="1">
        <a:lnSpc>
          <a:spcPct val="140000"/>
        </a:lnSpc>
        <a:spcBef>
          <a:spcPts val="431"/>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2074" indent="-150971" algn="l" defTabSz="685324" rtl="0" eaLnBrk="1" fontAlgn="ctr" latinLnBrk="0" hangingPunct="1">
        <a:lnSpc>
          <a:spcPct val="140000"/>
        </a:lnSpc>
        <a:spcBef>
          <a:spcPts val="431"/>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49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78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07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698" indent="-171450" algn="l" defTabSz="685324"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324" rtl="0" eaLnBrk="1" latinLnBrk="0" hangingPunct="1">
        <a:defRPr sz="1350" kern="1200">
          <a:solidFill>
            <a:schemeClr val="tx1"/>
          </a:solidFill>
          <a:latin typeface="+mn-lt"/>
          <a:ea typeface="+mn-ea"/>
          <a:cs typeface="+mn-cs"/>
        </a:defRPr>
      </a:lvl1pPr>
      <a:lvl2pPr marL="342900" algn="l" defTabSz="685324" rtl="0" eaLnBrk="1" latinLnBrk="0" hangingPunct="1">
        <a:defRPr sz="1350" kern="1200">
          <a:solidFill>
            <a:schemeClr val="tx1"/>
          </a:solidFill>
          <a:latin typeface="+mn-lt"/>
          <a:ea typeface="+mn-ea"/>
          <a:cs typeface="+mn-cs"/>
        </a:defRPr>
      </a:lvl2pPr>
      <a:lvl3pPr marL="685324" algn="l" defTabSz="685324" rtl="0" eaLnBrk="1" latinLnBrk="0" hangingPunct="1">
        <a:defRPr sz="1350" kern="1200">
          <a:solidFill>
            <a:schemeClr val="tx1"/>
          </a:solidFill>
          <a:latin typeface="+mn-lt"/>
          <a:ea typeface="+mn-ea"/>
          <a:cs typeface="+mn-cs"/>
        </a:defRPr>
      </a:lvl3pPr>
      <a:lvl4pPr marL="1028224" algn="l" defTabSz="685324" rtl="0" eaLnBrk="1" latinLnBrk="0" hangingPunct="1">
        <a:defRPr sz="1350" kern="1200">
          <a:solidFill>
            <a:schemeClr val="tx1"/>
          </a:solidFill>
          <a:latin typeface="+mn-lt"/>
          <a:ea typeface="+mn-ea"/>
          <a:cs typeface="+mn-cs"/>
        </a:defRPr>
      </a:lvl4pPr>
      <a:lvl5pPr marL="1371124" algn="l" defTabSz="685324" rtl="0" eaLnBrk="1" latinLnBrk="0" hangingPunct="1">
        <a:defRPr sz="1350" kern="1200">
          <a:solidFill>
            <a:schemeClr val="tx1"/>
          </a:solidFill>
          <a:latin typeface="+mn-lt"/>
          <a:ea typeface="+mn-ea"/>
          <a:cs typeface="+mn-cs"/>
        </a:defRPr>
      </a:lvl5pPr>
      <a:lvl6pPr marL="1714024" algn="l" defTabSz="685324" rtl="0" eaLnBrk="1" latinLnBrk="0" hangingPunct="1">
        <a:defRPr sz="1350" kern="1200">
          <a:solidFill>
            <a:schemeClr val="tx1"/>
          </a:solidFill>
          <a:latin typeface="+mn-lt"/>
          <a:ea typeface="+mn-ea"/>
          <a:cs typeface="+mn-cs"/>
        </a:defRPr>
      </a:lvl6pPr>
      <a:lvl7pPr marL="2056448" algn="l" defTabSz="685324" rtl="0" eaLnBrk="1" latinLnBrk="0" hangingPunct="1">
        <a:defRPr sz="1350" kern="1200">
          <a:solidFill>
            <a:schemeClr val="tx1"/>
          </a:solidFill>
          <a:latin typeface="+mn-lt"/>
          <a:ea typeface="+mn-ea"/>
          <a:cs typeface="+mn-cs"/>
        </a:defRPr>
      </a:lvl7pPr>
      <a:lvl8pPr marL="2399348" algn="l" defTabSz="685324" rtl="0" eaLnBrk="1" latinLnBrk="0" hangingPunct="1">
        <a:defRPr sz="1350" kern="1200">
          <a:solidFill>
            <a:schemeClr val="tx1"/>
          </a:solidFill>
          <a:latin typeface="+mn-lt"/>
          <a:ea typeface="+mn-ea"/>
          <a:cs typeface="+mn-cs"/>
        </a:defRPr>
      </a:lvl8pPr>
      <a:lvl9pPr marL="2742248" algn="l" defTabSz="685324"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11.pn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494235" y="2931718"/>
            <a:ext cx="6128147" cy="600164"/>
          </a:xfrm>
          <a:prstGeom prst="rect">
            <a:avLst/>
          </a:prstGeom>
          <a:noFill/>
        </p:spPr>
        <p:txBody>
          <a:bodyPr>
            <a:spAutoFit/>
          </a:bodyPr>
          <a:lstStyle/>
          <a:p>
            <a:pPr algn="ctr" defTabSz="685800">
              <a:defRPr/>
            </a:pPr>
            <a:r>
              <a:rPr lang="en-US" altLang="zh-CN" sz="3300" b="1" dirty="0">
                <a:solidFill>
                  <a:prstClr val="black"/>
                </a:solidFill>
                <a:latin typeface="Calibri" panose="020F0502020204030204" pitchFamily="34" charset="0"/>
                <a:ea typeface="宋体" panose="02010600030101010101" pitchFamily="2" charset="-122"/>
              </a:rPr>
              <a:t>High Performance Computation </a:t>
            </a:r>
            <a:endParaRPr lang="zh-CN" altLang="en-US" sz="3300" b="1" spc="225" dirty="0">
              <a:solidFill>
                <a:prstClr val="black"/>
              </a:solidFill>
              <a:latin typeface="微软雅黑" panose="020B0503020204020204" pitchFamily="34" charset="-122"/>
              <a:ea typeface="微软雅黑" panose="020B0503020204020204" pitchFamily="34" charset="-122"/>
            </a:endParaRPr>
          </a:p>
        </p:txBody>
      </p:sp>
      <p:grpSp>
        <p:nvGrpSpPr>
          <p:cNvPr id="59" name="组合 58"/>
          <p:cNvGrpSpPr/>
          <p:nvPr/>
        </p:nvGrpSpPr>
        <p:grpSpPr bwMode="auto">
          <a:xfrm>
            <a:off x="3136041" y="3861598"/>
            <a:ext cx="2884884" cy="271463"/>
            <a:chOff x="4154888" y="3453573"/>
            <a:chExt cx="3846874" cy="361046"/>
          </a:xfrm>
        </p:grpSpPr>
        <p:cxnSp>
          <p:nvCxnSpPr>
            <p:cNvPr id="21" name="直接连接符 20"/>
            <p:cNvCxnSpPr/>
            <p:nvPr/>
          </p:nvCxnSpPr>
          <p:spPr>
            <a:xfrm>
              <a:off x="4154888" y="3453573"/>
              <a:ext cx="384687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flipV="1">
              <a:off x="5872725" y="3459907"/>
              <a:ext cx="411201" cy="354712"/>
            </a:xfrm>
            <a:prstGeom prst="triangl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grpSp>
      <p:sp>
        <p:nvSpPr>
          <p:cNvPr id="22" name="文本框 21"/>
          <p:cNvSpPr txBox="1">
            <a:spLocks noChangeArrowheads="1"/>
          </p:cNvSpPr>
          <p:nvPr/>
        </p:nvSpPr>
        <p:spPr bwMode="auto">
          <a:xfrm>
            <a:off x="2178845" y="4123138"/>
            <a:ext cx="222527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1500" dirty="0">
                <a:solidFill>
                  <a:srgbClr val="044875"/>
                </a:solidFill>
                <a:latin typeface="微软雅黑" panose="020B0503020204020204" pitchFamily="34" charset="-122"/>
                <a:ea typeface="微软雅黑" panose="020B0503020204020204" pitchFamily="34" charset="-122"/>
              </a:rPr>
              <a:t>China University of Geosciences</a:t>
            </a:r>
            <a:endParaRPr lang="zh-CN" altLang="en-US" sz="1500" dirty="0">
              <a:solidFill>
                <a:srgbClr val="044875"/>
              </a:solidFill>
              <a:latin typeface="微软雅黑" panose="020B0503020204020204" pitchFamily="34" charset="-122"/>
              <a:ea typeface="微软雅黑" panose="020B0503020204020204" pitchFamily="34" charset="-122"/>
            </a:endParaRPr>
          </a:p>
        </p:txBody>
      </p:sp>
      <p:sp>
        <p:nvSpPr>
          <p:cNvPr id="26" name="文本框 25"/>
          <p:cNvSpPr txBox="1">
            <a:spLocks noChangeArrowheads="1"/>
          </p:cNvSpPr>
          <p:nvPr/>
        </p:nvSpPr>
        <p:spPr bwMode="auto">
          <a:xfrm>
            <a:off x="4954456" y="4123138"/>
            <a:ext cx="19228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1500" dirty="0" err="1">
                <a:solidFill>
                  <a:srgbClr val="044875"/>
                </a:solidFill>
                <a:latin typeface="微软雅黑" panose="020B0503020204020204" pitchFamily="34" charset="-122"/>
                <a:ea typeface="微软雅黑" panose="020B0503020204020204" pitchFamily="34" charset="-122"/>
              </a:rPr>
              <a:t>Chengjun</a:t>
            </a:r>
            <a:r>
              <a:rPr lang="en-US" altLang="zh-CN" sz="1500" dirty="0">
                <a:solidFill>
                  <a:srgbClr val="044875"/>
                </a:solidFill>
                <a:latin typeface="微软雅黑" panose="020B0503020204020204" pitchFamily="34" charset="-122"/>
                <a:ea typeface="微软雅黑" panose="020B0503020204020204" pitchFamily="34" charset="-122"/>
              </a:rPr>
              <a:t> Li</a:t>
            </a:r>
            <a:endParaRPr lang="zh-CN" altLang="en-US" sz="1500" dirty="0">
              <a:solidFill>
                <a:srgbClr val="044875"/>
              </a:solidFill>
              <a:latin typeface="微软雅黑" panose="020B0503020204020204" pitchFamily="34" charset="-122"/>
              <a:ea typeface="微软雅黑" panose="020B0503020204020204" pitchFamily="34" charset="-122"/>
            </a:endParaRPr>
          </a:p>
        </p:txBody>
      </p:sp>
      <p:sp>
        <p:nvSpPr>
          <p:cNvPr id="9" name="矩形 8"/>
          <p:cNvSpPr/>
          <p:nvPr/>
        </p:nvSpPr>
        <p:spPr>
          <a:xfrm>
            <a:off x="1200151" y="2728120"/>
            <a:ext cx="6717506" cy="1879865"/>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grpSp>
        <p:nvGrpSpPr>
          <p:cNvPr id="43" name="组合 42"/>
          <p:cNvGrpSpPr/>
          <p:nvPr/>
        </p:nvGrpSpPr>
        <p:grpSpPr bwMode="auto">
          <a:xfrm>
            <a:off x="7717632" y="4414973"/>
            <a:ext cx="832247" cy="847725"/>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grpSp>
      <p:grpSp>
        <p:nvGrpSpPr>
          <p:cNvPr id="44" name="组合 43"/>
          <p:cNvGrpSpPr/>
          <p:nvPr/>
        </p:nvGrpSpPr>
        <p:grpSpPr bwMode="auto">
          <a:xfrm>
            <a:off x="594122" y="2131618"/>
            <a:ext cx="832247" cy="848915"/>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grpSp>
      <p:sp>
        <p:nvSpPr>
          <p:cNvPr id="49" name="矩形 48"/>
          <p:cNvSpPr/>
          <p:nvPr/>
        </p:nvSpPr>
        <p:spPr>
          <a:xfrm>
            <a:off x="0" y="847726"/>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53" name="矩形 52"/>
          <p:cNvSpPr/>
          <p:nvPr/>
        </p:nvSpPr>
        <p:spPr>
          <a:xfrm>
            <a:off x="8674894" y="5749528"/>
            <a:ext cx="469106"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54" name="矩形 53"/>
          <p:cNvSpPr/>
          <p:nvPr/>
        </p:nvSpPr>
        <p:spPr>
          <a:xfrm>
            <a:off x="-1" y="5749528"/>
            <a:ext cx="8674894"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10" name="文本框 9"/>
          <p:cNvSpPr txBox="1"/>
          <p:nvPr/>
        </p:nvSpPr>
        <p:spPr>
          <a:xfrm>
            <a:off x="2083974" y="2466167"/>
            <a:ext cx="4757090" cy="369332"/>
          </a:xfrm>
          <a:prstGeom prst="rect">
            <a:avLst/>
          </a:prstGeom>
          <a:blipFill dpi="0" rotWithShape="1">
            <a:blip r:embed="rId2"/>
            <a:srcRect/>
            <a:stretch>
              <a:fillRect t="-45000"/>
            </a:stretch>
          </a:blipFill>
        </p:spPr>
        <p:txBody>
          <a:bodyPr wrap="square">
            <a:spAutoFit/>
          </a:bodyPr>
          <a:lstStyle/>
          <a:p>
            <a:pPr algn="ctr" defTabSz="685800" fontAlgn="base">
              <a:spcBef>
                <a:spcPct val="0"/>
              </a:spcBef>
              <a:spcAft>
                <a:spcPct val="0"/>
              </a:spcAft>
            </a:pPr>
            <a:endParaRPr lang="zh-CN" altLang="en-US" b="1" dirty="0">
              <a:solidFill>
                <a:srgbClr val="044875"/>
              </a:solidFill>
              <a:latin typeface="PMingLiU-ExtB" pitchFamily="18" charset="-120"/>
              <a:ea typeface="微软雅黑" pitchFamily="34" charset="-122"/>
              <a:sym typeface="微软雅黑" pitchFamily="34" charset="-122"/>
            </a:endParaRPr>
          </a:p>
        </p:txBody>
      </p:sp>
      <p:pic>
        <p:nvPicPr>
          <p:cNvPr id="24" name="图片 23"/>
          <p:cNvPicPr>
            <a:picLocks noChangeAspect="1"/>
          </p:cNvPicPr>
          <p:nvPr/>
        </p:nvPicPr>
        <p:blipFill>
          <a:blip r:embed="rId3" cstate="print"/>
          <a:stretch>
            <a:fillRect/>
          </a:stretch>
        </p:blipFill>
        <p:spPr>
          <a:xfrm>
            <a:off x="4067055" y="1455359"/>
            <a:ext cx="887401" cy="85075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ipe(left)">
                                      <p:cBhvr>
                                        <p:cTn id="10" dur="500"/>
                                        <p:tgtEl>
                                          <p:spTgt spid="54"/>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right)">
                                      <p:cBhvr>
                                        <p:cTn id="13" dur="500"/>
                                        <p:tgtEl>
                                          <p:spTgt spid="53"/>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1)">
                                      <p:cBhvr>
                                        <p:cTn id="16" dur="2000"/>
                                        <p:tgtEl>
                                          <p:spTgt spid="9"/>
                                        </p:tgtEl>
                                      </p:cBhvr>
                                    </p:animEffect>
                                  </p:childTnLst>
                                </p:cTn>
                              </p:par>
                              <p:par>
                                <p:cTn id="17" presetID="53" presetClass="entr" presetSubtype="16"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fltVal val="0"/>
                                          </p:val>
                                        </p:tav>
                                        <p:tav tm="100000">
                                          <p:val>
                                            <p:strVal val="#ppt_w"/>
                                          </p:val>
                                        </p:tav>
                                      </p:tavLst>
                                    </p:anim>
                                    <p:anim calcmode="lin" valueType="num">
                                      <p:cBhvr>
                                        <p:cTn id="20" dur="500" fill="hold"/>
                                        <p:tgtEl>
                                          <p:spTgt spid="44"/>
                                        </p:tgtEl>
                                        <p:attrNameLst>
                                          <p:attrName>ppt_h</p:attrName>
                                        </p:attrNameLst>
                                      </p:cBhvr>
                                      <p:tavLst>
                                        <p:tav tm="0">
                                          <p:val>
                                            <p:fltVal val="0"/>
                                          </p:val>
                                        </p:tav>
                                        <p:tav tm="100000">
                                          <p:val>
                                            <p:strVal val="#ppt_h"/>
                                          </p:val>
                                        </p:tav>
                                      </p:tavLst>
                                    </p:anim>
                                    <p:animEffect transition="in" filter="fade">
                                      <p:cBhvr>
                                        <p:cTn id="21" dur="500"/>
                                        <p:tgtEl>
                                          <p:spTgt spid="44"/>
                                        </p:tgtEl>
                                      </p:cBhvr>
                                    </p:animEffect>
                                  </p:childTnLst>
                                </p:cTn>
                              </p:par>
                              <p:par>
                                <p:cTn id="22" presetID="53"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p:cTn id="24" dur="500" fill="hold"/>
                                        <p:tgtEl>
                                          <p:spTgt spid="43"/>
                                        </p:tgtEl>
                                        <p:attrNameLst>
                                          <p:attrName>ppt_w</p:attrName>
                                        </p:attrNameLst>
                                      </p:cBhvr>
                                      <p:tavLst>
                                        <p:tav tm="0">
                                          <p:val>
                                            <p:fltVal val="0"/>
                                          </p:val>
                                        </p:tav>
                                        <p:tav tm="100000">
                                          <p:val>
                                            <p:strVal val="#ppt_w"/>
                                          </p:val>
                                        </p:tav>
                                      </p:tavLst>
                                    </p:anim>
                                    <p:anim calcmode="lin" valueType="num">
                                      <p:cBhvr>
                                        <p:cTn id="25" dur="500" fill="hold"/>
                                        <p:tgtEl>
                                          <p:spTgt spid="43"/>
                                        </p:tgtEl>
                                        <p:attrNameLst>
                                          <p:attrName>ppt_h</p:attrName>
                                        </p:attrNameLst>
                                      </p:cBhvr>
                                      <p:tavLst>
                                        <p:tav tm="0">
                                          <p:val>
                                            <p:fltVal val="0"/>
                                          </p:val>
                                        </p:tav>
                                        <p:tav tm="100000">
                                          <p:val>
                                            <p:strVal val="#ppt_h"/>
                                          </p:val>
                                        </p:tav>
                                      </p:tavLst>
                                    </p:anim>
                                    <p:animEffect transition="in" filter="fade">
                                      <p:cBhvr>
                                        <p:cTn id="26" dur="500"/>
                                        <p:tgtEl>
                                          <p:spTgt spid="43"/>
                                        </p:tgtEl>
                                      </p:cBhvr>
                                    </p:animEffect>
                                  </p:childTnLst>
                                </p:cTn>
                              </p:par>
                              <p:par>
                                <p:cTn id="27" presetID="2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00"/>
                                        <p:tgtEl>
                                          <p:spTgt spid="10"/>
                                        </p:tgtEl>
                                      </p:cBhvr>
                                    </p:animEffect>
                                  </p:childTnLst>
                                </p:cTn>
                              </p:par>
                              <p:par>
                                <p:cTn id="30" presetID="53" presetClass="entr" presetSubtype="16" fill="hold" grpId="0" nodeType="withEffect">
                                  <p:stCondLst>
                                    <p:cond delay="0"/>
                                  </p:stCondLst>
                                  <p:iterate type="lt">
                                    <p:tmPct val="10000"/>
                                  </p:iterate>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par>
                                <p:cTn id="35" presetID="22" presetClass="entr" presetSubtype="1"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wipe(up)">
                                      <p:cBhvr>
                                        <p:cTn id="37" dur="500"/>
                                        <p:tgtEl>
                                          <p:spTgt spid="5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par>
                                <p:cTn id="41" presetID="22" presetClass="entr" presetSubtype="4" fill="hold" grpId="0" nodeType="withEffect">
                                  <p:stCondLst>
                                    <p:cond delay="25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par>
                                <p:cTn id="44" presetID="22" presetClass="entr" presetSubtype="4" fill="hold" nodeType="withEffect">
                                  <p:stCondLst>
                                    <p:cond delay="25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6" grpId="0"/>
      <p:bldP spid="9" grpId="0" animBg="1"/>
      <p:bldP spid="49" grpId="0" animBg="1"/>
      <p:bldP spid="53" grpId="0" animBg="1"/>
      <p:bldP spid="5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36815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6" name="矩形 5"/>
          <p:cNvSpPr/>
          <p:nvPr/>
        </p:nvSpPr>
        <p:spPr>
          <a:xfrm>
            <a:off x="1" y="285511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8" name="文本框 7"/>
          <p:cNvSpPr txBox="1">
            <a:spLocks noChangeArrowheads="1"/>
          </p:cNvSpPr>
          <p:nvPr/>
        </p:nvSpPr>
        <p:spPr bwMode="auto">
          <a:xfrm>
            <a:off x="709613" y="2357438"/>
            <a:ext cx="1154906" cy="141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8625">
                <a:solidFill>
                  <a:prstClr val="white"/>
                </a:solidFill>
                <a:latin typeface="Impact" panose="020B0806030902050204" pitchFamily="34" charset="0"/>
              </a:rPr>
              <a:t>1</a:t>
            </a:r>
            <a:endParaRPr lang="zh-CN" altLang="en-US" sz="8625">
              <a:solidFill>
                <a:prstClr val="white"/>
              </a:solidFill>
              <a:latin typeface="Impact" panose="020B0806030902050204" pitchFamily="34" charset="0"/>
            </a:endParaRPr>
          </a:p>
        </p:txBody>
      </p:sp>
      <p:sp>
        <p:nvSpPr>
          <p:cNvPr id="10" name="矩形 9"/>
          <p:cNvSpPr/>
          <p:nvPr/>
        </p:nvSpPr>
        <p:spPr>
          <a:xfrm>
            <a:off x="1874044" y="285511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Calibri"/>
              <a:ea typeface="宋体" panose="02010600030101010101" pitchFamily="2" charset="-122"/>
            </a:endParaRPr>
          </a:p>
        </p:txBody>
      </p:sp>
      <p:sp>
        <p:nvSpPr>
          <p:cNvPr id="12" name="文本框 11"/>
          <p:cNvSpPr txBox="1">
            <a:spLocks noChangeArrowheads="1"/>
          </p:cNvSpPr>
          <p:nvPr/>
        </p:nvSpPr>
        <p:spPr bwMode="auto">
          <a:xfrm>
            <a:off x="4294414" y="3581400"/>
            <a:ext cx="50948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defTabSz="685800" fontAlgn="base">
              <a:spcBef>
                <a:spcPct val="0"/>
              </a:spcBef>
              <a:spcAft>
                <a:spcPct val="0"/>
              </a:spcAft>
            </a:pPr>
            <a:r>
              <a:rPr lang="en-US" altLang="zh-CN" sz="4800" b="1" dirty="0">
                <a:solidFill>
                  <a:srgbClr val="FFC000">
                    <a:lumMod val="60000"/>
                    <a:lumOff val="40000"/>
                  </a:srgbClr>
                </a:solidFill>
              </a:rPr>
              <a:t>A Glance at HPC</a:t>
            </a:r>
            <a:endParaRPr lang="zh-CN" altLang="en-US" sz="4800" b="1" dirty="0">
              <a:solidFill>
                <a:srgbClr val="FFC000">
                  <a:lumMod val="60000"/>
                  <a:lumOff val="40000"/>
                </a:srgb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53" presetClass="entr" presetSubtype="16" fill="hold" grpId="0" nodeType="withEffect">
                                  <p:stCondLst>
                                    <p:cond delay="0"/>
                                  </p:stCondLst>
                                  <p:iterate type="lt">
                                    <p:tmPct val="10000"/>
                                  </p:iterate>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0" grpId="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Abstract</a:t>
            </a:r>
            <a:endParaRPr lang="zh-CN" altLang="en-US" dirty="0"/>
          </a:p>
        </p:txBody>
      </p:sp>
      <p:sp>
        <p:nvSpPr>
          <p:cNvPr id="3" name="内容占位符 2"/>
          <p:cNvSpPr>
            <a:spLocks noGrp="1"/>
          </p:cNvSpPr>
          <p:nvPr>
            <p:ph idx="1"/>
          </p:nvPr>
        </p:nvSpPr>
        <p:spPr/>
        <p:txBody>
          <a:bodyPr>
            <a:normAutofit fontScale="92500"/>
          </a:bodyPr>
          <a:lstStyle/>
          <a:p>
            <a:r>
              <a:rPr lang="en-US" altLang="zh-CN" dirty="0"/>
              <a:t>High Performance Computing (HPC) is an area encompassing among others the various paradigms of parallel programming, their related programming languages and application programming interfaces (APIs), the dedicated software tools, the international specialized conferences, etc. </a:t>
            </a:r>
          </a:p>
          <a:p>
            <a:r>
              <a:rPr lang="en-US" altLang="zh-CN" dirty="0"/>
              <a:t>Loosely speaking, HPC is both the scientific and technical fields of study of “Supercomputers”.</a:t>
            </a:r>
            <a:endParaRPr lang="zh-CN" altLang="en-US" dirty="0"/>
          </a:p>
        </p:txBody>
      </p:sp>
    </p:spTree>
    <p:extLst>
      <p:ext uri="{BB962C8B-B14F-4D97-AF65-F5344CB8AC3E}">
        <p14:creationId xmlns:p14="http://schemas.microsoft.com/office/powerpoint/2010/main" val="2318808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What is HPC?</a:t>
            </a:r>
            <a:endParaRPr lang="zh-CN" altLang="en-US" dirty="0"/>
          </a:p>
        </p:txBody>
      </p:sp>
      <p:sp>
        <p:nvSpPr>
          <p:cNvPr id="3" name="内容占位符 2"/>
          <p:cNvSpPr>
            <a:spLocks noGrp="1"/>
          </p:cNvSpPr>
          <p:nvPr>
            <p:ph idx="1"/>
          </p:nvPr>
        </p:nvSpPr>
        <p:spPr/>
        <p:txBody>
          <a:bodyPr/>
          <a:lstStyle/>
          <a:p>
            <a:r>
              <a:rPr lang="en-US" altLang="zh-CN" dirty="0"/>
              <a:t>Not only hardware, but also software.</a:t>
            </a:r>
          </a:p>
          <a:p>
            <a:r>
              <a:rPr lang="en-US" altLang="zh-CN" dirty="0"/>
              <a:t>The list of the top 500 supercomputers is regularly updated and available on the Internet.</a:t>
            </a:r>
          </a:p>
          <a:p>
            <a:r>
              <a:rPr lang="en-US" altLang="zh-CN" dirty="0"/>
              <a:t>In 2014, Tianhe-2 (or MilkyWay-2) is the winner in the list.</a:t>
            </a:r>
          </a:p>
          <a:p>
            <a:r>
              <a:rPr lang="en-US" altLang="zh-CN" dirty="0"/>
              <a:t>It consists of 3.12 million cores.</a:t>
            </a:r>
            <a:endParaRPr lang="zh-CN" alt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1102" y="4355102"/>
            <a:ext cx="2502898" cy="2502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532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What is HPC?</a:t>
            </a:r>
            <a:endParaRPr lang="zh-CN" altLang="en-US" dirty="0"/>
          </a:p>
        </p:txBody>
      </p:sp>
      <p:sp>
        <p:nvSpPr>
          <p:cNvPr id="3" name="内容占位符 2"/>
          <p:cNvSpPr>
            <a:spLocks noGrp="1"/>
          </p:cNvSpPr>
          <p:nvPr>
            <p:ph idx="1"/>
          </p:nvPr>
        </p:nvSpPr>
        <p:spPr/>
        <p:txBody>
          <a:bodyPr/>
          <a:lstStyle/>
          <a:p>
            <a:r>
              <a:rPr lang="en-US" altLang="zh-CN" dirty="0"/>
              <a:t>It’s overall performance are 54.9 Petaflops, where a </a:t>
            </a:r>
            <a:r>
              <a:rPr lang="en-US" altLang="zh-CN" dirty="0" err="1"/>
              <a:t>PFlops</a:t>
            </a:r>
            <a:r>
              <a:rPr lang="en-US" altLang="zh-CN" dirty="0"/>
              <a:t> is 10</a:t>
            </a:r>
            <a:r>
              <a:rPr lang="en-US" altLang="zh-CN" baseline="30000" dirty="0"/>
              <a:t>15</a:t>
            </a:r>
            <a:r>
              <a:rPr lang="en-US" altLang="zh-CN" dirty="0"/>
              <a:t> floating-point operations per second.</a:t>
            </a:r>
          </a:p>
          <a:p>
            <a:r>
              <a:rPr lang="en-US" altLang="zh-CN" dirty="0"/>
              <a:t>The electricity cost of this supercomputer is about 1 million dollars per year.</a:t>
            </a:r>
            <a:endParaRPr lang="zh-CN" altLang="en-US" dirty="0"/>
          </a:p>
        </p:txBody>
      </p:sp>
    </p:spTree>
    <p:extLst>
      <p:ext uri="{BB962C8B-B14F-4D97-AF65-F5344CB8AC3E}">
        <p14:creationId xmlns:p14="http://schemas.microsoft.com/office/powerpoint/2010/main" val="352688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Autofit/>
          </a:bodyPr>
          <a:lstStyle/>
          <a:p>
            <a:pPr defTabSz="751046" eaLnBrk="0" fontAlgn="ctr" hangingPunct="0"/>
            <a:r>
              <a:rPr lang="en-US" altLang="zh-CN" sz="2730" b="1" dirty="0">
                <a:solidFill>
                  <a:schemeClr val="tx1">
                    <a:lumMod val="75000"/>
                    <a:lumOff val="25000"/>
                  </a:schemeClr>
                </a:solidFill>
                <a:cs typeface="Huawei Sans" panose="020C0503030203020204" pitchFamily="34" charset="0"/>
                <a:sym typeface="微软雅黑" panose="020B0503020204020204" pitchFamily="34" charset="-122"/>
              </a:rPr>
              <a:t>What is HPC? - </a:t>
            </a:r>
            <a:r>
              <a:rPr lang="en-US" altLang="zh-CN" b="1" dirty="0"/>
              <a:t>The definition given by </a:t>
            </a:r>
            <a:r>
              <a:rPr lang="en-US" altLang="zh-CN" b="1" dirty="0">
                <a:solidFill>
                  <a:srgbClr val="FF0000"/>
                </a:solidFill>
              </a:rPr>
              <a:t>Huawei</a:t>
            </a:r>
            <a:endParaRPr lang="zh-CN" altLang="en-US" sz="2730" b="1" dirty="0">
              <a:solidFill>
                <a:schemeClr val="tx1">
                  <a:lumMod val="75000"/>
                  <a:lumOff val="25000"/>
                </a:schemeClr>
              </a:solidFill>
              <a:cs typeface="Huawei Sans" panose="020C0503030203020204" pitchFamily="34" charset="0"/>
              <a:sym typeface="微软雅黑" panose="020B0503020204020204" pitchFamily="34" charset="-122"/>
            </a:endParaRPr>
          </a:p>
        </p:txBody>
      </p:sp>
      <p:sp>
        <p:nvSpPr>
          <p:cNvPr id="4" name="文本占位符 3"/>
          <p:cNvSpPr>
            <a:spLocks noGrp="1"/>
          </p:cNvSpPr>
          <p:nvPr>
            <p:ph type="body" sz="quarter" idx="10"/>
          </p:nvPr>
        </p:nvSpPr>
        <p:spPr>
          <a:xfrm>
            <a:off x="533417" y="933747"/>
            <a:ext cx="4673983" cy="1052688"/>
          </a:xfrm>
        </p:spPr>
        <p:txBody>
          <a:bodyPr/>
          <a:lstStyle/>
          <a:p>
            <a:pPr>
              <a:lnSpc>
                <a:spcPts val="2400"/>
              </a:lnSpc>
            </a:pPr>
            <a:r>
              <a:rPr lang="en-US" altLang="zh-CN" dirty="0"/>
              <a:t>A typical architecture of HPC includes infrastructure, computing node, storage file system, network exchange, cluster management, and resource scheduling.</a:t>
            </a:r>
          </a:p>
          <a:p>
            <a:pPr marL="0" indent="0">
              <a:lnSpc>
                <a:spcPts val="2400"/>
              </a:lnSpc>
              <a:buNone/>
            </a:pPr>
            <a:endParaRPr lang="en-US" altLang="zh-CN" dirty="0"/>
          </a:p>
          <a:p>
            <a:pPr marL="0" indent="0">
              <a:lnSpc>
                <a:spcPts val="2400"/>
              </a:lnSpc>
              <a:buNone/>
            </a:pPr>
            <a:endParaRPr lang="en-US" altLang="zh-CN" dirty="0">
              <a:sym typeface="微软雅黑" panose="020B0503020204020204" pitchFamily="34" charset="-122"/>
            </a:endParaRPr>
          </a:p>
        </p:txBody>
      </p:sp>
      <p:pic>
        <p:nvPicPr>
          <p:cNvPr id="67" name="Picture 6"/>
          <p:cNvPicPr>
            <a:picLocks noChangeAspect="1" noChangeArrowheads="1"/>
          </p:cNvPicPr>
          <p:nvPr/>
        </p:nvPicPr>
        <p:blipFill>
          <a:blip r:embed="rId3" cstate="print"/>
          <a:srcRect t="13077"/>
          <a:stretch>
            <a:fillRect/>
          </a:stretch>
        </p:blipFill>
        <p:spPr bwMode="auto">
          <a:xfrm>
            <a:off x="547320" y="3535825"/>
            <a:ext cx="3484233" cy="1836521"/>
          </a:xfrm>
          <a:prstGeom prst="rect">
            <a:avLst/>
          </a:prstGeom>
          <a:noFill/>
          <a:ln w="9525">
            <a:noFill/>
            <a:miter lim="800000"/>
            <a:headEnd/>
            <a:tailEnd/>
          </a:ln>
        </p:spPr>
      </p:pic>
      <p:grpSp>
        <p:nvGrpSpPr>
          <p:cNvPr id="5" name="组合 204"/>
          <p:cNvGrpSpPr/>
          <p:nvPr/>
        </p:nvGrpSpPr>
        <p:grpSpPr>
          <a:xfrm>
            <a:off x="4576089" y="4985290"/>
            <a:ext cx="320236" cy="182585"/>
            <a:chOff x="740734" y="3962399"/>
            <a:chExt cx="825796" cy="588336"/>
          </a:xfrm>
          <a:solidFill>
            <a:srgbClr val="00B050"/>
          </a:solidFill>
        </p:grpSpPr>
        <p:grpSp>
          <p:nvGrpSpPr>
            <p:cNvPr id="6" name="组合 194"/>
            <p:cNvGrpSpPr/>
            <p:nvPr/>
          </p:nvGrpSpPr>
          <p:grpSpPr>
            <a:xfrm>
              <a:off x="744280" y="4189228"/>
              <a:ext cx="818706" cy="361507"/>
              <a:chOff x="733647" y="4189228"/>
              <a:chExt cx="818706" cy="361507"/>
            </a:xfrm>
            <a:grpFill/>
          </p:grpSpPr>
          <p:sp>
            <p:nvSpPr>
              <p:cNvPr id="16" name="椭圆 190"/>
              <p:cNvSpPr/>
              <p:nvPr/>
            </p:nvSpPr>
            <p:spPr bwMode="auto">
              <a:xfrm>
                <a:off x="733647"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17" name="椭圆 191"/>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7" name="组合 195"/>
            <p:cNvGrpSpPr/>
            <p:nvPr/>
          </p:nvGrpSpPr>
          <p:grpSpPr>
            <a:xfrm>
              <a:off x="747823" y="4118343"/>
              <a:ext cx="818706" cy="361507"/>
              <a:chOff x="723014" y="4189228"/>
              <a:chExt cx="818706" cy="361507"/>
            </a:xfrm>
            <a:grpFill/>
          </p:grpSpPr>
          <p:sp>
            <p:nvSpPr>
              <p:cNvPr id="14" name="椭圆 196"/>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15" name="椭圆 197"/>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8" name="组合 198"/>
            <p:cNvGrpSpPr/>
            <p:nvPr/>
          </p:nvGrpSpPr>
          <p:grpSpPr>
            <a:xfrm>
              <a:off x="747824" y="4024305"/>
              <a:ext cx="818706" cy="361507"/>
              <a:chOff x="733647" y="4169616"/>
              <a:chExt cx="818706" cy="361507"/>
            </a:xfrm>
            <a:grpFill/>
          </p:grpSpPr>
          <p:sp>
            <p:nvSpPr>
              <p:cNvPr id="12" name="椭圆 199"/>
              <p:cNvSpPr/>
              <p:nvPr/>
            </p:nvSpPr>
            <p:spPr bwMode="auto">
              <a:xfrm>
                <a:off x="733647" y="4169616"/>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13" name="椭圆 200"/>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dirty="0">
                  <a:solidFill>
                    <a:srgbClr val="000000"/>
                  </a:solidFill>
                </a:endParaRPr>
              </a:p>
            </p:txBody>
          </p:sp>
        </p:grpSp>
        <p:grpSp>
          <p:nvGrpSpPr>
            <p:cNvPr id="9" name="组合 201"/>
            <p:cNvGrpSpPr/>
            <p:nvPr/>
          </p:nvGrpSpPr>
          <p:grpSpPr>
            <a:xfrm>
              <a:off x="740734" y="3962399"/>
              <a:ext cx="818706" cy="361507"/>
              <a:chOff x="723014" y="4189228"/>
              <a:chExt cx="818706" cy="361507"/>
            </a:xfrm>
            <a:grpFill/>
          </p:grpSpPr>
          <p:sp>
            <p:nvSpPr>
              <p:cNvPr id="10" name="椭圆 202"/>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11" name="椭圆 203"/>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pic>
        <p:nvPicPr>
          <p:cNvPr id="18" name="Picture 3" descr="D:\梁伟\2013-03\黄雪峰\产品图标.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19176" y="4853485"/>
            <a:ext cx="307426" cy="346154"/>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组合 204"/>
          <p:cNvGrpSpPr/>
          <p:nvPr/>
        </p:nvGrpSpPr>
        <p:grpSpPr>
          <a:xfrm>
            <a:off x="5207401" y="4979237"/>
            <a:ext cx="320236" cy="182585"/>
            <a:chOff x="740734" y="3962399"/>
            <a:chExt cx="825796" cy="588336"/>
          </a:xfrm>
          <a:solidFill>
            <a:srgbClr val="00B050"/>
          </a:solidFill>
        </p:grpSpPr>
        <p:grpSp>
          <p:nvGrpSpPr>
            <p:cNvPr id="20" name="组合 194"/>
            <p:cNvGrpSpPr/>
            <p:nvPr/>
          </p:nvGrpSpPr>
          <p:grpSpPr>
            <a:xfrm>
              <a:off x="744280" y="4189228"/>
              <a:ext cx="818706" cy="361507"/>
              <a:chOff x="733647" y="4189228"/>
              <a:chExt cx="818706" cy="361507"/>
            </a:xfrm>
            <a:grpFill/>
          </p:grpSpPr>
          <p:sp>
            <p:nvSpPr>
              <p:cNvPr id="30" name="椭圆 190"/>
              <p:cNvSpPr/>
              <p:nvPr/>
            </p:nvSpPr>
            <p:spPr bwMode="auto">
              <a:xfrm>
                <a:off x="733647"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31" name="椭圆 191"/>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21" name="组合 195"/>
            <p:cNvGrpSpPr/>
            <p:nvPr/>
          </p:nvGrpSpPr>
          <p:grpSpPr>
            <a:xfrm>
              <a:off x="747823" y="4118343"/>
              <a:ext cx="818706" cy="361507"/>
              <a:chOff x="723014" y="4189228"/>
              <a:chExt cx="818706" cy="361507"/>
            </a:xfrm>
            <a:grpFill/>
          </p:grpSpPr>
          <p:sp>
            <p:nvSpPr>
              <p:cNvPr id="28" name="椭圆 196"/>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29" name="椭圆 197"/>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22" name="组合 198"/>
            <p:cNvGrpSpPr/>
            <p:nvPr/>
          </p:nvGrpSpPr>
          <p:grpSpPr>
            <a:xfrm>
              <a:off x="747824" y="4024305"/>
              <a:ext cx="818706" cy="361507"/>
              <a:chOff x="733647" y="4169616"/>
              <a:chExt cx="818706" cy="361507"/>
            </a:xfrm>
            <a:grpFill/>
          </p:grpSpPr>
          <p:sp>
            <p:nvSpPr>
              <p:cNvPr id="26" name="椭圆 199"/>
              <p:cNvSpPr/>
              <p:nvPr/>
            </p:nvSpPr>
            <p:spPr bwMode="auto">
              <a:xfrm>
                <a:off x="733647" y="4169616"/>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27" name="椭圆 200"/>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dirty="0">
                  <a:solidFill>
                    <a:srgbClr val="000000"/>
                  </a:solidFill>
                </a:endParaRPr>
              </a:p>
            </p:txBody>
          </p:sp>
        </p:grpSp>
        <p:grpSp>
          <p:nvGrpSpPr>
            <p:cNvPr id="23" name="组合 201"/>
            <p:cNvGrpSpPr/>
            <p:nvPr/>
          </p:nvGrpSpPr>
          <p:grpSpPr>
            <a:xfrm>
              <a:off x="740734" y="3962399"/>
              <a:ext cx="818706" cy="361507"/>
              <a:chOff x="723014" y="4189228"/>
              <a:chExt cx="818706" cy="361507"/>
            </a:xfrm>
            <a:grpFill/>
          </p:grpSpPr>
          <p:sp>
            <p:nvSpPr>
              <p:cNvPr id="24" name="椭圆 202"/>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25" name="椭圆 203"/>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pic>
        <p:nvPicPr>
          <p:cNvPr id="32" name="Picture 3" descr="D:\梁伟\2013-03\黄雪峰\产品图标.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0488" y="4847431"/>
            <a:ext cx="307426" cy="346154"/>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204"/>
          <p:cNvGrpSpPr/>
          <p:nvPr/>
        </p:nvGrpSpPr>
        <p:grpSpPr>
          <a:xfrm>
            <a:off x="6575769" y="4979237"/>
            <a:ext cx="320236" cy="182585"/>
            <a:chOff x="740734" y="3962399"/>
            <a:chExt cx="825796" cy="588336"/>
          </a:xfrm>
          <a:solidFill>
            <a:srgbClr val="00B050"/>
          </a:solidFill>
        </p:grpSpPr>
        <p:grpSp>
          <p:nvGrpSpPr>
            <p:cNvPr id="34" name="组合 194"/>
            <p:cNvGrpSpPr/>
            <p:nvPr/>
          </p:nvGrpSpPr>
          <p:grpSpPr>
            <a:xfrm>
              <a:off x="744280" y="4189228"/>
              <a:ext cx="818706" cy="361507"/>
              <a:chOff x="733647" y="4189228"/>
              <a:chExt cx="818706" cy="361507"/>
            </a:xfrm>
            <a:grpFill/>
          </p:grpSpPr>
          <p:sp>
            <p:nvSpPr>
              <p:cNvPr id="44" name="椭圆 190"/>
              <p:cNvSpPr/>
              <p:nvPr/>
            </p:nvSpPr>
            <p:spPr bwMode="auto">
              <a:xfrm>
                <a:off x="733647"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45" name="椭圆 191"/>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35" name="组合 195"/>
            <p:cNvGrpSpPr/>
            <p:nvPr/>
          </p:nvGrpSpPr>
          <p:grpSpPr>
            <a:xfrm>
              <a:off x="747823" y="4118343"/>
              <a:ext cx="818706" cy="361507"/>
              <a:chOff x="723014" y="4189228"/>
              <a:chExt cx="818706" cy="361507"/>
            </a:xfrm>
            <a:grpFill/>
          </p:grpSpPr>
          <p:sp>
            <p:nvSpPr>
              <p:cNvPr id="42" name="椭圆 196"/>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43" name="椭圆 197"/>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nvGrpSpPr>
            <p:cNvPr id="36" name="组合 198"/>
            <p:cNvGrpSpPr/>
            <p:nvPr/>
          </p:nvGrpSpPr>
          <p:grpSpPr>
            <a:xfrm>
              <a:off x="747824" y="4024305"/>
              <a:ext cx="818706" cy="361507"/>
              <a:chOff x="733647" y="4169616"/>
              <a:chExt cx="818706" cy="361507"/>
            </a:xfrm>
            <a:grpFill/>
          </p:grpSpPr>
          <p:sp>
            <p:nvSpPr>
              <p:cNvPr id="40" name="椭圆 199"/>
              <p:cNvSpPr/>
              <p:nvPr/>
            </p:nvSpPr>
            <p:spPr bwMode="auto">
              <a:xfrm>
                <a:off x="733647" y="4169616"/>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41" name="椭圆 200"/>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dirty="0">
                  <a:solidFill>
                    <a:srgbClr val="000000"/>
                  </a:solidFill>
                </a:endParaRPr>
              </a:p>
            </p:txBody>
          </p:sp>
        </p:grpSp>
        <p:grpSp>
          <p:nvGrpSpPr>
            <p:cNvPr id="37" name="组合 201"/>
            <p:cNvGrpSpPr/>
            <p:nvPr/>
          </p:nvGrpSpPr>
          <p:grpSpPr>
            <a:xfrm>
              <a:off x="740734" y="3962399"/>
              <a:ext cx="818706" cy="361507"/>
              <a:chOff x="723014" y="4189228"/>
              <a:chExt cx="818706" cy="361507"/>
            </a:xfrm>
            <a:grpFill/>
          </p:grpSpPr>
          <p:sp>
            <p:nvSpPr>
              <p:cNvPr id="38" name="椭圆 202"/>
              <p:cNvSpPr/>
              <p:nvPr/>
            </p:nvSpPr>
            <p:spPr bwMode="auto">
              <a:xfrm>
                <a:off x="723014" y="4189228"/>
                <a:ext cx="818706" cy="361507"/>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sp>
            <p:nvSpPr>
              <p:cNvPr id="39" name="椭圆 203"/>
              <p:cNvSpPr/>
              <p:nvPr/>
            </p:nvSpPr>
            <p:spPr bwMode="auto">
              <a:xfrm>
                <a:off x="1024271" y="4320364"/>
                <a:ext cx="219739" cy="92149"/>
              </a:xfrm>
              <a:prstGeom prst="ellipse">
                <a:avLst/>
              </a:prstGeom>
              <a:grpFill/>
              <a:ln w="19050">
                <a:solidFill>
                  <a:srgbClr val="FFFFFF"/>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37" tIns="34268" rIns="68537" bIns="34268" numCol="1" rtlCol="0" anchor="t" anchorCtr="0" compatLnSpc="1"/>
              <a:lstStyle/>
              <a:p>
                <a:pPr defTabSz="685324" fontAlgn="base">
                  <a:spcBef>
                    <a:spcPct val="0"/>
                  </a:spcBef>
                  <a:spcAft>
                    <a:spcPct val="0"/>
                  </a:spcAft>
                  <a:buClr>
                    <a:srgbClr val="CC9900"/>
                  </a:buClr>
                  <a:buFont typeface="Wingdings" panose="05000000000000000000" pitchFamily="2" charset="2"/>
                  <a:buChar char="n"/>
                  <a:defRPr/>
                </a:pPr>
                <a:endParaRPr lang="zh-CN" altLang="en-US" sz="1350" kern="0">
                  <a:solidFill>
                    <a:srgbClr val="000000"/>
                  </a:solidFill>
                </a:endParaRPr>
              </a:p>
            </p:txBody>
          </p:sp>
        </p:grpSp>
      </p:grpSp>
      <p:pic>
        <p:nvPicPr>
          <p:cNvPr id="46" name="Picture 3" descr="D:\梁伟\2013-03\黄雪峰\产品图标.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18856" y="4847431"/>
            <a:ext cx="307426" cy="346154"/>
          </a:xfrm>
          <a:prstGeom prst="rect">
            <a:avLst/>
          </a:prstGeom>
          <a:noFill/>
          <a:extLst>
            <a:ext uri="{909E8E84-426E-40DD-AFC4-6F175D3DCCD1}">
              <a14:hiddenFill xmlns:a14="http://schemas.microsoft.com/office/drawing/2010/main">
                <a:solidFill>
                  <a:srgbClr val="FFFFFF"/>
                </a:solidFill>
              </a14:hiddenFill>
            </a:ext>
          </a:extLst>
        </p:spPr>
      </p:pic>
      <p:sp>
        <p:nvSpPr>
          <p:cNvPr id="47" name="文本框 46"/>
          <p:cNvSpPr txBox="1"/>
          <p:nvPr/>
        </p:nvSpPr>
        <p:spPr>
          <a:xfrm>
            <a:off x="5697486" y="4741546"/>
            <a:ext cx="800219" cy="425758"/>
          </a:xfrm>
          <a:prstGeom prst="rect">
            <a:avLst/>
          </a:prstGeom>
          <a:noFill/>
        </p:spPr>
        <p:txBody>
          <a:bodyPr wrap="none" rtlCol="0">
            <a:spAutoFit/>
          </a:bodyPr>
          <a:lstStyle/>
          <a:p>
            <a:pPr>
              <a:lnSpc>
                <a:spcPts val="2580"/>
              </a:lnSpc>
            </a:pPr>
            <a:r>
              <a:rPr lang="en-US" altLang="zh-CN" sz="2400" dirty="0">
                <a:solidFill>
                  <a:srgbClr val="1D1D1A"/>
                </a:solidFill>
              </a:rPr>
              <a:t>……</a:t>
            </a:r>
            <a:endParaRPr lang="zh-CN" altLang="en-US" sz="2400" dirty="0">
              <a:solidFill>
                <a:srgbClr val="1D1D1A"/>
              </a:solidFill>
            </a:endParaRPr>
          </a:p>
        </p:txBody>
      </p:sp>
      <p:sp>
        <p:nvSpPr>
          <p:cNvPr id="48" name="文本框 47"/>
          <p:cNvSpPr txBox="1"/>
          <p:nvPr/>
        </p:nvSpPr>
        <p:spPr>
          <a:xfrm>
            <a:off x="6974324" y="4794382"/>
            <a:ext cx="1381468" cy="425758"/>
          </a:xfrm>
          <a:prstGeom prst="rect">
            <a:avLst/>
          </a:prstGeom>
          <a:noFill/>
        </p:spPr>
        <p:txBody>
          <a:bodyPr wrap="none" rtlCol="0">
            <a:spAutoFit/>
          </a:bodyPr>
          <a:lstStyle/>
          <a:p>
            <a:pPr>
              <a:lnSpc>
                <a:spcPts val="2580"/>
              </a:lnSpc>
            </a:pPr>
            <a:r>
              <a:rPr lang="en-US" altLang="zh-CN" sz="1500" dirty="0">
                <a:solidFill>
                  <a:srgbClr val="1D1D1A"/>
                </a:solidFill>
              </a:rPr>
              <a:t>Storage</a:t>
            </a:r>
            <a:r>
              <a:rPr lang="zh-CN" altLang="en-US" sz="1500" dirty="0">
                <a:solidFill>
                  <a:srgbClr val="1D1D1A"/>
                </a:solidFill>
              </a:rPr>
              <a:t> </a:t>
            </a:r>
            <a:r>
              <a:rPr lang="en-US" altLang="zh-CN" sz="1500" dirty="0">
                <a:solidFill>
                  <a:srgbClr val="1D1D1A"/>
                </a:solidFill>
              </a:rPr>
              <a:t>cluster</a:t>
            </a:r>
            <a:endParaRPr lang="zh-CN" altLang="en-US" sz="1500" dirty="0">
              <a:solidFill>
                <a:srgbClr val="1D1D1A"/>
              </a:solidFill>
            </a:endParaRPr>
          </a:p>
        </p:txBody>
      </p:sp>
      <p:grpSp>
        <p:nvGrpSpPr>
          <p:cNvPr id="49" name="组合 135"/>
          <p:cNvGrpSpPr/>
          <p:nvPr/>
        </p:nvGrpSpPr>
        <p:grpSpPr>
          <a:xfrm>
            <a:off x="5100860" y="3660287"/>
            <a:ext cx="1180446" cy="431898"/>
            <a:chOff x="1243268" y="877457"/>
            <a:chExt cx="1170323" cy="1167539"/>
          </a:xfrm>
        </p:grpSpPr>
        <p:grpSp>
          <p:nvGrpSpPr>
            <p:cNvPr id="50" name="组合 128"/>
            <p:cNvGrpSpPr/>
            <p:nvPr/>
          </p:nvGrpSpPr>
          <p:grpSpPr>
            <a:xfrm>
              <a:off x="1243268" y="877457"/>
              <a:ext cx="589077" cy="536673"/>
              <a:chOff x="1243268" y="877457"/>
              <a:chExt cx="589077" cy="536673"/>
            </a:xfrm>
          </p:grpSpPr>
          <p:sp>
            <p:nvSpPr>
              <p:cNvPr id="58" name="Freeform 1255"/>
              <p:cNvSpPr>
                <a:spLocks noEditPoints="1"/>
              </p:cNvSpPr>
              <p:nvPr/>
            </p:nvSpPr>
            <p:spPr bwMode="auto">
              <a:xfrm>
                <a:off x="1243268" y="884546"/>
                <a:ext cx="298453" cy="529583"/>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sp>
            <p:nvSpPr>
              <p:cNvPr id="59" name="Freeform 1255"/>
              <p:cNvSpPr>
                <a:spLocks noEditPoints="1"/>
              </p:cNvSpPr>
              <p:nvPr/>
            </p:nvSpPr>
            <p:spPr bwMode="auto">
              <a:xfrm>
                <a:off x="1533892" y="877457"/>
                <a:ext cx="298453" cy="536673"/>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grpSp>
        <p:sp>
          <p:nvSpPr>
            <p:cNvPr id="51" name="Freeform 1255"/>
            <p:cNvSpPr>
              <a:spLocks noEditPoints="1"/>
            </p:cNvSpPr>
            <p:nvPr/>
          </p:nvSpPr>
          <p:spPr bwMode="auto">
            <a:xfrm>
              <a:off x="1810338" y="877459"/>
              <a:ext cx="298453" cy="536672"/>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sp>
          <p:nvSpPr>
            <p:cNvPr id="52" name="Freeform 1255"/>
            <p:cNvSpPr>
              <a:spLocks noEditPoints="1"/>
            </p:cNvSpPr>
            <p:nvPr/>
          </p:nvSpPr>
          <p:spPr bwMode="auto">
            <a:xfrm>
              <a:off x="2100962" y="881002"/>
              <a:ext cx="298453" cy="536673"/>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grpSp>
          <p:nvGrpSpPr>
            <p:cNvPr id="53" name="组合 115"/>
            <p:cNvGrpSpPr/>
            <p:nvPr/>
          </p:nvGrpSpPr>
          <p:grpSpPr>
            <a:xfrm>
              <a:off x="1257444" y="1515411"/>
              <a:ext cx="589077" cy="529584"/>
              <a:chOff x="1243268" y="884546"/>
              <a:chExt cx="589077" cy="529584"/>
            </a:xfrm>
          </p:grpSpPr>
          <p:sp>
            <p:nvSpPr>
              <p:cNvPr id="56" name="Freeform 1255"/>
              <p:cNvSpPr>
                <a:spLocks noEditPoints="1"/>
              </p:cNvSpPr>
              <p:nvPr/>
            </p:nvSpPr>
            <p:spPr bwMode="auto">
              <a:xfrm>
                <a:off x="1243268" y="884546"/>
                <a:ext cx="298453" cy="529583"/>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sp>
            <p:nvSpPr>
              <p:cNvPr id="57" name="Freeform 1255"/>
              <p:cNvSpPr>
                <a:spLocks noEditPoints="1"/>
              </p:cNvSpPr>
              <p:nvPr/>
            </p:nvSpPr>
            <p:spPr bwMode="auto">
              <a:xfrm>
                <a:off x="1533892" y="889591"/>
                <a:ext cx="298453" cy="524539"/>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grpSp>
        <p:sp>
          <p:nvSpPr>
            <p:cNvPr id="54" name="Freeform 1255"/>
            <p:cNvSpPr>
              <a:spLocks noEditPoints="1"/>
            </p:cNvSpPr>
            <p:nvPr/>
          </p:nvSpPr>
          <p:spPr bwMode="auto">
            <a:xfrm>
              <a:off x="1824514" y="1520456"/>
              <a:ext cx="298453" cy="524540"/>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sp>
          <p:nvSpPr>
            <p:cNvPr id="55" name="Freeform 1255"/>
            <p:cNvSpPr>
              <a:spLocks noEditPoints="1"/>
            </p:cNvSpPr>
            <p:nvPr/>
          </p:nvSpPr>
          <p:spPr bwMode="auto">
            <a:xfrm>
              <a:off x="2115138" y="1522501"/>
              <a:ext cx="298453" cy="518952"/>
            </a:xfrm>
            <a:custGeom>
              <a:avLst/>
              <a:gdLst>
                <a:gd name="T0" fmla="*/ 222 w 227"/>
                <a:gd name="T1" fmla="*/ 2 h 512"/>
                <a:gd name="T2" fmla="*/ 227 w 227"/>
                <a:gd name="T3" fmla="*/ 11 h 512"/>
                <a:gd name="T4" fmla="*/ 226 w 227"/>
                <a:gd name="T5" fmla="*/ 506 h 512"/>
                <a:gd name="T6" fmla="*/ 219 w 227"/>
                <a:gd name="T7" fmla="*/ 511 h 512"/>
                <a:gd name="T8" fmla="*/ 8 w 227"/>
                <a:gd name="T9" fmla="*/ 511 h 512"/>
                <a:gd name="T10" fmla="*/ 2 w 227"/>
                <a:gd name="T11" fmla="*/ 506 h 512"/>
                <a:gd name="T12" fmla="*/ 0 w 227"/>
                <a:gd name="T13" fmla="*/ 11 h 512"/>
                <a:gd name="T14" fmla="*/ 5 w 227"/>
                <a:gd name="T15" fmla="*/ 2 h 512"/>
                <a:gd name="T16" fmla="*/ 46 w 227"/>
                <a:gd name="T17" fmla="*/ 50 h 512"/>
                <a:gd name="T18" fmla="*/ 189 w 227"/>
                <a:gd name="T19" fmla="*/ 53 h 512"/>
                <a:gd name="T20" fmla="*/ 193 w 227"/>
                <a:gd name="T21" fmla="*/ 60 h 512"/>
                <a:gd name="T22" fmla="*/ 191 w 227"/>
                <a:gd name="T23" fmla="*/ 98 h 512"/>
                <a:gd name="T24" fmla="*/ 185 w 227"/>
                <a:gd name="T25" fmla="*/ 103 h 512"/>
                <a:gd name="T26" fmla="*/ 41 w 227"/>
                <a:gd name="T27" fmla="*/ 103 h 512"/>
                <a:gd name="T28" fmla="*/ 36 w 227"/>
                <a:gd name="T29" fmla="*/ 97 h 512"/>
                <a:gd name="T30" fmla="*/ 35 w 227"/>
                <a:gd name="T31" fmla="*/ 58 h 512"/>
                <a:gd name="T32" fmla="*/ 39 w 227"/>
                <a:gd name="T33" fmla="*/ 52 h 512"/>
                <a:gd name="T34" fmla="*/ 181 w 227"/>
                <a:gd name="T35" fmla="*/ 119 h 512"/>
                <a:gd name="T36" fmla="*/ 189 w 227"/>
                <a:gd name="T37" fmla="*/ 122 h 512"/>
                <a:gd name="T38" fmla="*/ 193 w 227"/>
                <a:gd name="T39" fmla="*/ 129 h 512"/>
                <a:gd name="T40" fmla="*/ 191 w 227"/>
                <a:gd name="T41" fmla="*/ 168 h 512"/>
                <a:gd name="T42" fmla="*/ 184 w 227"/>
                <a:gd name="T43" fmla="*/ 173 h 512"/>
                <a:gd name="T44" fmla="*/ 41 w 227"/>
                <a:gd name="T45" fmla="*/ 172 h 512"/>
                <a:gd name="T46" fmla="*/ 35 w 227"/>
                <a:gd name="T47" fmla="*/ 166 h 512"/>
                <a:gd name="T48" fmla="*/ 35 w 227"/>
                <a:gd name="T49" fmla="*/ 127 h 512"/>
                <a:gd name="T50" fmla="*/ 40 w 227"/>
                <a:gd name="T51" fmla="*/ 121 h 512"/>
                <a:gd name="T52" fmla="*/ 182 w 227"/>
                <a:gd name="T53" fmla="*/ 189 h 512"/>
                <a:gd name="T54" fmla="*/ 190 w 227"/>
                <a:gd name="T55" fmla="*/ 192 h 512"/>
                <a:gd name="T56" fmla="*/ 193 w 227"/>
                <a:gd name="T57" fmla="*/ 199 h 512"/>
                <a:gd name="T58" fmla="*/ 191 w 227"/>
                <a:gd name="T59" fmla="*/ 238 h 512"/>
                <a:gd name="T60" fmla="*/ 184 w 227"/>
                <a:gd name="T61" fmla="*/ 242 h 512"/>
                <a:gd name="T62" fmla="*/ 40 w 227"/>
                <a:gd name="T63" fmla="*/ 241 h 512"/>
                <a:gd name="T64" fmla="*/ 35 w 227"/>
                <a:gd name="T65" fmla="*/ 235 h 512"/>
                <a:gd name="T66" fmla="*/ 35 w 227"/>
                <a:gd name="T67" fmla="*/ 196 h 512"/>
                <a:gd name="T68" fmla="*/ 40 w 227"/>
                <a:gd name="T69" fmla="*/ 190 h 512"/>
                <a:gd name="T70" fmla="*/ 182 w 227"/>
                <a:gd name="T71" fmla="*/ 258 h 512"/>
                <a:gd name="T72" fmla="*/ 190 w 227"/>
                <a:gd name="T73" fmla="*/ 262 h 512"/>
                <a:gd name="T74" fmla="*/ 193 w 227"/>
                <a:gd name="T75" fmla="*/ 269 h 512"/>
                <a:gd name="T76" fmla="*/ 190 w 227"/>
                <a:gd name="T77" fmla="*/ 308 h 512"/>
                <a:gd name="T78" fmla="*/ 183 w 227"/>
                <a:gd name="T79" fmla="*/ 312 h 512"/>
                <a:gd name="T80" fmla="*/ 40 w 227"/>
                <a:gd name="T81" fmla="*/ 310 h 512"/>
                <a:gd name="T82" fmla="*/ 35 w 227"/>
                <a:gd name="T83" fmla="*/ 304 h 512"/>
                <a:gd name="T84" fmla="*/ 35 w 227"/>
                <a:gd name="T85" fmla="*/ 265 h 512"/>
                <a:gd name="T86" fmla="*/ 41 w 227"/>
                <a:gd name="T87" fmla="*/ 259 h 512"/>
                <a:gd name="T88" fmla="*/ 117 w 227"/>
                <a:gd name="T89" fmla="*/ 442 h 512"/>
                <a:gd name="T90" fmla="*/ 126 w 227"/>
                <a:gd name="T91" fmla="*/ 448 h 512"/>
                <a:gd name="T92" fmla="*/ 128 w 227"/>
                <a:gd name="T93" fmla="*/ 459 h 512"/>
                <a:gd name="T94" fmla="*/ 124 w 227"/>
                <a:gd name="T95" fmla="*/ 469 h 512"/>
                <a:gd name="T96" fmla="*/ 114 w 227"/>
                <a:gd name="T97" fmla="*/ 473 h 512"/>
                <a:gd name="T98" fmla="*/ 104 w 227"/>
                <a:gd name="T99" fmla="*/ 469 h 512"/>
                <a:gd name="T100" fmla="*/ 99 w 227"/>
                <a:gd name="T101" fmla="*/ 459 h 512"/>
                <a:gd name="T102" fmla="*/ 102 w 227"/>
                <a:gd name="T103" fmla="*/ 448 h 512"/>
                <a:gd name="T104" fmla="*/ 111 w 227"/>
                <a:gd name="T105" fmla="*/ 442 h 512"/>
                <a:gd name="T106" fmla="*/ 191 w 227"/>
                <a:gd name="T107" fmla="*/ 392 h 512"/>
                <a:gd name="T108" fmla="*/ 191 w 227"/>
                <a:gd name="T109" fmla="*/ 402 h 512"/>
                <a:gd name="T110" fmla="*/ 38 w 227"/>
                <a:gd name="T111" fmla="*/ 403 h 512"/>
                <a:gd name="T112" fmla="*/ 35 w 227"/>
                <a:gd name="T113" fmla="*/ 394 h 512"/>
                <a:gd name="T114" fmla="*/ 39 w 227"/>
                <a:gd name="T115" fmla="*/ 391 h 512"/>
                <a:gd name="T116" fmla="*/ 192 w 227"/>
                <a:gd name="T117" fmla="*/ 377 h 512"/>
                <a:gd name="T118" fmla="*/ 190 w 227"/>
                <a:gd name="T119" fmla="*/ 385 h 512"/>
                <a:gd name="T120" fmla="*/ 36 w 227"/>
                <a:gd name="T121" fmla="*/ 384 h 512"/>
                <a:gd name="T122" fmla="*/ 36 w 227"/>
                <a:gd name="T123" fmla="*/ 37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7" h="512">
                  <a:moveTo>
                    <a:pt x="12" y="0"/>
                  </a:moveTo>
                  <a:lnTo>
                    <a:pt x="215" y="0"/>
                  </a:lnTo>
                  <a:lnTo>
                    <a:pt x="216" y="0"/>
                  </a:lnTo>
                  <a:lnTo>
                    <a:pt x="216" y="0"/>
                  </a:lnTo>
                  <a:lnTo>
                    <a:pt x="217" y="0"/>
                  </a:lnTo>
                  <a:lnTo>
                    <a:pt x="217" y="0"/>
                  </a:lnTo>
                  <a:lnTo>
                    <a:pt x="218" y="0"/>
                  </a:lnTo>
                  <a:lnTo>
                    <a:pt x="219" y="1"/>
                  </a:lnTo>
                  <a:lnTo>
                    <a:pt x="219" y="1"/>
                  </a:lnTo>
                  <a:lnTo>
                    <a:pt x="220" y="1"/>
                  </a:lnTo>
                  <a:lnTo>
                    <a:pt x="220" y="1"/>
                  </a:lnTo>
                  <a:lnTo>
                    <a:pt x="221" y="1"/>
                  </a:lnTo>
                  <a:lnTo>
                    <a:pt x="221" y="2"/>
                  </a:lnTo>
                  <a:lnTo>
                    <a:pt x="222" y="2"/>
                  </a:lnTo>
                  <a:lnTo>
                    <a:pt x="222" y="2"/>
                  </a:lnTo>
                  <a:lnTo>
                    <a:pt x="223" y="4"/>
                  </a:lnTo>
                  <a:lnTo>
                    <a:pt x="223" y="4"/>
                  </a:lnTo>
                  <a:lnTo>
                    <a:pt x="224" y="5"/>
                  </a:lnTo>
                  <a:lnTo>
                    <a:pt x="224" y="5"/>
                  </a:lnTo>
                  <a:lnTo>
                    <a:pt x="224" y="5"/>
                  </a:lnTo>
                  <a:lnTo>
                    <a:pt x="225" y="6"/>
                  </a:lnTo>
                  <a:lnTo>
                    <a:pt x="225" y="6"/>
                  </a:lnTo>
                  <a:lnTo>
                    <a:pt x="225" y="7"/>
                  </a:lnTo>
                  <a:lnTo>
                    <a:pt x="226" y="7"/>
                  </a:lnTo>
                  <a:lnTo>
                    <a:pt x="226" y="8"/>
                  </a:lnTo>
                  <a:lnTo>
                    <a:pt x="226" y="8"/>
                  </a:lnTo>
                  <a:lnTo>
                    <a:pt x="226" y="9"/>
                  </a:lnTo>
                  <a:lnTo>
                    <a:pt x="226" y="9"/>
                  </a:lnTo>
                  <a:lnTo>
                    <a:pt x="227" y="10"/>
                  </a:lnTo>
                  <a:lnTo>
                    <a:pt x="227" y="11"/>
                  </a:lnTo>
                  <a:lnTo>
                    <a:pt x="227" y="11"/>
                  </a:lnTo>
                  <a:lnTo>
                    <a:pt x="227" y="12"/>
                  </a:lnTo>
                  <a:lnTo>
                    <a:pt x="227" y="12"/>
                  </a:lnTo>
                  <a:lnTo>
                    <a:pt x="227" y="13"/>
                  </a:lnTo>
                  <a:lnTo>
                    <a:pt x="227" y="499"/>
                  </a:lnTo>
                  <a:lnTo>
                    <a:pt x="227" y="500"/>
                  </a:lnTo>
                  <a:lnTo>
                    <a:pt x="227" y="500"/>
                  </a:lnTo>
                  <a:lnTo>
                    <a:pt x="227" y="502"/>
                  </a:lnTo>
                  <a:lnTo>
                    <a:pt x="227" y="502"/>
                  </a:lnTo>
                  <a:lnTo>
                    <a:pt x="227" y="503"/>
                  </a:lnTo>
                  <a:lnTo>
                    <a:pt x="226" y="503"/>
                  </a:lnTo>
                  <a:lnTo>
                    <a:pt x="226" y="504"/>
                  </a:lnTo>
                  <a:lnTo>
                    <a:pt x="226" y="505"/>
                  </a:lnTo>
                  <a:lnTo>
                    <a:pt x="226" y="505"/>
                  </a:lnTo>
                  <a:lnTo>
                    <a:pt x="226" y="506"/>
                  </a:lnTo>
                  <a:lnTo>
                    <a:pt x="225" y="506"/>
                  </a:lnTo>
                  <a:lnTo>
                    <a:pt x="225" y="507"/>
                  </a:lnTo>
                  <a:lnTo>
                    <a:pt x="225" y="507"/>
                  </a:lnTo>
                  <a:lnTo>
                    <a:pt x="224" y="508"/>
                  </a:lnTo>
                  <a:lnTo>
                    <a:pt x="224" y="508"/>
                  </a:lnTo>
                  <a:lnTo>
                    <a:pt x="224" y="508"/>
                  </a:lnTo>
                  <a:lnTo>
                    <a:pt x="223" y="509"/>
                  </a:lnTo>
                  <a:lnTo>
                    <a:pt x="223" y="509"/>
                  </a:lnTo>
                  <a:lnTo>
                    <a:pt x="222" y="510"/>
                  </a:lnTo>
                  <a:lnTo>
                    <a:pt x="222" y="510"/>
                  </a:lnTo>
                  <a:lnTo>
                    <a:pt x="221" y="510"/>
                  </a:lnTo>
                  <a:lnTo>
                    <a:pt x="221" y="511"/>
                  </a:lnTo>
                  <a:lnTo>
                    <a:pt x="220" y="511"/>
                  </a:lnTo>
                  <a:lnTo>
                    <a:pt x="220" y="511"/>
                  </a:lnTo>
                  <a:lnTo>
                    <a:pt x="219" y="511"/>
                  </a:lnTo>
                  <a:lnTo>
                    <a:pt x="219" y="511"/>
                  </a:lnTo>
                  <a:lnTo>
                    <a:pt x="218" y="512"/>
                  </a:lnTo>
                  <a:lnTo>
                    <a:pt x="217" y="512"/>
                  </a:lnTo>
                  <a:lnTo>
                    <a:pt x="217" y="512"/>
                  </a:lnTo>
                  <a:lnTo>
                    <a:pt x="216" y="512"/>
                  </a:lnTo>
                  <a:lnTo>
                    <a:pt x="216" y="512"/>
                  </a:lnTo>
                  <a:lnTo>
                    <a:pt x="215" y="512"/>
                  </a:lnTo>
                  <a:lnTo>
                    <a:pt x="12" y="512"/>
                  </a:lnTo>
                  <a:lnTo>
                    <a:pt x="12" y="512"/>
                  </a:lnTo>
                  <a:lnTo>
                    <a:pt x="11" y="512"/>
                  </a:lnTo>
                  <a:lnTo>
                    <a:pt x="10" y="512"/>
                  </a:lnTo>
                  <a:lnTo>
                    <a:pt x="10" y="512"/>
                  </a:lnTo>
                  <a:lnTo>
                    <a:pt x="9" y="512"/>
                  </a:lnTo>
                  <a:lnTo>
                    <a:pt x="9" y="511"/>
                  </a:lnTo>
                  <a:lnTo>
                    <a:pt x="8" y="511"/>
                  </a:lnTo>
                  <a:lnTo>
                    <a:pt x="8" y="511"/>
                  </a:lnTo>
                  <a:lnTo>
                    <a:pt x="7" y="511"/>
                  </a:lnTo>
                  <a:lnTo>
                    <a:pt x="7" y="511"/>
                  </a:lnTo>
                  <a:lnTo>
                    <a:pt x="6" y="510"/>
                  </a:lnTo>
                  <a:lnTo>
                    <a:pt x="6" y="510"/>
                  </a:lnTo>
                  <a:lnTo>
                    <a:pt x="5" y="510"/>
                  </a:lnTo>
                  <a:lnTo>
                    <a:pt x="5" y="509"/>
                  </a:lnTo>
                  <a:lnTo>
                    <a:pt x="4" y="509"/>
                  </a:lnTo>
                  <a:lnTo>
                    <a:pt x="4" y="508"/>
                  </a:lnTo>
                  <a:lnTo>
                    <a:pt x="3" y="508"/>
                  </a:lnTo>
                  <a:lnTo>
                    <a:pt x="3" y="508"/>
                  </a:lnTo>
                  <a:lnTo>
                    <a:pt x="3" y="507"/>
                  </a:lnTo>
                  <a:lnTo>
                    <a:pt x="2" y="507"/>
                  </a:lnTo>
                  <a:lnTo>
                    <a:pt x="2" y="506"/>
                  </a:lnTo>
                  <a:lnTo>
                    <a:pt x="2" y="506"/>
                  </a:lnTo>
                  <a:lnTo>
                    <a:pt x="1" y="505"/>
                  </a:lnTo>
                  <a:lnTo>
                    <a:pt x="1" y="505"/>
                  </a:lnTo>
                  <a:lnTo>
                    <a:pt x="1" y="504"/>
                  </a:lnTo>
                  <a:lnTo>
                    <a:pt x="1" y="503"/>
                  </a:lnTo>
                  <a:lnTo>
                    <a:pt x="1" y="503"/>
                  </a:lnTo>
                  <a:lnTo>
                    <a:pt x="0" y="502"/>
                  </a:lnTo>
                  <a:lnTo>
                    <a:pt x="0" y="502"/>
                  </a:lnTo>
                  <a:lnTo>
                    <a:pt x="0" y="500"/>
                  </a:lnTo>
                  <a:lnTo>
                    <a:pt x="0" y="500"/>
                  </a:lnTo>
                  <a:lnTo>
                    <a:pt x="0" y="499"/>
                  </a:lnTo>
                  <a:lnTo>
                    <a:pt x="0" y="13"/>
                  </a:lnTo>
                  <a:lnTo>
                    <a:pt x="0" y="12"/>
                  </a:lnTo>
                  <a:lnTo>
                    <a:pt x="0" y="12"/>
                  </a:lnTo>
                  <a:lnTo>
                    <a:pt x="0" y="11"/>
                  </a:lnTo>
                  <a:lnTo>
                    <a:pt x="0" y="11"/>
                  </a:lnTo>
                  <a:lnTo>
                    <a:pt x="1" y="10"/>
                  </a:lnTo>
                  <a:lnTo>
                    <a:pt x="1" y="9"/>
                  </a:lnTo>
                  <a:lnTo>
                    <a:pt x="1" y="9"/>
                  </a:lnTo>
                  <a:lnTo>
                    <a:pt x="1" y="8"/>
                  </a:lnTo>
                  <a:lnTo>
                    <a:pt x="1" y="8"/>
                  </a:lnTo>
                  <a:lnTo>
                    <a:pt x="2" y="7"/>
                  </a:lnTo>
                  <a:lnTo>
                    <a:pt x="2" y="7"/>
                  </a:lnTo>
                  <a:lnTo>
                    <a:pt x="2" y="6"/>
                  </a:lnTo>
                  <a:lnTo>
                    <a:pt x="3" y="6"/>
                  </a:lnTo>
                  <a:lnTo>
                    <a:pt x="3" y="5"/>
                  </a:lnTo>
                  <a:lnTo>
                    <a:pt x="3" y="5"/>
                  </a:lnTo>
                  <a:lnTo>
                    <a:pt x="4" y="5"/>
                  </a:lnTo>
                  <a:lnTo>
                    <a:pt x="4" y="4"/>
                  </a:lnTo>
                  <a:lnTo>
                    <a:pt x="5" y="4"/>
                  </a:lnTo>
                  <a:lnTo>
                    <a:pt x="5" y="2"/>
                  </a:lnTo>
                  <a:lnTo>
                    <a:pt x="6" y="2"/>
                  </a:lnTo>
                  <a:lnTo>
                    <a:pt x="6" y="2"/>
                  </a:lnTo>
                  <a:lnTo>
                    <a:pt x="7" y="1"/>
                  </a:lnTo>
                  <a:lnTo>
                    <a:pt x="7" y="1"/>
                  </a:lnTo>
                  <a:lnTo>
                    <a:pt x="8" y="1"/>
                  </a:lnTo>
                  <a:lnTo>
                    <a:pt x="8" y="1"/>
                  </a:lnTo>
                  <a:lnTo>
                    <a:pt x="9" y="1"/>
                  </a:lnTo>
                  <a:lnTo>
                    <a:pt x="9" y="0"/>
                  </a:lnTo>
                  <a:lnTo>
                    <a:pt x="10" y="0"/>
                  </a:lnTo>
                  <a:lnTo>
                    <a:pt x="10" y="0"/>
                  </a:lnTo>
                  <a:lnTo>
                    <a:pt x="11" y="0"/>
                  </a:lnTo>
                  <a:lnTo>
                    <a:pt x="12" y="0"/>
                  </a:lnTo>
                  <a:lnTo>
                    <a:pt x="12" y="0"/>
                  </a:lnTo>
                  <a:lnTo>
                    <a:pt x="12" y="0"/>
                  </a:lnTo>
                  <a:close/>
                  <a:moveTo>
                    <a:pt x="46" y="50"/>
                  </a:moveTo>
                  <a:lnTo>
                    <a:pt x="181" y="50"/>
                  </a:lnTo>
                  <a:lnTo>
                    <a:pt x="182" y="50"/>
                  </a:lnTo>
                  <a:lnTo>
                    <a:pt x="182" y="50"/>
                  </a:lnTo>
                  <a:lnTo>
                    <a:pt x="183" y="50"/>
                  </a:lnTo>
                  <a:lnTo>
                    <a:pt x="184" y="50"/>
                  </a:lnTo>
                  <a:lnTo>
                    <a:pt x="184" y="50"/>
                  </a:lnTo>
                  <a:lnTo>
                    <a:pt x="185" y="51"/>
                  </a:lnTo>
                  <a:lnTo>
                    <a:pt x="185" y="51"/>
                  </a:lnTo>
                  <a:lnTo>
                    <a:pt x="186" y="51"/>
                  </a:lnTo>
                  <a:lnTo>
                    <a:pt x="186" y="51"/>
                  </a:lnTo>
                  <a:lnTo>
                    <a:pt x="187" y="51"/>
                  </a:lnTo>
                  <a:lnTo>
                    <a:pt x="187" y="52"/>
                  </a:lnTo>
                  <a:lnTo>
                    <a:pt x="188" y="52"/>
                  </a:lnTo>
                  <a:lnTo>
                    <a:pt x="188" y="52"/>
                  </a:lnTo>
                  <a:lnTo>
                    <a:pt x="189" y="53"/>
                  </a:lnTo>
                  <a:lnTo>
                    <a:pt x="189" y="53"/>
                  </a:lnTo>
                  <a:lnTo>
                    <a:pt x="190" y="53"/>
                  </a:lnTo>
                  <a:lnTo>
                    <a:pt x="190" y="54"/>
                  </a:lnTo>
                  <a:lnTo>
                    <a:pt x="190" y="54"/>
                  </a:lnTo>
                  <a:lnTo>
                    <a:pt x="191" y="54"/>
                  </a:lnTo>
                  <a:lnTo>
                    <a:pt x="191" y="55"/>
                  </a:lnTo>
                  <a:lnTo>
                    <a:pt x="191" y="55"/>
                  </a:lnTo>
                  <a:lnTo>
                    <a:pt x="191" y="56"/>
                  </a:lnTo>
                  <a:lnTo>
                    <a:pt x="192" y="56"/>
                  </a:lnTo>
                  <a:lnTo>
                    <a:pt x="192" y="57"/>
                  </a:lnTo>
                  <a:lnTo>
                    <a:pt x="192" y="57"/>
                  </a:lnTo>
                  <a:lnTo>
                    <a:pt x="192" y="58"/>
                  </a:lnTo>
                  <a:lnTo>
                    <a:pt x="192" y="58"/>
                  </a:lnTo>
                  <a:lnTo>
                    <a:pt x="193" y="59"/>
                  </a:lnTo>
                  <a:lnTo>
                    <a:pt x="193" y="60"/>
                  </a:lnTo>
                  <a:lnTo>
                    <a:pt x="193" y="60"/>
                  </a:lnTo>
                  <a:lnTo>
                    <a:pt x="193" y="61"/>
                  </a:lnTo>
                  <a:lnTo>
                    <a:pt x="193" y="61"/>
                  </a:lnTo>
                  <a:lnTo>
                    <a:pt x="193" y="93"/>
                  </a:lnTo>
                  <a:lnTo>
                    <a:pt x="193" y="93"/>
                  </a:lnTo>
                  <a:lnTo>
                    <a:pt x="193" y="94"/>
                  </a:lnTo>
                  <a:lnTo>
                    <a:pt x="193" y="94"/>
                  </a:lnTo>
                  <a:lnTo>
                    <a:pt x="193" y="95"/>
                  </a:lnTo>
                  <a:lnTo>
                    <a:pt x="192" y="95"/>
                  </a:lnTo>
                  <a:lnTo>
                    <a:pt x="192" y="96"/>
                  </a:lnTo>
                  <a:lnTo>
                    <a:pt x="192" y="97"/>
                  </a:lnTo>
                  <a:lnTo>
                    <a:pt x="192" y="97"/>
                  </a:lnTo>
                  <a:lnTo>
                    <a:pt x="192" y="97"/>
                  </a:lnTo>
                  <a:lnTo>
                    <a:pt x="191" y="98"/>
                  </a:lnTo>
                  <a:lnTo>
                    <a:pt x="191" y="98"/>
                  </a:lnTo>
                  <a:lnTo>
                    <a:pt x="191" y="99"/>
                  </a:lnTo>
                  <a:lnTo>
                    <a:pt x="191" y="99"/>
                  </a:lnTo>
                  <a:lnTo>
                    <a:pt x="190" y="100"/>
                  </a:lnTo>
                  <a:lnTo>
                    <a:pt x="190" y="100"/>
                  </a:lnTo>
                  <a:lnTo>
                    <a:pt x="190" y="100"/>
                  </a:lnTo>
                  <a:lnTo>
                    <a:pt x="189" y="101"/>
                  </a:lnTo>
                  <a:lnTo>
                    <a:pt x="189" y="101"/>
                  </a:lnTo>
                  <a:lnTo>
                    <a:pt x="188" y="102"/>
                  </a:lnTo>
                  <a:lnTo>
                    <a:pt x="188" y="102"/>
                  </a:lnTo>
                  <a:lnTo>
                    <a:pt x="187" y="102"/>
                  </a:lnTo>
                  <a:lnTo>
                    <a:pt x="187" y="102"/>
                  </a:lnTo>
                  <a:lnTo>
                    <a:pt x="186" y="103"/>
                  </a:lnTo>
                  <a:lnTo>
                    <a:pt x="186" y="103"/>
                  </a:lnTo>
                  <a:lnTo>
                    <a:pt x="185" y="103"/>
                  </a:lnTo>
                  <a:lnTo>
                    <a:pt x="185" y="103"/>
                  </a:lnTo>
                  <a:lnTo>
                    <a:pt x="184" y="103"/>
                  </a:lnTo>
                  <a:lnTo>
                    <a:pt x="184" y="104"/>
                  </a:lnTo>
                  <a:lnTo>
                    <a:pt x="183" y="104"/>
                  </a:lnTo>
                  <a:lnTo>
                    <a:pt x="182" y="104"/>
                  </a:lnTo>
                  <a:lnTo>
                    <a:pt x="182" y="104"/>
                  </a:lnTo>
                  <a:lnTo>
                    <a:pt x="181" y="104"/>
                  </a:lnTo>
                  <a:lnTo>
                    <a:pt x="46" y="104"/>
                  </a:lnTo>
                  <a:lnTo>
                    <a:pt x="45" y="104"/>
                  </a:lnTo>
                  <a:lnTo>
                    <a:pt x="45" y="104"/>
                  </a:lnTo>
                  <a:lnTo>
                    <a:pt x="44" y="104"/>
                  </a:lnTo>
                  <a:lnTo>
                    <a:pt x="44" y="104"/>
                  </a:lnTo>
                  <a:lnTo>
                    <a:pt x="43" y="103"/>
                  </a:lnTo>
                  <a:lnTo>
                    <a:pt x="43" y="103"/>
                  </a:lnTo>
                  <a:lnTo>
                    <a:pt x="42" y="103"/>
                  </a:lnTo>
                  <a:lnTo>
                    <a:pt x="41" y="103"/>
                  </a:lnTo>
                  <a:lnTo>
                    <a:pt x="41" y="103"/>
                  </a:lnTo>
                  <a:lnTo>
                    <a:pt x="40" y="102"/>
                  </a:lnTo>
                  <a:lnTo>
                    <a:pt x="40" y="102"/>
                  </a:lnTo>
                  <a:lnTo>
                    <a:pt x="39" y="102"/>
                  </a:lnTo>
                  <a:lnTo>
                    <a:pt x="39" y="102"/>
                  </a:lnTo>
                  <a:lnTo>
                    <a:pt x="39" y="101"/>
                  </a:lnTo>
                  <a:lnTo>
                    <a:pt x="38" y="101"/>
                  </a:lnTo>
                  <a:lnTo>
                    <a:pt x="38" y="100"/>
                  </a:lnTo>
                  <a:lnTo>
                    <a:pt x="37" y="100"/>
                  </a:lnTo>
                  <a:lnTo>
                    <a:pt x="37" y="100"/>
                  </a:lnTo>
                  <a:lnTo>
                    <a:pt x="37" y="99"/>
                  </a:lnTo>
                  <a:lnTo>
                    <a:pt x="36" y="99"/>
                  </a:lnTo>
                  <a:lnTo>
                    <a:pt x="36" y="98"/>
                  </a:lnTo>
                  <a:lnTo>
                    <a:pt x="36" y="98"/>
                  </a:lnTo>
                  <a:lnTo>
                    <a:pt x="36" y="97"/>
                  </a:lnTo>
                  <a:lnTo>
                    <a:pt x="35" y="97"/>
                  </a:lnTo>
                  <a:lnTo>
                    <a:pt x="35" y="97"/>
                  </a:lnTo>
                  <a:lnTo>
                    <a:pt x="35" y="96"/>
                  </a:lnTo>
                  <a:lnTo>
                    <a:pt x="35" y="95"/>
                  </a:lnTo>
                  <a:lnTo>
                    <a:pt x="35" y="95"/>
                  </a:lnTo>
                  <a:lnTo>
                    <a:pt x="35" y="94"/>
                  </a:lnTo>
                  <a:lnTo>
                    <a:pt x="34" y="94"/>
                  </a:lnTo>
                  <a:lnTo>
                    <a:pt x="34" y="93"/>
                  </a:lnTo>
                  <a:lnTo>
                    <a:pt x="34" y="93"/>
                  </a:lnTo>
                  <a:lnTo>
                    <a:pt x="34" y="61"/>
                  </a:lnTo>
                  <a:lnTo>
                    <a:pt x="34" y="61"/>
                  </a:lnTo>
                  <a:lnTo>
                    <a:pt x="34" y="60"/>
                  </a:lnTo>
                  <a:lnTo>
                    <a:pt x="35" y="60"/>
                  </a:lnTo>
                  <a:lnTo>
                    <a:pt x="35" y="59"/>
                  </a:lnTo>
                  <a:lnTo>
                    <a:pt x="35" y="58"/>
                  </a:lnTo>
                  <a:lnTo>
                    <a:pt x="35" y="58"/>
                  </a:lnTo>
                  <a:lnTo>
                    <a:pt x="35" y="57"/>
                  </a:lnTo>
                  <a:lnTo>
                    <a:pt x="35" y="57"/>
                  </a:lnTo>
                  <a:lnTo>
                    <a:pt x="36" y="56"/>
                  </a:lnTo>
                  <a:lnTo>
                    <a:pt x="36" y="56"/>
                  </a:lnTo>
                  <a:lnTo>
                    <a:pt x="36" y="55"/>
                  </a:lnTo>
                  <a:lnTo>
                    <a:pt x="36" y="55"/>
                  </a:lnTo>
                  <a:lnTo>
                    <a:pt x="37" y="54"/>
                  </a:lnTo>
                  <a:lnTo>
                    <a:pt x="37" y="54"/>
                  </a:lnTo>
                  <a:lnTo>
                    <a:pt x="37" y="54"/>
                  </a:lnTo>
                  <a:lnTo>
                    <a:pt x="38" y="53"/>
                  </a:lnTo>
                  <a:lnTo>
                    <a:pt x="38" y="53"/>
                  </a:lnTo>
                  <a:lnTo>
                    <a:pt x="39" y="53"/>
                  </a:lnTo>
                  <a:lnTo>
                    <a:pt x="39" y="52"/>
                  </a:lnTo>
                  <a:lnTo>
                    <a:pt x="39" y="52"/>
                  </a:lnTo>
                  <a:lnTo>
                    <a:pt x="40" y="52"/>
                  </a:lnTo>
                  <a:lnTo>
                    <a:pt x="40" y="51"/>
                  </a:lnTo>
                  <a:lnTo>
                    <a:pt x="41" y="51"/>
                  </a:lnTo>
                  <a:lnTo>
                    <a:pt x="41" y="51"/>
                  </a:lnTo>
                  <a:lnTo>
                    <a:pt x="42" y="51"/>
                  </a:lnTo>
                  <a:lnTo>
                    <a:pt x="43" y="51"/>
                  </a:lnTo>
                  <a:lnTo>
                    <a:pt x="43" y="50"/>
                  </a:lnTo>
                  <a:lnTo>
                    <a:pt x="44" y="50"/>
                  </a:lnTo>
                  <a:lnTo>
                    <a:pt x="44" y="50"/>
                  </a:lnTo>
                  <a:lnTo>
                    <a:pt x="45" y="50"/>
                  </a:lnTo>
                  <a:lnTo>
                    <a:pt x="45" y="50"/>
                  </a:lnTo>
                  <a:lnTo>
                    <a:pt x="46" y="50"/>
                  </a:lnTo>
                  <a:lnTo>
                    <a:pt x="46" y="50"/>
                  </a:lnTo>
                  <a:close/>
                  <a:moveTo>
                    <a:pt x="46" y="119"/>
                  </a:moveTo>
                  <a:lnTo>
                    <a:pt x="181" y="119"/>
                  </a:lnTo>
                  <a:lnTo>
                    <a:pt x="182" y="119"/>
                  </a:lnTo>
                  <a:lnTo>
                    <a:pt x="182" y="119"/>
                  </a:lnTo>
                  <a:lnTo>
                    <a:pt x="183" y="119"/>
                  </a:lnTo>
                  <a:lnTo>
                    <a:pt x="184" y="120"/>
                  </a:lnTo>
                  <a:lnTo>
                    <a:pt x="184" y="120"/>
                  </a:lnTo>
                  <a:lnTo>
                    <a:pt x="185" y="120"/>
                  </a:lnTo>
                  <a:lnTo>
                    <a:pt x="185" y="120"/>
                  </a:lnTo>
                  <a:lnTo>
                    <a:pt x="186" y="120"/>
                  </a:lnTo>
                  <a:lnTo>
                    <a:pt x="186" y="120"/>
                  </a:lnTo>
                  <a:lnTo>
                    <a:pt x="187" y="121"/>
                  </a:lnTo>
                  <a:lnTo>
                    <a:pt x="187" y="121"/>
                  </a:lnTo>
                  <a:lnTo>
                    <a:pt x="188" y="121"/>
                  </a:lnTo>
                  <a:lnTo>
                    <a:pt x="188" y="122"/>
                  </a:lnTo>
                  <a:lnTo>
                    <a:pt x="189" y="122"/>
                  </a:lnTo>
                  <a:lnTo>
                    <a:pt x="189" y="122"/>
                  </a:lnTo>
                  <a:lnTo>
                    <a:pt x="190" y="123"/>
                  </a:lnTo>
                  <a:lnTo>
                    <a:pt x="190" y="123"/>
                  </a:lnTo>
                  <a:lnTo>
                    <a:pt x="190" y="123"/>
                  </a:lnTo>
                  <a:lnTo>
                    <a:pt x="191" y="124"/>
                  </a:lnTo>
                  <a:lnTo>
                    <a:pt x="191" y="124"/>
                  </a:lnTo>
                  <a:lnTo>
                    <a:pt x="191" y="125"/>
                  </a:lnTo>
                  <a:lnTo>
                    <a:pt x="191" y="125"/>
                  </a:lnTo>
                  <a:lnTo>
                    <a:pt x="192" y="126"/>
                  </a:lnTo>
                  <a:lnTo>
                    <a:pt x="192" y="126"/>
                  </a:lnTo>
                  <a:lnTo>
                    <a:pt x="192" y="127"/>
                  </a:lnTo>
                  <a:lnTo>
                    <a:pt x="192" y="127"/>
                  </a:lnTo>
                  <a:lnTo>
                    <a:pt x="192" y="128"/>
                  </a:lnTo>
                  <a:lnTo>
                    <a:pt x="193" y="128"/>
                  </a:lnTo>
                  <a:lnTo>
                    <a:pt x="193" y="129"/>
                  </a:lnTo>
                  <a:lnTo>
                    <a:pt x="193" y="129"/>
                  </a:lnTo>
                  <a:lnTo>
                    <a:pt x="193" y="130"/>
                  </a:lnTo>
                  <a:lnTo>
                    <a:pt x="193" y="131"/>
                  </a:lnTo>
                  <a:lnTo>
                    <a:pt x="193" y="162"/>
                  </a:lnTo>
                  <a:lnTo>
                    <a:pt x="193" y="162"/>
                  </a:lnTo>
                  <a:lnTo>
                    <a:pt x="193" y="163"/>
                  </a:lnTo>
                  <a:lnTo>
                    <a:pt x="193" y="164"/>
                  </a:lnTo>
                  <a:lnTo>
                    <a:pt x="193" y="164"/>
                  </a:lnTo>
                  <a:lnTo>
                    <a:pt x="192" y="165"/>
                  </a:lnTo>
                  <a:lnTo>
                    <a:pt x="192" y="165"/>
                  </a:lnTo>
                  <a:lnTo>
                    <a:pt x="192" y="166"/>
                  </a:lnTo>
                  <a:lnTo>
                    <a:pt x="192" y="166"/>
                  </a:lnTo>
                  <a:lnTo>
                    <a:pt x="192" y="167"/>
                  </a:lnTo>
                  <a:lnTo>
                    <a:pt x="191" y="167"/>
                  </a:lnTo>
                  <a:lnTo>
                    <a:pt x="191" y="168"/>
                  </a:lnTo>
                  <a:lnTo>
                    <a:pt x="191" y="168"/>
                  </a:lnTo>
                  <a:lnTo>
                    <a:pt x="191" y="169"/>
                  </a:lnTo>
                  <a:lnTo>
                    <a:pt x="190" y="169"/>
                  </a:lnTo>
                  <a:lnTo>
                    <a:pt x="190" y="169"/>
                  </a:lnTo>
                  <a:lnTo>
                    <a:pt x="190" y="170"/>
                  </a:lnTo>
                  <a:lnTo>
                    <a:pt x="189" y="170"/>
                  </a:lnTo>
                  <a:lnTo>
                    <a:pt x="189" y="171"/>
                  </a:lnTo>
                  <a:lnTo>
                    <a:pt x="188" y="171"/>
                  </a:lnTo>
                  <a:lnTo>
                    <a:pt x="188" y="171"/>
                  </a:lnTo>
                  <a:lnTo>
                    <a:pt x="187" y="171"/>
                  </a:lnTo>
                  <a:lnTo>
                    <a:pt x="187" y="172"/>
                  </a:lnTo>
                  <a:lnTo>
                    <a:pt x="186" y="172"/>
                  </a:lnTo>
                  <a:lnTo>
                    <a:pt x="186" y="172"/>
                  </a:lnTo>
                  <a:lnTo>
                    <a:pt x="185" y="172"/>
                  </a:lnTo>
                  <a:lnTo>
                    <a:pt x="185" y="173"/>
                  </a:lnTo>
                  <a:lnTo>
                    <a:pt x="184" y="173"/>
                  </a:lnTo>
                  <a:lnTo>
                    <a:pt x="184" y="173"/>
                  </a:lnTo>
                  <a:lnTo>
                    <a:pt x="183" y="173"/>
                  </a:lnTo>
                  <a:lnTo>
                    <a:pt x="182" y="173"/>
                  </a:lnTo>
                  <a:lnTo>
                    <a:pt x="182" y="173"/>
                  </a:lnTo>
                  <a:lnTo>
                    <a:pt x="181" y="173"/>
                  </a:lnTo>
                  <a:lnTo>
                    <a:pt x="46" y="173"/>
                  </a:lnTo>
                  <a:lnTo>
                    <a:pt x="45" y="173"/>
                  </a:lnTo>
                  <a:lnTo>
                    <a:pt x="45" y="173"/>
                  </a:lnTo>
                  <a:lnTo>
                    <a:pt x="44" y="173"/>
                  </a:lnTo>
                  <a:lnTo>
                    <a:pt x="44" y="173"/>
                  </a:lnTo>
                  <a:lnTo>
                    <a:pt x="43" y="173"/>
                  </a:lnTo>
                  <a:lnTo>
                    <a:pt x="43" y="173"/>
                  </a:lnTo>
                  <a:lnTo>
                    <a:pt x="42" y="172"/>
                  </a:lnTo>
                  <a:lnTo>
                    <a:pt x="41" y="172"/>
                  </a:lnTo>
                  <a:lnTo>
                    <a:pt x="41" y="172"/>
                  </a:lnTo>
                  <a:lnTo>
                    <a:pt x="40" y="172"/>
                  </a:lnTo>
                  <a:lnTo>
                    <a:pt x="40" y="171"/>
                  </a:lnTo>
                  <a:lnTo>
                    <a:pt x="39" y="171"/>
                  </a:lnTo>
                  <a:lnTo>
                    <a:pt x="39" y="171"/>
                  </a:lnTo>
                  <a:lnTo>
                    <a:pt x="39" y="171"/>
                  </a:lnTo>
                  <a:lnTo>
                    <a:pt x="38" y="170"/>
                  </a:lnTo>
                  <a:lnTo>
                    <a:pt x="38" y="170"/>
                  </a:lnTo>
                  <a:lnTo>
                    <a:pt x="37" y="169"/>
                  </a:lnTo>
                  <a:lnTo>
                    <a:pt x="37" y="169"/>
                  </a:lnTo>
                  <a:lnTo>
                    <a:pt x="37" y="169"/>
                  </a:lnTo>
                  <a:lnTo>
                    <a:pt x="36" y="168"/>
                  </a:lnTo>
                  <a:lnTo>
                    <a:pt x="36" y="168"/>
                  </a:lnTo>
                  <a:lnTo>
                    <a:pt x="36" y="167"/>
                  </a:lnTo>
                  <a:lnTo>
                    <a:pt x="36" y="167"/>
                  </a:lnTo>
                  <a:lnTo>
                    <a:pt x="35" y="166"/>
                  </a:lnTo>
                  <a:lnTo>
                    <a:pt x="35" y="166"/>
                  </a:lnTo>
                  <a:lnTo>
                    <a:pt x="35" y="165"/>
                  </a:lnTo>
                  <a:lnTo>
                    <a:pt x="35" y="165"/>
                  </a:lnTo>
                  <a:lnTo>
                    <a:pt x="35" y="164"/>
                  </a:lnTo>
                  <a:lnTo>
                    <a:pt x="35" y="164"/>
                  </a:lnTo>
                  <a:lnTo>
                    <a:pt x="34" y="163"/>
                  </a:lnTo>
                  <a:lnTo>
                    <a:pt x="34" y="162"/>
                  </a:lnTo>
                  <a:lnTo>
                    <a:pt x="34" y="162"/>
                  </a:lnTo>
                  <a:lnTo>
                    <a:pt x="34" y="131"/>
                  </a:lnTo>
                  <a:lnTo>
                    <a:pt x="34" y="130"/>
                  </a:lnTo>
                  <a:lnTo>
                    <a:pt x="34" y="129"/>
                  </a:lnTo>
                  <a:lnTo>
                    <a:pt x="35" y="129"/>
                  </a:lnTo>
                  <a:lnTo>
                    <a:pt x="35" y="128"/>
                  </a:lnTo>
                  <a:lnTo>
                    <a:pt x="35" y="128"/>
                  </a:lnTo>
                  <a:lnTo>
                    <a:pt x="35" y="127"/>
                  </a:lnTo>
                  <a:lnTo>
                    <a:pt x="35" y="127"/>
                  </a:lnTo>
                  <a:lnTo>
                    <a:pt x="35" y="126"/>
                  </a:lnTo>
                  <a:lnTo>
                    <a:pt x="36" y="126"/>
                  </a:lnTo>
                  <a:lnTo>
                    <a:pt x="36" y="125"/>
                  </a:lnTo>
                  <a:lnTo>
                    <a:pt x="36" y="125"/>
                  </a:lnTo>
                  <a:lnTo>
                    <a:pt x="36" y="124"/>
                  </a:lnTo>
                  <a:lnTo>
                    <a:pt x="37" y="124"/>
                  </a:lnTo>
                  <a:lnTo>
                    <a:pt x="37" y="123"/>
                  </a:lnTo>
                  <a:lnTo>
                    <a:pt x="37" y="123"/>
                  </a:lnTo>
                  <a:lnTo>
                    <a:pt x="38" y="123"/>
                  </a:lnTo>
                  <a:lnTo>
                    <a:pt x="38" y="122"/>
                  </a:lnTo>
                  <a:lnTo>
                    <a:pt x="39" y="122"/>
                  </a:lnTo>
                  <a:lnTo>
                    <a:pt x="39" y="122"/>
                  </a:lnTo>
                  <a:lnTo>
                    <a:pt x="39" y="121"/>
                  </a:lnTo>
                  <a:lnTo>
                    <a:pt x="40" y="121"/>
                  </a:lnTo>
                  <a:lnTo>
                    <a:pt x="40" y="121"/>
                  </a:lnTo>
                  <a:lnTo>
                    <a:pt x="41" y="120"/>
                  </a:lnTo>
                  <a:lnTo>
                    <a:pt x="41" y="120"/>
                  </a:lnTo>
                  <a:lnTo>
                    <a:pt x="42" y="120"/>
                  </a:lnTo>
                  <a:lnTo>
                    <a:pt x="43" y="120"/>
                  </a:lnTo>
                  <a:lnTo>
                    <a:pt x="43" y="120"/>
                  </a:lnTo>
                  <a:lnTo>
                    <a:pt x="44" y="120"/>
                  </a:lnTo>
                  <a:lnTo>
                    <a:pt x="44" y="119"/>
                  </a:lnTo>
                  <a:lnTo>
                    <a:pt x="45" y="119"/>
                  </a:lnTo>
                  <a:lnTo>
                    <a:pt x="45" y="119"/>
                  </a:lnTo>
                  <a:lnTo>
                    <a:pt x="46" y="119"/>
                  </a:lnTo>
                  <a:lnTo>
                    <a:pt x="46" y="119"/>
                  </a:lnTo>
                  <a:close/>
                  <a:moveTo>
                    <a:pt x="46" y="189"/>
                  </a:moveTo>
                  <a:lnTo>
                    <a:pt x="181" y="189"/>
                  </a:lnTo>
                  <a:lnTo>
                    <a:pt x="182" y="189"/>
                  </a:lnTo>
                  <a:lnTo>
                    <a:pt x="182" y="189"/>
                  </a:lnTo>
                  <a:lnTo>
                    <a:pt x="183" y="189"/>
                  </a:lnTo>
                  <a:lnTo>
                    <a:pt x="184" y="189"/>
                  </a:lnTo>
                  <a:lnTo>
                    <a:pt x="184" y="189"/>
                  </a:lnTo>
                  <a:lnTo>
                    <a:pt x="185" y="189"/>
                  </a:lnTo>
                  <a:lnTo>
                    <a:pt x="185" y="189"/>
                  </a:lnTo>
                  <a:lnTo>
                    <a:pt x="186" y="189"/>
                  </a:lnTo>
                  <a:lnTo>
                    <a:pt x="186" y="190"/>
                  </a:lnTo>
                  <a:lnTo>
                    <a:pt x="187" y="190"/>
                  </a:lnTo>
                  <a:lnTo>
                    <a:pt x="187" y="190"/>
                  </a:lnTo>
                  <a:lnTo>
                    <a:pt x="188" y="191"/>
                  </a:lnTo>
                  <a:lnTo>
                    <a:pt x="188" y="191"/>
                  </a:lnTo>
                  <a:lnTo>
                    <a:pt x="189" y="191"/>
                  </a:lnTo>
                  <a:lnTo>
                    <a:pt x="189" y="192"/>
                  </a:lnTo>
                  <a:lnTo>
                    <a:pt x="190" y="192"/>
                  </a:lnTo>
                  <a:lnTo>
                    <a:pt x="190" y="192"/>
                  </a:lnTo>
                  <a:lnTo>
                    <a:pt x="190" y="193"/>
                  </a:lnTo>
                  <a:lnTo>
                    <a:pt x="191" y="193"/>
                  </a:lnTo>
                  <a:lnTo>
                    <a:pt x="191" y="194"/>
                  </a:lnTo>
                  <a:lnTo>
                    <a:pt x="191" y="194"/>
                  </a:lnTo>
                  <a:lnTo>
                    <a:pt x="191" y="195"/>
                  </a:lnTo>
                  <a:lnTo>
                    <a:pt x="192" y="195"/>
                  </a:lnTo>
                  <a:lnTo>
                    <a:pt x="192" y="196"/>
                  </a:lnTo>
                  <a:lnTo>
                    <a:pt x="192" y="196"/>
                  </a:lnTo>
                  <a:lnTo>
                    <a:pt x="192" y="197"/>
                  </a:lnTo>
                  <a:lnTo>
                    <a:pt x="192" y="197"/>
                  </a:lnTo>
                  <a:lnTo>
                    <a:pt x="193" y="198"/>
                  </a:lnTo>
                  <a:lnTo>
                    <a:pt x="193" y="198"/>
                  </a:lnTo>
                  <a:lnTo>
                    <a:pt x="193" y="199"/>
                  </a:lnTo>
                  <a:lnTo>
                    <a:pt x="193" y="199"/>
                  </a:lnTo>
                  <a:lnTo>
                    <a:pt x="193" y="200"/>
                  </a:lnTo>
                  <a:lnTo>
                    <a:pt x="193" y="231"/>
                  </a:lnTo>
                  <a:lnTo>
                    <a:pt x="193" y="232"/>
                  </a:lnTo>
                  <a:lnTo>
                    <a:pt x="193" y="232"/>
                  </a:lnTo>
                  <a:lnTo>
                    <a:pt x="193" y="233"/>
                  </a:lnTo>
                  <a:lnTo>
                    <a:pt x="193" y="233"/>
                  </a:lnTo>
                  <a:lnTo>
                    <a:pt x="192" y="234"/>
                  </a:lnTo>
                  <a:lnTo>
                    <a:pt x="192" y="235"/>
                  </a:lnTo>
                  <a:lnTo>
                    <a:pt x="192" y="235"/>
                  </a:lnTo>
                  <a:lnTo>
                    <a:pt x="192" y="236"/>
                  </a:lnTo>
                  <a:lnTo>
                    <a:pt x="192" y="236"/>
                  </a:lnTo>
                  <a:lnTo>
                    <a:pt x="191" y="237"/>
                  </a:lnTo>
                  <a:lnTo>
                    <a:pt x="191" y="237"/>
                  </a:lnTo>
                  <a:lnTo>
                    <a:pt x="191" y="238"/>
                  </a:lnTo>
                  <a:lnTo>
                    <a:pt x="191" y="238"/>
                  </a:lnTo>
                  <a:lnTo>
                    <a:pt x="190" y="238"/>
                  </a:lnTo>
                  <a:lnTo>
                    <a:pt x="190" y="239"/>
                  </a:lnTo>
                  <a:lnTo>
                    <a:pt x="190" y="239"/>
                  </a:lnTo>
                  <a:lnTo>
                    <a:pt x="189" y="240"/>
                  </a:lnTo>
                  <a:lnTo>
                    <a:pt x="189" y="240"/>
                  </a:lnTo>
                  <a:lnTo>
                    <a:pt x="188" y="240"/>
                  </a:lnTo>
                  <a:lnTo>
                    <a:pt x="188" y="241"/>
                  </a:lnTo>
                  <a:lnTo>
                    <a:pt x="187" y="241"/>
                  </a:lnTo>
                  <a:lnTo>
                    <a:pt x="187" y="241"/>
                  </a:lnTo>
                  <a:lnTo>
                    <a:pt x="186" y="241"/>
                  </a:lnTo>
                  <a:lnTo>
                    <a:pt x="186" y="242"/>
                  </a:lnTo>
                  <a:lnTo>
                    <a:pt x="185" y="242"/>
                  </a:lnTo>
                  <a:lnTo>
                    <a:pt x="185" y="242"/>
                  </a:lnTo>
                  <a:lnTo>
                    <a:pt x="184" y="242"/>
                  </a:lnTo>
                  <a:lnTo>
                    <a:pt x="184" y="242"/>
                  </a:lnTo>
                  <a:lnTo>
                    <a:pt x="183" y="242"/>
                  </a:lnTo>
                  <a:lnTo>
                    <a:pt x="182" y="242"/>
                  </a:lnTo>
                  <a:lnTo>
                    <a:pt x="182" y="242"/>
                  </a:lnTo>
                  <a:lnTo>
                    <a:pt x="181" y="242"/>
                  </a:lnTo>
                  <a:lnTo>
                    <a:pt x="46" y="242"/>
                  </a:lnTo>
                  <a:lnTo>
                    <a:pt x="45" y="242"/>
                  </a:lnTo>
                  <a:lnTo>
                    <a:pt x="45" y="242"/>
                  </a:lnTo>
                  <a:lnTo>
                    <a:pt x="44" y="242"/>
                  </a:lnTo>
                  <a:lnTo>
                    <a:pt x="44" y="242"/>
                  </a:lnTo>
                  <a:lnTo>
                    <a:pt x="43" y="242"/>
                  </a:lnTo>
                  <a:lnTo>
                    <a:pt x="43" y="242"/>
                  </a:lnTo>
                  <a:lnTo>
                    <a:pt x="42" y="242"/>
                  </a:lnTo>
                  <a:lnTo>
                    <a:pt x="41" y="242"/>
                  </a:lnTo>
                  <a:lnTo>
                    <a:pt x="41" y="241"/>
                  </a:lnTo>
                  <a:lnTo>
                    <a:pt x="40" y="241"/>
                  </a:lnTo>
                  <a:lnTo>
                    <a:pt x="40" y="241"/>
                  </a:lnTo>
                  <a:lnTo>
                    <a:pt x="39" y="241"/>
                  </a:lnTo>
                  <a:lnTo>
                    <a:pt x="39" y="240"/>
                  </a:lnTo>
                  <a:lnTo>
                    <a:pt x="39" y="240"/>
                  </a:lnTo>
                  <a:lnTo>
                    <a:pt x="38" y="240"/>
                  </a:lnTo>
                  <a:lnTo>
                    <a:pt x="38" y="239"/>
                  </a:lnTo>
                  <a:lnTo>
                    <a:pt x="37" y="239"/>
                  </a:lnTo>
                  <a:lnTo>
                    <a:pt x="37" y="238"/>
                  </a:lnTo>
                  <a:lnTo>
                    <a:pt x="37" y="238"/>
                  </a:lnTo>
                  <a:lnTo>
                    <a:pt x="36" y="238"/>
                  </a:lnTo>
                  <a:lnTo>
                    <a:pt x="36" y="237"/>
                  </a:lnTo>
                  <a:lnTo>
                    <a:pt x="36" y="237"/>
                  </a:lnTo>
                  <a:lnTo>
                    <a:pt x="36" y="236"/>
                  </a:lnTo>
                  <a:lnTo>
                    <a:pt x="35" y="236"/>
                  </a:lnTo>
                  <a:lnTo>
                    <a:pt x="35" y="235"/>
                  </a:lnTo>
                  <a:lnTo>
                    <a:pt x="35" y="235"/>
                  </a:lnTo>
                  <a:lnTo>
                    <a:pt x="35" y="234"/>
                  </a:lnTo>
                  <a:lnTo>
                    <a:pt x="35" y="233"/>
                  </a:lnTo>
                  <a:lnTo>
                    <a:pt x="35" y="233"/>
                  </a:lnTo>
                  <a:lnTo>
                    <a:pt x="34" y="232"/>
                  </a:lnTo>
                  <a:lnTo>
                    <a:pt x="34" y="232"/>
                  </a:lnTo>
                  <a:lnTo>
                    <a:pt x="34" y="231"/>
                  </a:lnTo>
                  <a:lnTo>
                    <a:pt x="34" y="200"/>
                  </a:lnTo>
                  <a:lnTo>
                    <a:pt x="34" y="199"/>
                  </a:lnTo>
                  <a:lnTo>
                    <a:pt x="34" y="199"/>
                  </a:lnTo>
                  <a:lnTo>
                    <a:pt x="35" y="198"/>
                  </a:lnTo>
                  <a:lnTo>
                    <a:pt x="35" y="198"/>
                  </a:lnTo>
                  <a:lnTo>
                    <a:pt x="35" y="197"/>
                  </a:lnTo>
                  <a:lnTo>
                    <a:pt x="35" y="197"/>
                  </a:lnTo>
                  <a:lnTo>
                    <a:pt x="35" y="196"/>
                  </a:lnTo>
                  <a:lnTo>
                    <a:pt x="35" y="196"/>
                  </a:lnTo>
                  <a:lnTo>
                    <a:pt x="36" y="195"/>
                  </a:lnTo>
                  <a:lnTo>
                    <a:pt x="36" y="195"/>
                  </a:lnTo>
                  <a:lnTo>
                    <a:pt x="36" y="194"/>
                  </a:lnTo>
                  <a:lnTo>
                    <a:pt x="36" y="194"/>
                  </a:lnTo>
                  <a:lnTo>
                    <a:pt x="37" y="193"/>
                  </a:lnTo>
                  <a:lnTo>
                    <a:pt x="37" y="193"/>
                  </a:lnTo>
                  <a:lnTo>
                    <a:pt x="37" y="192"/>
                  </a:lnTo>
                  <a:lnTo>
                    <a:pt x="38" y="192"/>
                  </a:lnTo>
                  <a:lnTo>
                    <a:pt x="38" y="192"/>
                  </a:lnTo>
                  <a:lnTo>
                    <a:pt x="39" y="191"/>
                  </a:lnTo>
                  <a:lnTo>
                    <a:pt x="39" y="191"/>
                  </a:lnTo>
                  <a:lnTo>
                    <a:pt x="39" y="191"/>
                  </a:lnTo>
                  <a:lnTo>
                    <a:pt x="40" y="190"/>
                  </a:lnTo>
                  <a:lnTo>
                    <a:pt x="40" y="190"/>
                  </a:lnTo>
                  <a:lnTo>
                    <a:pt x="41" y="190"/>
                  </a:lnTo>
                  <a:lnTo>
                    <a:pt x="41" y="189"/>
                  </a:lnTo>
                  <a:lnTo>
                    <a:pt x="42" y="189"/>
                  </a:lnTo>
                  <a:lnTo>
                    <a:pt x="43" y="189"/>
                  </a:lnTo>
                  <a:lnTo>
                    <a:pt x="43" y="189"/>
                  </a:lnTo>
                  <a:lnTo>
                    <a:pt x="44" y="189"/>
                  </a:lnTo>
                  <a:lnTo>
                    <a:pt x="44" y="189"/>
                  </a:lnTo>
                  <a:lnTo>
                    <a:pt x="45" y="189"/>
                  </a:lnTo>
                  <a:lnTo>
                    <a:pt x="45" y="189"/>
                  </a:lnTo>
                  <a:lnTo>
                    <a:pt x="46" y="189"/>
                  </a:lnTo>
                  <a:lnTo>
                    <a:pt x="46" y="189"/>
                  </a:lnTo>
                  <a:close/>
                  <a:moveTo>
                    <a:pt x="46" y="258"/>
                  </a:moveTo>
                  <a:lnTo>
                    <a:pt x="181" y="258"/>
                  </a:lnTo>
                  <a:lnTo>
                    <a:pt x="182" y="258"/>
                  </a:lnTo>
                  <a:lnTo>
                    <a:pt x="182" y="258"/>
                  </a:lnTo>
                  <a:lnTo>
                    <a:pt x="183" y="258"/>
                  </a:lnTo>
                  <a:lnTo>
                    <a:pt x="184" y="258"/>
                  </a:lnTo>
                  <a:lnTo>
                    <a:pt x="184" y="258"/>
                  </a:lnTo>
                  <a:lnTo>
                    <a:pt x="185" y="259"/>
                  </a:lnTo>
                  <a:lnTo>
                    <a:pt x="185" y="259"/>
                  </a:lnTo>
                  <a:lnTo>
                    <a:pt x="186" y="259"/>
                  </a:lnTo>
                  <a:lnTo>
                    <a:pt x="186" y="259"/>
                  </a:lnTo>
                  <a:lnTo>
                    <a:pt x="187" y="259"/>
                  </a:lnTo>
                  <a:lnTo>
                    <a:pt x="187" y="260"/>
                  </a:lnTo>
                  <a:lnTo>
                    <a:pt x="188" y="260"/>
                  </a:lnTo>
                  <a:lnTo>
                    <a:pt x="188" y="260"/>
                  </a:lnTo>
                  <a:lnTo>
                    <a:pt x="189" y="261"/>
                  </a:lnTo>
                  <a:lnTo>
                    <a:pt x="189" y="261"/>
                  </a:lnTo>
                  <a:lnTo>
                    <a:pt x="190" y="261"/>
                  </a:lnTo>
                  <a:lnTo>
                    <a:pt x="190" y="262"/>
                  </a:lnTo>
                  <a:lnTo>
                    <a:pt x="190" y="262"/>
                  </a:lnTo>
                  <a:lnTo>
                    <a:pt x="191" y="263"/>
                  </a:lnTo>
                  <a:lnTo>
                    <a:pt x="191" y="263"/>
                  </a:lnTo>
                  <a:lnTo>
                    <a:pt x="191" y="263"/>
                  </a:lnTo>
                  <a:lnTo>
                    <a:pt x="191" y="264"/>
                  </a:lnTo>
                  <a:lnTo>
                    <a:pt x="192" y="264"/>
                  </a:lnTo>
                  <a:lnTo>
                    <a:pt x="192" y="265"/>
                  </a:lnTo>
                  <a:lnTo>
                    <a:pt x="192" y="265"/>
                  </a:lnTo>
                  <a:lnTo>
                    <a:pt x="192" y="266"/>
                  </a:lnTo>
                  <a:lnTo>
                    <a:pt x="192" y="266"/>
                  </a:lnTo>
                  <a:lnTo>
                    <a:pt x="193" y="267"/>
                  </a:lnTo>
                  <a:lnTo>
                    <a:pt x="193" y="268"/>
                  </a:lnTo>
                  <a:lnTo>
                    <a:pt x="193" y="268"/>
                  </a:lnTo>
                  <a:lnTo>
                    <a:pt x="193" y="269"/>
                  </a:lnTo>
                  <a:lnTo>
                    <a:pt x="193" y="269"/>
                  </a:lnTo>
                  <a:lnTo>
                    <a:pt x="193" y="301"/>
                  </a:lnTo>
                  <a:lnTo>
                    <a:pt x="193" y="301"/>
                  </a:lnTo>
                  <a:lnTo>
                    <a:pt x="193" y="302"/>
                  </a:lnTo>
                  <a:lnTo>
                    <a:pt x="193" y="302"/>
                  </a:lnTo>
                  <a:lnTo>
                    <a:pt x="193" y="303"/>
                  </a:lnTo>
                  <a:lnTo>
                    <a:pt x="192" y="303"/>
                  </a:lnTo>
                  <a:lnTo>
                    <a:pt x="192" y="304"/>
                  </a:lnTo>
                  <a:lnTo>
                    <a:pt x="192" y="304"/>
                  </a:lnTo>
                  <a:lnTo>
                    <a:pt x="192" y="305"/>
                  </a:lnTo>
                  <a:lnTo>
                    <a:pt x="192" y="305"/>
                  </a:lnTo>
                  <a:lnTo>
                    <a:pt x="191" y="306"/>
                  </a:lnTo>
                  <a:lnTo>
                    <a:pt x="191" y="306"/>
                  </a:lnTo>
                  <a:lnTo>
                    <a:pt x="191" y="307"/>
                  </a:lnTo>
                  <a:lnTo>
                    <a:pt x="191" y="307"/>
                  </a:lnTo>
                  <a:lnTo>
                    <a:pt x="190" y="308"/>
                  </a:lnTo>
                  <a:lnTo>
                    <a:pt x="190" y="308"/>
                  </a:lnTo>
                  <a:lnTo>
                    <a:pt x="190" y="309"/>
                  </a:lnTo>
                  <a:lnTo>
                    <a:pt x="189" y="309"/>
                  </a:lnTo>
                  <a:lnTo>
                    <a:pt x="189" y="309"/>
                  </a:lnTo>
                  <a:lnTo>
                    <a:pt x="188" y="310"/>
                  </a:lnTo>
                  <a:lnTo>
                    <a:pt x="188" y="310"/>
                  </a:lnTo>
                  <a:lnTo>
                    <a:pt x="187" y="310"/>
                  </a:lnTo>
                  <a:lnTo>
                    <a:pt x="187" y="310"/>
                  </a:lnTo>
                  <a:lnTo>
                    <a:pt x="186" y="311"/>
                  </a:lnTo>
                  <a:lnTo>
                    <a:pt x="186" y="311"/>
                  </a:lnTo>
                  <a:lnTo>
                    <a:pt x="185" y="311"/>
                  </a:lnTo>
                  <a:lnTo>
                    <a:pt x="185" y="311"/>
                  </a:lnTo>
                  <a:lnTo>
                    <a:pt x="184" y="311"/>
                  </a:lnTo>
                  <a:lnTo>
                    <a:pt x="184" y="312"/>
                  </a:lnTo>
                  <a:lnTo>
                    <a:pt x="183" y="312"/>
                  </a:lnTo>
                  <a:lnTo>
                    <a:pt x="182" y="312"/>
                  </a:lnTo>
                  <a:lnTo>
                    <a:pt x="182" y="312"/>
                  </a:lnTo>
                  <a:lnTo>
                    <a:pt x="181" y="312"/>
                  </a:lnTo>
                  <a:lnTo>
                    <a:pt x="46" y="312"/>
                  </a:lnTo>
                  <a:lnTo>
                    <a:pt x="45" y="312"/>
                  </a:lnTo>
                  <a:lnTo>
                    <a:pt x="45" y="312"/>
                  </a:lnTo>
                  <a:lnTo>
                    <a:pt x="44" y="312"/>
                  </a:lnTo>
                  <a:lnTo>
                    <a:pt x="44" y="312"/>
                  </a:lnTo>
                  <a:lnTo>
                    <a:pt x="43" y="311"/>
                  </a:lnTo>
                  <a:lnTo>
                    <a:pt x="43" y="311"/>
                  </a:lnTo>
                  <a:lnTo>
                    <a:pt x="42" y="311"/>
                  </a:lnTo>
                  <a:lnTo>
                    <a:pt x="41" y="311"/>
                  </a:lnTo>
                  <a:lnTo>
                    <a:pt x="41" y="311"/>
                  </a:lnTo>
                  <a:lnTo>
                    <a:pt x="40" y="310"/>
                  </a:lnTo>
                  <a:lnTo>
                    <a:pt x="40" y="310"/>
                  </a:lnTo>
                  <a:lnTo>
                    <a:pt x="39" y="310"/>
                  </a:lnTo>
                  <a:lnTo>
                    <a:pt x="39" y="310"/>
                  </a:lnTo>
                  <a:lnTo>
                    <a:pt x="39" y="309"/>
                  </a:lnTo>
                  <a:lnTo>
                    <a:pt x="38" y="309"/>
                  </a:lnTo>
                  <a:lnTo>
                    <a:pt x="38" y="309"/>
                  </a:lnTo>
                  <a:lnTo>
                    <a:pt x="37" y="308"/>
                  </a:lnTo>
                  <a:lnTo>
                    <a:pt x="37" y="308"/>
                  </a:lnTo>
                  <a:lnTo>
                    <a:pt x="37" y="307"/>
                  </a:lnTo>
                  <a:lnTo>
                    <a:pt x="36" y="307"/>
                  </a:lnTo>
                  <a:lnTo>
                    <a:pt x="36" y="306"/>
                  </a:lnTo>
                  <a:lnTo>
                    <a:pt x="36" y="306"/>
                  </a:lnTo>
                  <a:lnTo>
                    <a:pt x="36" y="305"/>
                  </a:lnTo>
                  <a:lnTo>
                    <a:pt x="35" y="305"/>
                  </a:lnTo>
                  <a:lnTo>
                    <a:pt x="35" y="304"/>
                  </a:lnTo>
                  <a:lnTo>
                    <a:pt x="35" y="304"/>
                  </a:lnTo>
                  <a:lnTo>
                    <a:pt x="35" y="303"/>
                  </a:lnTo>
                  <a:lnTo>
                    <a:pt x="35" y="303"/>
                  </a:lnTo>
                  <a:lnTo>
                    <a:pt x="35" y="302"/>
                  </a:lnTo>
                  <a:lnTo>
                    <a:pt x="34" y="302"/>
                  </a:lnTo>
                  <a:lnTo>
                    <a:pt x="34" y="301"/>
                  </a:lnTo>
                  <a:lnTo>
                    <a:pt x="34" y="301"/>
                  </a:lnTo>
                  <a:lnTo>
                    <a:pt x="34" y="269"/>
                  </a:lnTo>
                  <a:lnTo>
                    <a:pt x="34" y="269"/>
                  </a:lnTo>
                  <a:lnTo>
                    <a:pt x="34" y="268"/>
                  </a:lnTo>
                  <a:lnTo>
                    <a:pt x="35" y="268"/>
                  </a:lnTo>
                  <a:lnTo>
                    <a:pt x="35" y="267"/>
                  </a:lnTo>
                  <a:lnTo>
                    <a:pt x="35" y="266"/>
                  </a:lnTo>
                  <a:lnTo>
                    <a:pt x="35" y="266"/>
                  </a:lnTo>
                  <a:lnTo>
                    <a:pt x="35" y="265"/>
                  </a:lnTo>
                  <a:lnTo>
                    <a:pt x="35" y="265"/>
                  </a:lnTo>
                  <a:lnTo>
                    <a:pt x="36" y="264"/>
                  </a:lnTo>
                  <a:lnTo>
                    <a:pt x="36" y="264"/>
                  </a:lnTo>
                  <a:lnTo>
                    <a:pt x="36" y="263"/>
                  </a:lnTo>
                  <a:lnTo>
                    <a:pt x="36" y="263"/>
                  </a:lnTo>
                  <a:lnTo>
                    <a:pt x="37" y="263"/>
                  </a:lnTo>
                  <a:lnTo>
                    <a:pt x="37" y="262"/>
                  </a:lnTo>
                  <a:lnTo>
                    <a:pt x="37" y="262"/>
                  </a:lnTo>
                  <a:lnTo>
                    <a:pt x="38" y="261"/>
                  </a:lnTo>
                  <a:lnTo>
                    <a:pt x="38" y="261"/>
                  </a:lnTo>
                  <a:lnTo>
                    <a:pt x="39" y="261"/>
                  </a:lnTo>
                  <a:lnTo>
                    <a:pt x="39" y="260"/>
                  </a:lnTo>
                  <a:lnTo>
                    <a:pt x="39" y="260"/>
                  </a:lnTo>
                  <a:lnTo>
                    <a:pt x="40" y="260"/>
                  </a:lnTo>
                  <a:lnTo>
                    <a:pt x="40" y="259"/>
                  </a:lnTo>
                  <a:lnTo>
                    <a:pt x="41" y="259"/>
                  </a:lnTo>
                  <a:lnTo>
                    <a:pt x="41" y="259"/>
                  </a:lnTo>
                  <a:lnTo>
                    <a:pt x="42" y="259"/>
                  </a:lnTo>
                  <a:lnTo>
                    <a:pt x="43" y="259"/>
                  </a:lnTo>
                  <a:lnTo>
                    <a:pt x="43" y="258"/>
                  </a:lnTo>
                  <a:lnTo>
                    <a:pt x="44" y="258"/>
                  </a:lnTo>
                  <a:lnTo>
                    <a:pt x="44" y="258"/>
                  </a:lnTo>
                  <a:lnTo>
                    <a:pt x="45" y="258"/>
                  </a:lnTo>
                  <a:lnTo>
                    <a:pt x="45" y="258"/>
                  </a:lnTo>
                  <a:lnTo>
                    <a:pt x="46" y="258"/>
                  </a:lnTo>
                  <a:lnTo>
                    <a:pt x="46" y="258"/>
                  </a:lnTo>
                  <a:close/>
                  <a:moveTo>
                    <a:pt x="114" y="442"/>
                  </a:moveTo>
                  <a:lnTo>
                    <a:pt x="114" y="442"/>
                  </a:lnTo>
                  <a:lnTo>
                    <a:pt x="115" y="442"/>
                  </a:lnTo>
                  <a:lnTo>
                    <a:pt x="116" y="442"/>
                  </a:lnTo>
                  <a:lnTo>
                    <a:pt x="117" y="442"/>
                  </a:lnTo>
                  <a:lnTo>
                    <a:pt x="117" y="443"/>
                  </a:lnTo>
                  <a:lnTo>
                    <a:pt x="118" y="443"/>
                  </a:lnTo>
                  <a:lnTo>
                    <a:pt x="119" y="443"/>
                  </a:lnTo>
                  <a:lnTo>
                    <a:pt x="119" y="443"/>
                  </a:lnTo>
                  <a:lnTo>
                    <a:pt x="120" y="444"/>
                  </a:lnTo>
                  <a:lnTo>
                    <a:pt x="121" y="444"/>
                  </a:lnTo>
                  <a:lnTo>
                    <a:pt x="121" y="444"/>
                  </a:lnTo>
                  <a:lnTo>
                    <a:pt x="122" y="445"/>
                  </a:lnTo>
                  <a:lnTo>
                    <a:pt x="123" y="445"/>
                  </a:lnTo>
                  <a:lnTo>
                    <a:pt x="123" y="446"/>
                  </a:lnTo>
                  <a:lnTo>
                    <a:pt x="124" y="446"/>
                  </a:lnTo>
                  <a:lnTo>
                    <a:pt x="124" y="447"/>
                  </a:lnTo>
                  <a:lnTo>
                    <a:pt x="125" y="447"/>
                  </a:lnTo>
                  <a:lnTo>
                    <a:pt x="125" y="448"/>
                  </a:lnTo>
                  <a:lnTo>
                    <a:pt x="126" y="448"/>
                  </a:lnTo>
                  <a:lnTo>
                    <a:pt x="126" y="449"/>
                  </a:lnTo>
                  <a:lnTo>
                    <a:pt x="126" y="449"/>
                  </a:lnTo>
                  <a:lnTo>
                    <a:pt x="127" y="450"/>
                  </a:lnTo>
                  <a:lnTo>
                    <a:pt x="127" y="451"/>
                  </a:lnTo>
                  <a:lnTo>
                    <a:pt x="127" y="451"/>
                  </a:lnTo>
                  <a:lnTo>
                    <a:pt x="128" y="452"/>
                  </a:lnTo>
                  <a:lnTo>
                    <a:pt x="128" y="453"/>
                  </a:lnTo>
                  <a:lnTo>
                    <a:pt x="128" y="453"/>
                  </a:lnTo>
                  <a:lnTo>
                    <a:pt x="128" y="454"/>
                  </a:lnTo>
                  <a:lnTo>
                    <a:pt x="128" y="455"/>
                  </a:lnTo>
                  <a:lnTo>
                    <a:pt x="128" y="456"/>
                  </a:lnTo>
                  <a:lnTo>
                    <a:pt x="128" y="456"/>
                  </a:lnTo>
                  <a:lnTo>
                    <a:pt x="128" y="457"/>
                  </a:lnTo>
                  <a:lnTo>
                    <a:pt x="128" y="458"/>
                  </a:lnTo>
                  <a:lnTo>
                    <a:pt x="128" y="459"/>
                  </a:lnTo>
                  <a:lnTo>
                    <a:pt x="128" y="459"/>
                  </a:lnTo>
                  <a:lnTo>
                    <a:pt x="128" y="460"/>
                  </a:lnTo>
                  <a:lnTo>
                    <a:pt x="128" y="461"/>
                  </a:lnTo>
                  <a:lnTo>
                    <a:pt x="128" y="462"/>
                  </a:lnTo>
                  <a:lnTo>
                    <a:pt x="128" y="462"/>
                  </a:lnTo>
                  <a:lnTo>
                    <a:pt x="127" y="463"/>
                  </a:lnTo>
                  <a:lnTo>
                    <a:pt x="127" y="464"/>
                  </a:lnTo>
                  <a:lnTo>
                    <a:pt x="127" y="464"/>
                  </a:lnTo>
                  <a:lnTo>
                    <a:pt x="126" y="465"/>
                  </a:lnTo>
                  <a:lnTo>
                    <a:pt x="126" y="467"/>
                  </a:lnTo>
                  <a:lnTo>
                    <a:pt x="126" y="467"/>
                  </a:lnTo>
                  <a:lnTo>
                    <a:pt x="125" y="468"/>
                  </a:lnTo>
                  <a:lnTo>
                    <a:pt x="125" y="468"/>
                  </a:lnTo>
                  <a:lnTo>
                    <a:pt x="124" y="469"/>
                  </a:lnTo>
                  <a:lnTo>
                    <a:pt x="124" y="469"/>
                  </a:lnTo>
                  <a:lnTo>
                    <a:pt x="123" y="470"/>
                  </a:lnTo>
                  <a:lnTo>
                    <a:pt x="123" y="470"/>
                  </a:lnTo>
                  <a:lnTo>
                    <a:pt x="122" y="471"/>
                  </a:lnTo>
                  <a:lnTo>
                    <a:pt x="121" y="471"/>
                  </a:lnTo>
                  <a:lnTo>
                    <a:pt x="121" y="471"/>
                  </a:lnTo>
                  <a:lnTo>
                    <a:pt x="120" y="472"/>
                  </a:lnTo>
                  <a:lnTo>
                    <a:pt x="119" y="472"/>
                  </a:lnTo>
                  <a:lnTo>
                    <a:pt x="119" y="472"/>
                  </a:lnTo>
                  <a:lnTo>
                    <a:pt x="118" y="472"/>
                  </a:lnTo>
                  <a:lnTo>
                    <a:pt x="117" y="473"/>
                  </a:lnTo>
                  <a:lnTo>
                    <a:pt x="117" y="473"/>
                  </a:lnTo>
                  <a:lnTo>
                    <a:pt x="116" y="473"/>
                  </a:lnTo>
                  <a:lnTo>
                    <a:pt x="115" y="473"/>
                  </a:lnTo>
                  <a:lnTo>
                    <a:pt x="114" y="473"/>
                  </a:lnTo>
                  <a:lnTo>
                    <a:pt x="114" y="473"/>
                  </a:lnTo>
                  <a:lnTo>
                    <a:pt x="113" y="473"/>
                  </a:lnTo>
                  <a:lnTo>
                    <a:pt x="112" y="473"/>
                  </a:lnTo>
                  <a:lnTo>
                    <a:pt x="111" y="473"/>
                  </a:lnTo>
                  <a:lnTo>
                    <a:pt x="111" y="473"/>
                  </a:lnTo>
                  <a:lnTo>
                    <a:pt x="110" y="473"/>
                  </a:lnTo>
                  <a:lnTo>
                    <a:pt x="109" y="472"/>
                  </a:lnTo>
                  <a:lnTo>
                    <a:pt x="109" y="472"/>
                  </a:lnTo>
                  <a:lnTo>
                    <a:pt x="108" y="472"/>
                  </a:lnTo>
                  <a:lnTo>
                    <a:pt x="107" y="472"/>
                  </a:lnTo>
                  <a:lnTo>
                    <a:pt x="107" y="471"/>
                  </a:lnTo>
                  <a:lnTo>
                    <a:pt x="106" y="471"/>
                  </a:lnTo>
                  <a:lnTo>
                    <a:pt x="105" y="471"/>
                  </a:lnTo>
                  <a:lnTo>
                    <a:pt x="105" y="470"/>
                  </a:lnTo>
                  <a:lnTo>
                    <a:pt x="104" y="470"/>
                  </a:lnTo>
                  <a:lnTo>
                    <a:pt x="104" y="469"/>
                  </a:lnTo>
                  <a:lnTo>
                    <a:pt x="103" y="469"/>
                  </a:lnTo>
                  <a:lnTo>
                    <a:pt x="103" y="468"/>
                  </a:lnTo>
                  <a:lnTo>
                    <a:pt x="102" y="468"/>
                  </a:lnTo>
                  <a:lnTo>
                    <a:pt x="102" y="467"/>
                  </a:lnTo>
                  <a:lnTo>
                    <a:pt x="101" y="467"/>
                  </a:lnTo>
                  <a:lnTo>
                    <a:pt x="101" y="465"/>
                  </a:lnTo>
                  <a:lnTo>
                    <a:pt x="101" y="464"/>
                  </a:lnTo>
                  <a:lnTo>
                    <a:pt x="100" y="464"/>
                  </a:lnTo>
                  <a:lnTo>
                    <a:pt x="100" y="463"/>
                  </a:lnTo>
                  <a:lnTo>
                    <a:pt x="100" y="462"/>
                  </a:lnTo>
                  <a:lnTo>
                    <a:pt x="99" y="462"/>
                  </a:lnTo>
                  <a:lnTo>
                    <a:pt x="99" y="461"/>
                  </a:lnTo>
                  <a:lnTo>
                    <a:pt x="99" y="460"/>
                  </a:lnTo>
                  <a:lnTo>
                    <a:pt x="99" y="459"/>
                  </a:lnTo>
                  <a:lnTo>
                    <a:pt x="99" y="459"/>
                  </a:lnTo>
                  <a:lnTo>
                    <a:pt x="99" y="458"/>
                  </a:lnTo>
                  <a:lnTo>
                    <a:pt x="99" y="457"/>
                  </a:lnTo>
                  <a:lnTo>
                    <a:pt x="99" y="456"/>
                  </a:lnTo>
                  <a:lnTo>
                    <a:pt x="99" y="456"/>
                  </a:lnTo>
                  <a:lnTo>
                    <a:pt x="99" y="455"/>
                  </a:lnTo>
                  <a:lnTo>
                    <a:pt x="99" y="454"/>
                  </a:lnTo>
                  <a:lnTo>
                    <a:pt x="99" y="453"/>
                  </a:lnTo>
                  <a:lnTo>
                    <a:pt x="99" y="453"/>
                  </a:lnTo>
                  <a:lnTo>
                    <a:pt x="100" y="452"/>
                  </a:lnTo>
                  <a:lnTo>
                    <a:pt x="100" y="451"/>
                  </a:lnTo>
                  <a:lnTo>
                    <a:pt x="100" y="451"/>
                  </a:lnTo>
                  <a:lnTo>
                    <a:pt x="101" y="450"/>
                  </a:lnTo>
                  <a:lnTo>
                    <a:pt x="101" y="449"/>
                  </a:lnTo>
                  <a:lnTo>
                    <a:pt x="101" y="449"/>
                  </a:lnTo>
                  <a:lnTo>
                    <a:pt x="102" y="448"/>
                  </a:lnTo>
                  <a:lnTo>
                    <a:pt x="102" y="448"/>
                  </a:lnTo>
                  <a:lnTo>
                    <a:pt x="103" y="447"/>
                  </a:lnTo>
                  <a:lnTo>
                    <a:pt x="103" y="447"/>
                  </a:lnTo>
                  <a:lnTo>
                    <a:pt x="104" y="446"/>
                  </a:lnTo>
                  <a:lnTo>
                    <a:pt x="104" y="446"/>
                  </a:lnTo>
                  <a:lnTo>
                    <a:pt x="105" y="445"/>
                  </a:lnTo>
                  <a:lnTo>
                    <a:pt x="105" y="445"/>
                  </a:lnTo>
                  <a:lnTo>
                    <a:pt x="106" y="444"/>
                  </a:lnTo>
                  <a:lnTo>
                    <a:pt x="107" y="444"/>
                  </a:lnTo>
                  <a:lnTo>
                    <a:pt x="107" y="444"/>
                  </a:lnTo>
                  <a:lnTo>
                    <a:pt x="108" y="443"/>
                  </a:lnTo>
                  <a:lnTo>
                    <a:pt x="109" y="443"/>
                  </a:lnTo>
                  <a:lnTo>
                    <a:pt x="109" y="443"/>
                  </a:lnTo>
                  <a:lnTo>
                    <a:pt x="110" y="443"/>
                  </a:lnTo>
                  <a:lnTo>
                    <a:pt x="111" y="442"/>
                  </a:lnTo>
                  <a:lnTo>
                    <a:pt x="111" y="442"/>
                  </a:lnTo>
                  <a:lnTo>
                    <a:pt x="112" y="442"/>
                  </a:lnTo>
                  <a:lnTo>
                    <a:pt x="113" y="442"/>
                  </a:lnTo>
                  <a:lnTo>
                    <a:pt x="114" y="442"/>
                  </a:lnTo>
                  <a:lnTo>
                    <a:pt x="114" y="442"/>
                  </a:lnTo>
                  <a:close/>
                  <a:moveTo>
                    <a:pt x="39" y="391"/>
                  </a:moveTo>
                  <a:lnTo>
                    <a:pt x="188" y="391"/>
                  </a:lnTo>
                  <a:lnTo>
                    <a:pt x="189" y="391"/>
                  </a:lnTo>
                  <a:lnTo>
                    <a:pt x="189" y="391"/>
                  </a:lnTo>
                  <a:lnTo>
                    <a:pt x="189" y="391"/>
                  </a:lnTo>
                  <a:lnTo>
                    <a:pt x="190" y="391"/>
                  </a:lnTo>
                  <a:lnTo>
                    <a:pt x="190" y="392"/>
                  </a:lnTo>
                  <a:lnTo>
                    <a:pt x="190" y="392"/>
                  </a:lnTo>
                  <a:lnTo>
                    <a:pt x="191" y="392"/>
                  </a:lnTo>
                  <a:lnTo>
                    <a:pt x="191" y="392"/>
                  </a:lnTo>
                  <a:lnTo>
                    <a:pt x="191" y="393"/>
                  </a:lnTo>
                  <a:lnTo>
                    <a:pt x="191" y="393"/>
                  </a:lnTo>
                  <a:lnTo>
                    <a:pt x="192" y="393"/>
                  </a:lnTo>
                  <a:lnTo>
                    <a:pt x="192" y="393"/>
                  </a:lnTo>
                  <a:lnTo>
                    <a:pt x="192" y="394"/>
                  </a:lnTo>
                  <a:lnTo>
                    <a:pt x="192" y="394"/>
                  </a:lnTo>
                  <a:lnTo>
                    <a:pt x="192" y="394"/>
                  </a:lnTo>
                  <a:lnTo>
                    <a:pt x="192" y="396"/>
                  </a:lnTo>
                  <a:lnTo>
                    <a:pt x="192" y="399"/>
                  </a:lnTo>
                  <a:lnTo>
                    <a:pt x="192" y="400"/>
                  </a:lnTo>
                  <a:lnTo>
                    <a:pt x="192" y="400"/>
                  </a:lnTo>
                  <a:lnTo>
                    <a:pt x="192" y="400"/>
                  </a:lnTo>
                  <a:lnTo>
                    <a:pt x="192" y="401"/>
                  </a:lnTo>
                  <a:lnTo>
                    <a:pt x="192" y="401"/>
                  </a:lnTo>
                  <a:lnTo>
                    <a:pt x="191" y="402"/>
                  </a:lnTo>
                  <a:lnTo>
                    <a:pt x="191" y="402"/>
                  </a:lnTo>
                  <a:lnTo>
                    <a:pt x="191" y="402"/>
                  </a:lnTo>
                  <a:lnTo>
                    <a:pt x="191" y="402"/>
                  </a:lnTo>
                  <a:lnTo>
                    <a:pt x="190" y="403"/>
                  </a:lnTo>
                  <a:lnTo>
                    <a:pt x="190" y="403"/>
                  </a:lnTo>
                  <a:lnTo>
                    <a:pt x="190" y="403"/>
                  </a:lnTo>
                  <a:lnTo>
                    <a:pt x="189" y="403"/>
                  </a:lnTo>
                  <a:lnTo>
                    <a:pt x="189" y="403"/>
                  </a:lnTo>
                  <a:lnTo>
                    <a:pt x="189" y="403"/>
                  </a:lnTo>
                  <a:lnTo>
                    <a:pt x="188" y="403"/>
                  </a:lnTo>
                  <a:lnTo>
                    <a:pt x="39" y="403"/>
                  </a:lnTo>
                  <a:lnTo>
                    <a:pt x="39" y="403"/>
                  </a:lnTo>
                  <a:lnTo>
                    <a:pt x="38" y="403"/>
                  </a:lnTo>
                  <a:lnTo>
                    <a:pt x="38" y="403"/>
                  </a:lnTo>
                  <a:lnTo>
                    <a:pt x="38" y="403"/>
                  </a:lnTo>
                  <a:lnTo>
                    <a:pt x="37" y="403"/>
                  </a:lnTo>
                  <a:lnTo>
                    <a:pt x="37" y="403"/>
                  </a:lnTo>
                  <a:lnTo>
                    <a:pt x="37" y="402"/>
                  </a:lnTo>
                  <a:lnTo>
                    <a:pt x="36" y="402"/>
                  </a:lnTo>
                  <a:lnTo>
                    <a:pt x="36" y="402"/>
                  </a:lnTo>
                  <a:lnTo>
                    <a:pt x="36" y="402"/>
                  </a:lnTo>
                  <a:lnTo>
                    <a:pt x="36" y="401"/>
                  </a:lnTo>
                  <a:lnTo>
                    <a:pt x="36" y="401"/>
                  </a:lnTo>
                  <a:lnTo>
                    <a:pt x="35" y="400"/>
                  </a:lnTo>
                  <a:lnTo>
                    <a:pt x="35" y="400"/>
                  </a:lnTo>
                  <a:lnTo>
                    <a:pt x="35" y="400"/>
                  </a:lnTo>
                  <a:lnTo>
                    <a:pt x="35" y="399"/>
                  </a:lnTo>
                  <a:lnTo>
                    <a:pt x="35" y="396"/>
                  </a:lnTo>
                  <a:lnTo>
                    <a:pt x="35" y="394"/>
                  </a:lnTo>
                  <a:lnTo>
                    <a:pt x="35" y="394"/>
                  </a:lnTo>
                  <a:lnTo>
                    <a:pt x="35" y="394"/>
                  </a:lnTo>
                  <a:lnTo>
                    <a:pt x="36" y="393"/>
                  </a:lnTo>
                  <a:lnTo>
                    <a:pt x="36" y="393"/>
                  </a:lnTo>
                  <a:lnTo>
                    <a:pt x="36" y="393"/>
                  </a:lnTo>
                  <a:lnTo>
                    <a:pt x="36" y="393"/>
                  </a:lnTo>
                  <a:lnTo>
                    <a:pt x="36" y="392"/>
                  </a:lnTo>
                  <a:lnTo>
                    <a:pt x="37" y="392"/>
                  </a:lnTo>
                  <a:lnTo>
                    <a:pt x="37" y="392"/>
                  </a:lnTo>
                  <a:lnTo>
                    <a:pt x="37" y="392"/>
                  </a:lnTo>
                  <a:lnTo>
                    <a:pt x="38" y="391"/>
                  </a:lnTo>
                  <a:lnTo>
                    <a:pt x="38" y="391"/>
                  </a:lnTo>
                  <a:lnTo>
                    <a:pt x="38" y="391"/>
                  </a:lnTo>
                  <a:lnTo>
                    <a:pt x="39" y="391"/>
                  </a:lnTo>
                  <a:lnTo>
                    <a:pt x="39" y="391"/>
                  </a:lnTo>
                  <a:lnTo>
                    <a:pt x="39" y="391"/>
                  </a:lnTo>
                  <a:close/>
                  <a:moveTo>
                    <a:pt x="39" y="374"/>
                  </a:moveTo>
                  <a:lnTo>
                    <a:pt x="188" y="374"/>
                  </a:lnTo>
                  <a:lnTo>
                    <a:pt x="189" y="374"/>
                  </a:lnTo>
                  <a:lnTo>
                    <a:pt x="189" y="375"/>
                  </a:lnTo>
                  <a:lnTo>
                    <a:pt x="189" y="375"/>
                  </a:lnTo>
                  <a:lnTo>
                    <a:pt x="190" y="375"/>
                  </a:lnTo>
                  <a:lnTo>
                    <a:pt x="190" y="375"/>
                  </a:lnTo>
                  <a:lnTo>
                    <a:pt x="190" y="375"/>
                  </a:lnTo>
                  <a:lnTo>
                    <a:pt x="191" y="375"/>
                  </a:lnTo>
                  <a:lnTo>
                    <a:pt x="191" y="376"/>
                  </a:lnTo>
                  <a:lnTo>
                    <a:pt x="191" y="376"/>
                  </a:lnTo>
                  <a:lnTo>
                    <a:pt x="191" y="376"/>
                  </a:lnTo>
                  <a:lnTo>
                    <a:pt x="192" y="376"/>
                  </a:lnTo>
                  <a:lnTo>
                    <a:pt x="192" y="377"/>
                  </a:lnTo>
                  <a:lnTo>
                    <a:pt x="192" y="377"/>
                  </a:lnTo>
                  <a:lnTo>
                    <a:pt x="192" y="377"/>
                  </a:lnTo>
                  <a:lnTo>
                    <a:pt x="192" y="378"/>
                  </a:lnTo>
                  <a:lnTo>
                    <a:pt x="192" y="378"/>
                  </a:lnTo>
                  <a:lnTo>
                    <a:pt x="192" y="382"/>
                  </a:lnTo>
                  <a:lnTo>
                    <a:pt x="192" y="382"/>
                  </a:lnTo>
                  <a:lnTo>
                    <a:pt x="192" y="382"/>
                  </a:lnTo>
                  <a:lnTo>
                    <a:pt x="192" y="383"/>
                  </a:lnTo>
                  <a:lnTo>
                    <a:pt x="192" y="383"/>
                  </a:lnTo>
                  <a:lnTo>
                    <a:pt x="192" y="384"/>
                  </a:lnTo>
                  <a:lnTo>
                    <a:pt x="191" y="384"/>
                  </a:lnTo>
                  <a:lnTo>
                    <a:pt x="191" y="384"/>
                  </a:lnTo>
                  <a:lnTo>
                    <a:pt x="191" y="384"/>
                  </a:lnTo>
                  <a:lnTo>
                    <a:pt x="191" y="385"/>
                  </a:lnTo>
                  <a:lnTo>
                    <a:pt x="190" y="385"/>
                  </a:lnTo>
                  <a:lnTo>
                    <a:pt x="190" y="385"/>
                  </a:lnTo>
                  <a:lnTo>
                    <a:pt x="190" y="385"/>
                  </a:lnTo>
                  <a:lnTo>
                    <a:pt x="189" y="385"/>
                  </a:lnTo>
                  <a:lnTo>
                    <a:pt x="189" y="385"/>
                  </a:lnTo>
                  <a:lnTo>
                    <a:pt x="189" y="385"/>
                  </a:lnTo>
                  <a:lnTo>
                    <a:pt x="188" y="385"/>
                  </a:lnTo>
                  <a:lnTo>
                    <a:pt x="39" y="385"/>
                  </a:lnTo>
                  <a:lnTo>
                    <a:pt x="39" y="385"/>
                  </a:lnTo>
                  <a:lnTo>
                    <a:pt x="38" y="385"/>
                  </a:lnTo>
                  <a:lnTo>
                    <a:pt x="38" y="385"/>
                  </a:lnTo>
                  <a:lnTo>
                    <a:pt x="38" y="385"/>
                  </a:lnTo>
                  <a:lnTo>
                    <a:pt x="37" y="385"/>
                  </a:lnTo>
                  <a:lnTo>
                    <a:pt x="37" y="385"/>
                  </a:lnTo>
                  <a:lnTo>
                    <a:pt x="37" y="385"/>
                  </a:lnTo>
                  <a:lnTo>
                    <a:pt x="36" y="384"/>
                  </a:lnTo>
                  <a:lnTo>
                    <a:pt x="36" y="384"/>
                  </a:lnTo>
                  <a:lnTo>
                    <a:pt x="36" y="384"/>
                  </a:lnTo>
                  <a:lnTo>
                    <a:pt x="36" y="384"/>
                  </a:lnTo>
                  <a:lnTo>
                    <a:pt x="36" y="383"/>
                  </a:lnTo>
                  <a:lnTo>
                    <a:pt x="35" y="383"/>
                  </a:lnTo>
                  <a:lnTo>
                    <a:pt x="35" y="382"/>
                  </a:lnTo>
                  <a:lnTo>
                    <a:pt x="35" y="382"/>
                  </a:lnTo>
                  <a:lnTo>
                    <a:pt x="35" y="382"/>
                  </a:lnTo>
                  <a:lnTo>
                    <a:pt x="35" y="378"/>
                  </a:lnTo>
                  <a:lnTo>
                    <a:pt x="35" y="378"/>
                  </a:lnTo>
                  <a:lnTo>
                    <a:pt x="35" y="377"/>
                  </a:lnTo>
                  <a:lnTo>
                    <a:pt x="35" y="377"/>
                  </a:lnTo>
                  <a:lnTo>
                    <a:pt x="36" y="377"/>
                  </a:lnTo>
                  <a:lnTo>
                    <a:pt x="36" y="376"/>
                  </a:lnTo>
                  <a:lnTo>
                    <a:pt x="36" y="376"/>
                  </a:lnTo>
                  <a:lnTo>
                    <a:pt x="36" y="376"/>
                  </a:lnTo>
                  <a:lnTo>
                    <a:pt x="36" y="376"/>
                  </a:lnTo>
                  <a:lnTo>
                    <a:pt x="37" y="375"/>
                  </a:lnTo>
                  <a:lnTo>
                    <a:pt x="37" y="375"/>
                  </a:lnTo>
                  <a:lnTo>
                    <a:pt x="37" y="375"/>
                  </a:lnTo>
                  <a:lnTo>
                    <a:pt x="38" y="375"/>
                  </a:lnTo>
                  <a:lnTo>
                    <a:pt x="38" y="375"/>
                  </a:lnTo>
                  <a:lnTo>
                    <a:pt x="38" y="375"/>
                  </a:lnTo>
                  <a:lnTo>
                    <a:pt x="39" y="374"/>
                  </a:lnTo>
                  <a:lnTo>
                    <a:pt x="39" y="374"/>
                  </a:lnTo>
                  <a:lnTo>
                    <a:pt x="39" y="374"/>
                  </a:lnTo>
                  <a:close/>
                </a:path>
              </a:pathLst>
            </a:custGeom>
            <a:solidFill>
              <a:srgbClr val="9F9FA0"/>
            </a:solidFill>
            <a:ln w="34925">
              <a:solidFill>
                <a:srgbClr val="FFFFFF"/>
              </a:solidFill>
            </a:ln>
            <a:effectLst>
              <a:outerShdw blurRad="317500" dir="2700000" algn="ctr">
                <a:srgbClr val="000000">
                  <a:alpha val="43000"/>
                </a:srgbClr>
              </a:outerShdw>
            </a:effectLst>
          </p:spPr>
          <p:txBody>
            <a:bodyPr vert="horz" wrap="square" lIns="68537" tIns="34268" rIns="68537" bIns="34268" numCol="1" anchor="t"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grpSp>
      <p:sp>
        <p:nvSpPr>
          <p:cNvPr id="60" name="文本框 59"/>
          <p:cNvSpPr txBox="1"/>
          <p:nvPr/>
        </p:nvSpPr>
        <p:spPr>
          <a:xfrm>
            <a:off x="6932689" y="3587269"/>
            <a:ext cx="1675395" cy="425758"/>
          </a:xfrm>
          <a:prstGeom prst="rect">
            <a:avLst/>
          </a:prstGeom>
          <a:noFill/>
        </p:spPr>
        <p:txBody>
          <a:bodyPr wrap="none" rtlCol="0" anchor="ctr">
            <a:spAutoFit/>
          </a:bodyPr>
          <a:lstStyle/>
          <a:p>
            <a:pPr>
              <a:lnSpc>
                <a:spcPts val="2580"/>
              </a:lnSpc>
            </a:pPr>
            <a:r>
              <a:rPr lang="en-US" altLang="zh-CN" sz="1500" dirty="0">
                <a:solidFill>
                  <a:srgbClr val="1D1D1A"/>
                </a:solidFill>
              </a:rPr>
              <a:t>Computing</a:t>
            </a:r>
            <a:r>
              <a:rPr lang="zh-CN" altLang="en-US" sz="1500" dirty="0">
                <a:solidFill>
                  <a:srgbClr val="1D1D1A"/>
                </a:solidFill>
              </a:rPr>
              <a:t> </a:t>
            </a:r>
            <a:r>
              <a:rPr lang="en-US" altLang="zh-CN" sz="1500" dirty="0">
                <a:solidFill>
                  <a:srgbClr val="1D1D1A"/>
                </a:solidFill>
              </a:rPr>
              <a:t>cluster</a:t>
            </a:r>
            <a:endParaRPr lang="zh-CN" altLang="en-US" sz="1500" dirty="0">
              <a:solidFill>
                <a:srgbClr val="1D1D1A"/>
              </a:solidFill>
            </a:endParaRPr>
          </a:p>
        </p:txBody>
      </p:sp>
      <p:sp>
        <p:nvSpPr>
          <p:cNvPr id="61" name="Freeform 372"/>
          <p:cNvSpPr>
            <a:spLocks noEditPoints="1"/>
          </p:cNvSpPr>
          <p:nvPr/>
        </p:nvSpPr>
        <p:spPr bwMode="auto">
          <a:xfrm>
            <a:off x="4452317" y="4384012"/>
            <a:ext cx="880715" cy="61322"/>
          </a:xfrm>
          <a:custGeom>
            <a:avLst/>
            <a:gdLst>
              <a:gd name="T0" fmla="*/ 349 w 669"/>
              <a:gd name="T1" fmla="*/ 132 h 162"/>
              <a:gd name="T2" fmla="*/ 311 w 669"/>
              <a:gd name="T3" fmla="*/ 99 h 162"/>
              <a:gd name="T4" fmla="*/ 330 w 669"/>
              <a:gd name="T5" fmla="*/ 96 h 162"/>
              <a:gd name="T6" fmla="*/ 349 w 669"/>
              <a:gd name="T7" fmla="*/ 132 h 162"/>
              <a:gd name="T8" fmla="*/ 309 w 669"/>
              <a:gd name="T9" fmla="*/ 44 h 162"/>
              <a:gd name="T10" fmla="*/ 328 w 669"/>
              <a:gd name="T11" fmla="*/ 37 h 162"/>
              <a:gd name="T12" fmla="*/ 349 w 669"/>
              <a:gd name="T13" fmla="*/ 46 h 162"/>
              <a:gd name="T14" fmla="*/ 385 w 669"/>
              <a:gd name="T15" fmla="*/ 101 h 162"/>
              <a:gd name="T16" fmla="*/ 403 w 669"/>
              <a:gd name="T17" fmla="*/ 96 h 162"/>
              <a:gd name="T18" fmla="*/ 410 w 669"/>
              <a:gd name="T19" fmla="*/ 103 h 162"/>
              <a:gd name="T20" fmla="*/ 385 w 669"/>
              <a:gd name="T21" fmla="*/ 46 h 162"/>
              <a:gd name="T22" fmla="*/ 392 w 669"/>
              <a:gd name="T23" fmla="*/ 37 h 162"/>
              <a:gd name="T24" fmla="*/ 410 w 669"/>
              <a:gd name="T25" fmla="*/ 44 h 162"/>
              <a:gd name="T26" fmla="*/ 447 w 669"/>
              <a:gd name="T27" fmla="*/ 103 h 162"/>
              <a:gd name="T28" fmla="*/ 465 w 669"/>
              <a:gd name="T29" fmla="*/ 96 h 162"/>
              <a:gd name="T30" fmla="*/ 485 w 669"/>
              <a:gd name="T31" fmla="*/ 99 h 162"/>
              <a:gd name="T32" fmla="*/ 447 w 669"/>
              <a:gd name="T33" fmla="*/ 74 h 162"/>
              <a:gd name="T34" fmla="*/ 463 w 669"/>
              <a:gd name="T35" fmla="*/ 39 h 162"/>
              <a:gd name="T36" fmla="*/ 483 w 669"/>
              <a:gd name="T37" fmla="*/ 39 h 162"/>
              <a:gd name="T38" fmla="*/ 576 w 669"/>
              <a:gd name="T39" fmla="*/ 132 h 162"/>
              <a:gd name="T40" fmla="*/ 538 w 669"/>
              <a:gd name="T41" fmla="*/ 99 h 162"/>
              <a:gd name="T42" fmla="*/ 558 w 669"/>
              <a:gd name="T43" fmla="*/ 96 h 162"/>
              <a:gd name="T44" fmla="*/ 576 w 669"/>
              <a:gd name="T45" fmla="*/ 132 h 162"/>
              <a:gd name="T46" fmla="*/ 538 w 669"/>
              <a:gd name="T47" fmla="*/ 44 h 162"/>
              <a:gd name="T48" fmla="*/ 556 w 669"/>
              <a:gd name="T49" fmla="*/ 37 h 162"/>
              <a:gd name="T50" fmla="*/ 576 w 669"/>
              <a:gd name="T51" fmla="*/ 46 h 162"/>
              <a:gd name="T52" fmla="*/ 11 w 669"/>
              <a:gd name="T53" fmla="*/ 1 h 162"/>
              <a:gd name="T54" fmla="*/ 0 w 669"/>
              <a:gd name="T55" fmla="*/ 18 h 162"/>
              <a:gd name="T56" fmla="*/ 6 w 669"/>
              <a:gd name="T57" fmla="*/ 157 h 162"/>
              <a:gd name="T58" fmla="*/ 651 w 669"/>
              <a:gd name="T59" fmla="*/ 162 h 162"/>
              <a:gd name="T60" fmla="*/ 668 w 669"/>
              <a:gd name="T61" fmla="*/ 150 h 162"/>
              <a:gd name="T62" fmla="*/ 668 w 669"/>
              <a:gd name="T63" fmla="*/ 11 h 162"/>
              <a:gd name="T64" fmla="*/ 651 w 669"/>
              <a:gd name="T65" fmla="*/ 0 h 162"/>
              <a:gd name="T66" fmla="*/ 44 w 669"/>
              <a:gd name="T67" fmla="*/ 113 h 162"/>
              <a:gd name="T68" fmla="*/ 54 w 669"/>
              <a:gd name="T69" fmla="*/ 98 h 162"/>
              <a:gd name="T70" fmla="*/ 65 w 669"/>
              <a:gd name="T71" fmla="*/ 109 h 162"/>
              <a:gd name="T72" fmla="*/ 54 w 669"/>
              <a:gd name="T73" fmla="*/ 64 h 162"/>
              <a:gd name="T74" fmla="*/ 43 w 669"/>
              <a:gd name="T75" fmla="*/ 53 h 162"/>
              <a:gd name="T76" fmla="*/ 59 w 669"/>
              <a:gd name="T77" fmla="*/ 44 h 162"/>
              <a:gd name="T78" fmla="*/ 62 w 669"/>
              <a:gd name="T79" fmla="*/ 61 h 162"/>
              <a:gd name="T80" fmla="*/ 116 w 669"/>
              <a:gd name="T81" fmla="*/ 118 h 162"/>
              <a:gd name="T82" fmla="*/ 112 w 669"/>
              <a:gd name="T83" fmla="*/ 101 h 162"/>
              <a:gd name="T84" fmla="*/ 130 w 669"/>
              <a:gd name="T85" fmla="*/ 104 h 162"/>
              <a:gd name="T86" fmla="*/ 121 w 669"/>
              <a:gd name="T87" fmla="*/ 119 h 162"/>
              <a:gd name="T88" fmla="*/ 110 w 669"/>
              <a:gd name="T89" fmla="*/ 58 h 162"/>
              <a:gd name="T90" fmla="*/ 121 w 669"/>
              <a:gd name="T91" fmla="*/ 43 h 162"/>
              <a:gd name="T92" fmla="*/ 131 w 669"/>
              <a:gd name="T93" fmla="*/ 53 h 162"/>
              <a:gd name="T94" fmla="*/ 187 w 669"/>
              <a:gd name="T95" fmla="*/ 119 h 162"/>
              <a:gd name="T96" fmla="*/ 176 w 669"/>
              <a:gd name="T97" fmla="*/ 109 h 162"/>
              <a:gd name="T98" fmla="*/ 191 w 669"/>
              <a:gd name="T99" fmla="*/ 98 h 162"/>
              <a:gd name="T100" fmla="*/ 194 w 669"/>
              <a:gd name="T101" fmla="*/ 116 h 162"/>
              <a:gd name="T102" fmla="*/ 183 w 669"/>
              <a:gd name="T103" fmla="*/ 63 h 162"/>
              <a:gd name="T104" fmla="*/ 179 w 669"/>
              <a:gd name="T105" fmla="*/ 46 h 162"/>
              <a:gd name="T106" fmla="*/ 198 w 669"/>
              <a:gd name="T107" fmla="*/ 49 h 162"/>
              <a:gd name="T108" fmla="*/ 187 w 669"/>
              <a:gd name="T109" fmla="*/ 64 h 162"/>
              <a:gd name="T110" fmla="*/ 608 w 669"/>
              <a:gd name="T111" fmla="*/ 148 h 162"/>
              <a:gd name="T112" fmla="*/ 623 w 669"/>
              <a:gd name="T113" fmla="*/ 84 h 162"/>
              <a:gd name="T114" fmla="*/ 637 w 669"/>
              <a:gd name="T115" fmla="*/ 69 h 162"/>
              <a:gd name="T116" fmla="*/ 651 w 669"/>
              <a:gd name="T117" fmla="*/ 9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69" h="162">
                <a:moveTo>
                  <a:pt x="597" y="28"/>
                </a:moveTo>
                <a:lnTo>
                  <a:pt x="268" y="28"/>
                </a:lnTo>
                <a:lnTo>
                  <a:pt x="268" y="140"/>
                </a:lnTo>
                <a:lnTo>
                  <a:pt x="597" y="140"/>
                </a:lnTo>
                <a:lnTo>
                  <a:pt x="597" y="28"/>
                </a:lnTo>
                <a:close/>
                <a:moveTo>
                  <a:pt x="349" y="132"/>
                </a:moveTo>
                <a:lnTo>
                  <a:pt x="295" y="132"/>
                </a:lnTo>
                <a:lnTo>
                  <a:pt x="295" y="103"/>
                </a:lnTo>
                <a:lnTo>
                  <a:pt x="309" y="103"/>
                </a:lnTo>
                <a:lnTo>
                  <a:pt x="309" y="101"/>
                </a:lnTo>
                <a:lnTo>
                  <a:pt x="309" y="101"/>
                </a:lnTo>
                <a:lnTo>
                  <a:pt x="311" y="99"/>
                </a:lnTo>
                <a:lnTo>
                  <a:pt x="312" y="97"/>
                </a:lnTo>
                <a:lnTo>
                  <a:pt x="314" y="96"/>
                </a:lnTo>
                <a:lnTo>
                  <a:pt x="316" y="96"/>
                </a:lnTo>
                <a:lnTo>
                  <a:pt x="328" y="96"/>
                </a:lnTo>
                <a:lnTo>
                  <a:pt x="328" y="96"/>
                </a:lnTo>
                <a:lnTo>
                  <a:pt x="330" y="96"/>
                </a:lnTo>
                <a:lnTo>
                  <a:pt x="332" y="97"/>
                </a:lnTo>
                <a:lnTo>
                  <a:pt x="333" y="99"/>
                </a:lnTo>
                <a:lnTo>
                  <a:pt x="334" y="101"/>
                </a:lnTo>
                <a:lnTo>
                  <a:pt x="334" y="103"/>
                </a:lnTo>
                <a:lnTo>
                  <a:pt x="349" y="103"/>
                </a:lnTo>
                <a:lnTo>
                  <a:pt x="349" y="132"/>
                </a:lnTo>
                <a:close/>
                <a:moveTo>
                  <a:pt x="349" y="74"/>
                </a:moveTo>
                <a:lnTo>
                  <a:pt x="295" y="74"/>
                </a:lnTo>
                <a:lnTo>
                  <a:pt x="295" y="46"/>
                </a:lnTo>
                <a:lnTo>
                  <a:pt x="309" y="46"/>
                </a:lnTo>
                <a:lnTo>
                  <a:pt x="309" y="44"/>
                </a:lnTo>
                <a:lnTo>
                  <a:pt x="309" y="44"/>
                </a:lnTo>
                <a:lnTo>
                  <a:pt x="311" y="40"/>
                </a:lnTo>
                <a:lnTo>
                  <a:pt x="312" y="39"/>
                </a:lnTo>
                <a:lnTo>
                  <a:pt x="314" y="37"/>
                </a:lnTo>
                <a:lnTo>
                  <a:pt x="316" y="37"/>
                </a:lnTo>
                <a:lnTo>
                  <a:pt x="328" y="37"/>
                </a:lnTo>
                <a:lnTo>
                  <a:pt x="328" y="37"/>
                </a:lnTo>
                <a:lnTo>
                  <a:pt x="330" y="37"/>
                </a:lnTo>
                <a:lnTo>
                  <a:pt x="332" y="39"/>
                </a:lnTo>
                <a:lnTo>
                  <a:pt x="333" y="40"/>
                </a:lnTo>
                <a:lnTo>
                  <a:pt x="334" y="44"/>
                </a:lnTo>
                <a:lnTo>
                  <a:pt x="334" y="46"/>
                </a:lnTo>
                <a:lnTo>
                  <a:pt x="349" y="46"/>
                </a:lnTo>
                <a:lnTo>
                  <a:pt x="349" y="74"/>
                </a:lnTo>
                <a:close/>
                <a:moveTo>
                  <a:pt x="425" y="132"/>
                </a:moveTo>
                <a:lnTo>
                  <a:pt x="370" y="132"/>
                </a:lnTo>
                <a:lnTo>
                  <a:pt x="370" y="103"/>
                </a:lnTo>
                <a:lnTo>
                  <a:pt x="385" y="103"/>
                </a:lnTo>
                <a:lnTo>
                  <a:pt x="385" y="101"/>
                </a:lnTo>
                <a:lnTo>
                  <a:pt x="385" y="101"/>
                </a:lnTo>
                <a:lnTo>
                  <a:pt x="386" y="99"/>
                </a:lnTo>
                <a:lnTo>
                  <a:pt x="387" y="97"/>
                </a:lnTo>
                <a:lnTo>
                  <a:pt x="389" y="96"/>
                </a:lnTo>
                <a:lnTo>
                  <a:pt x="392" y="96"/>
                </a:lnTo>
                <a:lnTo>
                  <a:pt x="403" y="96"/>
                </a:lnTo>
                <a:lnTo>
                  <a:pt x="403" y="96"/>
                </a:lnTo>
                <a:lnTo>
                  <a:pt x="405" y="96"/>
                </a:lnTo>
                <a:lnTo>
                  <a:pt x="408" y="97"/>
                </a:lnTo>
                <a:lnTo>
                  <a:pt x="409" y="99"/>
                </a:lnTo>
                <a:lnTo>
                  <a:pt x="410" y="101"/>
                </a:lnTo>
                <a:lnTo>
                  <a:pt x="410" y="103"/>
                </a:lnTo>
                <a:lnTo>
                  <a:pt x="425" y="103"/>
                </a:lnTo>
                <a:lnTo>
                  <a:pt x="425" y="132"/>
                </a:lnTo>
                <a:close/>
                <a:moveTo>
                  <a:pt x="425" y="74"/>
                </a:moveTo>
                <a:lnTo>
                  <a:pt x="370" y="74"/>
                </a:lnTo>
                <a:lnTo>
                  <a:pt x="370" y="46"/>
                </a:lnTo>
                <a:lnTo>
                  <a:pt x="385" y="46"/>
                </a:lnTo>
                <a:lnTo>
                  <a:pt x="385" y="44"/>
                </a:lnTo>
                <a:lnTo>
                  <a:pt x="385" y="44"/>
                </a:lnTo>
                <a:lnTo>
                  <a:pt x="386" y="40"/>
                </a:lnTo>
                <a:lnTo>
                  <a:pt x="387" y="39"/>
                </a:lnTo>
                <a:lnTo>
                  <a:pt x="389" y="37"/>
                </a:lnTo>
                <a:lnTo>
                  <a:pt x="392" y="37"/>
                </a:lnTo>
                <a:lnTo>
                  <a:pt x="403" y="37"/>
                </a:lnTo>
                <a:lnTo>
                  <a:pt x="403" y="37"/>
                </a:lnTo>
                <a:lnTo>
                  <a:pt x="405" y="37"/>
                </a:lnTo>
                <a:lnTo>
                  <a:pt x="408" y="39"/>
                </a:lnTo>
                <a:lnTo>
                  <a:pt x="409" y="40"/>
                </a:lnTo>
                <a:lnTo>
                  <a:pt x="410" y="44"/>
                </a:lnTo>
                <a:lnTo>
                  <a:pt x="410" y="46"/>
                </a:lnTo>
                <a:lnTo>
                  <a:pt x="425" y="46"/>
                </a:lnTo>
                <a:lnTo>
                  <a:pt x="425" y="74"/>
                </a:lnTo>
                <a:close/>
                <a:moveTo>
                  <a:pt x="500" y="132"/>
                </a:moveTo>
                <a:lnTo>
                  <a:pt x="447" y="132"/>
                </a:lnTo>
                <a:lnTo>
                  <a:pt x="447" y="103"/>
                </a:lnTo>
                <a:lnTo>
                  <a:pt x="462" y="103"/>
                </a:lnTo>
                <a:lnTo>
                  <a:pt x="462" y="101"/>
                </a:lnTo>
                <a:lnTo>
                  <a:pt x="462" y="101"/>
                </a:lnTo>
                <a:lnTo>
                  <a:pt x="462" y="99"/>
                </a:lnTo>
                <a:lnTo>
                  <a:pt x="463" y="97"/>
                </a:lnTo>
                <a:lnTo>
                  <a:pt x="465" y="96"/>
                </a:lnTo>
                <a:lnTo>
                  <a:pt x="467" y="96"/>
                </a:lnTo>
                <a:lnTo>
                  <a:pt x="479" y="96"/>
                </a:lnTo>
                <a:lnTo>
                  <a:pt x="479" y="96"/>
                </a:lnTo>
                <a:lnTo>
                  <a:pt x="482" y="96"/>
                </a:lnTo>
                <a:lnTo>
                  <a:pt x="483" y="97"/>
                </a:lnTo>
                <a:lnTo>
                  <a:pt x="485" y="99"/>
                </a:lnTo>
                <a:lnTo>
                  <a:pt x="485" y="101"/>
                </a:lnTo>
                <a:lnTo>
                  <a:pt x="485" y="103"/>
                </a:lnTo>
                <a:lnTo>
                  <a:pt x="500" y="103"/>
                </a:lnTo>
                <a:lnTo>
                  <a:pt x="500" y="132"/>
                </a:lnTo>
                <a:close/>
                <a:moveTo>
                  <a:pt x="500" y="74"/>
                </a:moveTo>
                <a:lnTo>
                  <a:pt x="447" y="74"/>
                </a:lnTo>
                <a:lnTo>
                  <a:pt x="447" y="46"/>
                </a:lnTo>
                <a:lnTo>
                  <a:pt x="462" y="46"/>
                </a:lnTo>
                <a:lnTo>
                  <a:pt x="462" y="44"/>
                </a:lnTo>
                <a:lnTo>
                  <a:pt x="462" y="44"/>
                </a:lnTo>
                <a:lnTo>
                  <a:pt x="462" y="40"/>
                </a:lnTo>
                <a:lnTo>
                  <a:pt x="463" y="39"/>
                </a:lnTo>
                <a:lnTo>
                  <a:pt x="465" y="37"/>
                </a:lnTo>
                <a:lnTo>
                  <a:pt x="467" y="37"/>
                </a:lnTo>
                <a:lnTo>
                  <a:pt x="479" y="37"/>
                </a:lnTo>
                <a:lnTo>
                  <a:pt x="479" y="37"/>
                </a:lnTo>
                <a:lnTo>
                  <a:pt x="482" y="37"/>
                </a:lnTo>
                <a:lnTo>
                  <a:pt x="483" y="39"/>
                </a:lnTo>
                <a:lnTo>
                  <a:pt x="485" y="40"/>
                </a:lnTo>
                <a:lnTo>
                  <a:pt x="485" y="44"/>
                </a:lnTo>
                <a:lnTo>
                  <a:pt x="485" y="46"/>
                </a:lnTo>
                <a:lnTo>
                  <a:pt x="500" y="46"/>
                </a:lnTo>
                <a:lnTo>
                  <a:pt x="500" y="74"/>
                </a:lnTo>
                <a:close/>
                <a:moveTo>
                  <a:pt x="576" y="132"/>
                </a:moveTo>
                <a:lnTo>
                  <a:pt x="523" y="132"/>
                </a:lnTo>
                <a:lnTo>
                  <a:pt x="523" y="103"/>
                </a:lnTo>
                <a:lnTo>
                  <a:pt x="538" y="103"/>
                </a:lnTo>
                <a:lnTo>
                  <a:pt x="538" y="101"/>
                </a:lnTo>
                <a:lnTo>
                  <a:pt x="538" y="101"/>
                </a:lnTo>
                <a:lnTo>
                  <a:pt x="538" y="99"/>
                </a:lnTo>
                <a:lnTo>
                  <a:pt x="540" y="97"/>
                </a:lnTo>
                <a:lnTo>
                  <a:pt x="541" y="96"/>
                </a:lnTo>
                <a:lnTo>
                  <a:pt x="544" y="96"/>
                </a:lnTo>
                <a:lnTo>
                  <a:pt x="556" y="96"/>
                </a:lnTo>
                <a:lnTo>
                  <a:pt x="556" y="96"/>
                </a:lnTo>
                <a:lnTo>
                  <a:pt x="558" y="96"/>
                </a:lnTo>
                <a:lnTo>
                  <a:pt x="560" y="97"/>
                </a:lnTo>
                <a:lnTo>
                  <a:pt x="561" y="99"/>
                </a:lnTo>
                <a:lnTo>
                  <a:pt x="561" y="101"/>
                </a:lnTo>
                <a:lnTo>
                  <a:pt x="561" y="103"/>
                </a:lnTo>
                <a:lnTo>
                  <a:pt x="576" y="103"/>
                </a:lnTo>
                <a:lnTo>
                  <a:pt x="576" y="132"/>
                </a:lnTo>
                <a:close/>
                <a:moveTo>
                  <a:pt x="576" y="74"/>
                </a:moveTo>
                <a:lnTo>
                  <a:pt x="523" y="74"/>
                </a:lnTo>
                <a:lnTo>
                  <a:pt x="523" y="46"/>
                </a:lnTo>
                <a:lnTo>
                  <a:pt x="538" y="46"/>
                </a:lnTo>
                <a:lnTo>
                  <a:pt x="538" y="44"/>
                </a:lnTo>
                <a:lnTo>
                  <a:pt x="538" y="44"/>
                </a:lnTo>
                <a:lnTo>
                  <a:pt x="538" y="40"/>
                </a:lnTo>
                <a:lnTo>
                  <a:pt x="540" y="39"/>
                </a:lnTo>
                <a:lnTo>
                  <a:pt x="541" y="37"/>
                </a:lnTo>
                <a:lnTo>
                  <a:pt x="544" y="37"/>
                </a:lnTo>
                <a:lnTo>
                  <a:pt x="556" y="37"/>
                </a:lnTo>
                <a:lnTo>
                  <a:pt x="556" y="37"/>
                </a:lnTo>
                <a:lnTo>
                  <a:pt x="558" y="37"/>
                </a:lnTo>
                <a:lnTo>
                  <a:pt x="560" y="39"/>
                </a:lnTo>
                <a:lnTo>
                  <a:pt x="561" y="40"/>
                </a:lnTo>
                <a:lnTo>
                  <a:pt x="561" y="44"/>
                </a:lnTo>
                <a:lnTo>
                  <a:pt x="561" y="46"/>
                </a:lnTo>
                <a:lnTo>
                  <a:pt x="576" y="46"/>
                </a:lnTo>
                <a:lnTo>
                  <a:pt x="576" y="74"/>
                </a:lnTo>
                <a:close/>
                <a:moveTo>
                  <a:pt x="651" y="0"/>
                </a:moveTo>
                <a:lnTo>
                  <a:pt x="18" y="0"/>
                </a:lnTo>
                <a:lnTo>
                  <a:pt x="18" y="0"/>
                </a:lnTo>
                <a:lnTo>
                  <a:pt x="14" y="0"/>
                </a:lnTo>
                <a:lnTo>
                  <a:pt x="11" y="1"/>
                </a:lnTo>
                <a:lnTo>
                  <a:pt x="8" y="3"/>
                </a:lnTo>
                <a:lnTo>
                  <a:pt x="6" y="5"/>
                </a:lnTo>
                <a:lnTo>
                  <a:pt x="3" y="7"/>
                </a:lnTo>
                <a:lnTo>
                  <a:pt x="1" y="11"/>
                </a:lnTo>
                <a:lnTo>
                  <a:pt x="0" y="14"/>
                </a:lnTo>
                <a:lnTo>
                  <a:pt x="0" y="18"/>
                </a:lnTo>
                <a:lnTo>
                  <a:pt x="0" y="144"/>
                </a:lnTo>
                <a:lnTo>
                  <a:pt x="0" y="144"/>
                </a:lnTo>
                <a:lnTo>
                  <a:pt x="0" y="147"/>
                </a:lnTo>
                <a:lnTo>
                  <a:pt x="1" y="150"/>
                </a:lnTo>
                <a:lnTo>
                  <a:pt x="3" y="154"/>
                </a:lnTo>
                <a:lnTo>
                  <a:pt x="6" y="157"/>
                </a:lnTo>
                <a:lnTo>
                  <a:pt x="8" y="159"/>
                </a:lnTo>
                <a:lnTo>
                  <a:pt x="11" y="160"/>
                </a:lnTo>
                <a:lnTo>
                  <a:pt x="14" y="161"/>
                </a:lnTo>
                <a:lnTo>
                  <a:pt x="18" y="162"/>
                </a:lnTo>
                <a:lnTo>
                  <a:pt x="651" y="162"/>
                </a:lnTo>
                <a:lnTo>
                  <a:pt x="651" y="162"/>
                </a:lnTo>
                <a:lnTo>
                  <a:pt x="655" y="161"/>
                </a:lnTo>
                <a:lnTo>
                  <a:pt x="658" y="160"/>
                </a:lnTo>
                <a:lnTo>
                  <a:pt x="661" y="159"/>
                </a:lnTo>
                <a:lnTo>
                  <a:pt x="664" y="157"/>
                </a:lnTo>
                <a:lnTo>
                  <a:pt x="666" y="154"/>
                </a:lnTo>
                <a:lnTo>
                  <a:pt x="668" y="150"/>
                </a:lnTo>
                <a:lnTo>
                  <a:pt x="669" y="147"/>
                </a:lnTo>
                <a:lnTo>
                  <a:pt x="669" y="144"/>
                </a:lnTo>
                <a:lnTo>
                  <a:pt x="669" y="18"/>
                </a:lnTo>
                <a:lnTo>
                  <a:pt x="669" y="18"/>
                </a:lnTo>
                <a:lnTo>
                  <a:pt x="669" y="14"/>
                </a:lnTo>
                <a:lnTo>
                  <a:pt x="668" y="11"/>
                </a:lnTo>
                <a:lnTo>
                  <a:pt x="666" y="7"/>
                </a:lnTo>
                <a:lnTo>
                  <a:pt x="664" y="5"/>
                </a:lnTo>
                <a:lnTo>
                  <a:pt x="661" y="3"/>
                </a:lnTo>
                <a:lnTo>
                  <a:pt x="658" y="1"/>
                </a:lnTo>
                <a:lnTo>
                  <a:pt x="655" y="0"/>
                </a:lnTo>
                <a:lnTo>
                  <a:pt x="651" y="0"/>
                </a:lnTo>
                <a:lnTo>
                  <a:pt x="651" y="0"/>
                </a:lnTo>
                <a:close/>
                <a:moveTo>
                  <a:pt x="54" y="119"/>
                </a:moveTo>
                <a:lnTo>
                  <a:pt x="54" y="119"/>
                </a:lnTo>
                <a:lnTo>
                  <a:pt x="49" y="118"/>
                </a:lnTo>
                <a:lnTo>
                  <a:pt x="46" y="116"/>
                </a:lnTo>
                <a:lnTo>
                  <a:pt x="44" y="113"/>
                </a:lnTo>
                <a:lnTo>
                  <a:pt x="43" y="109"/>
                </a:lnTo>
                <a:lnTo>
                  <a:pt x="43" y="109"/>
                </a:lnTo>
                <a:lnTo>
                  <a:pt x="44" y="104"/>
                </a:lnTo>
                <a:lnTo>
                  <a:pt x="46" y="101"/>
                </a:lnTo>
                <a:lnTo>
                  <a:pt x="49" y="98"/>
                </a:lnTo>
                <a:lnTo>
                  <a:pt x="54" y="98"/>
                </a:lnTo>
                <a:lnTo>
                  <a:pt x="54" y="98"/>
                </a:lnTo>
                <a:lnTo>
                  <a:pt x="59" y="98"/>
                </a:lnTo>
                <a:lnTo>
                  <a:pt x="62" y="101"/>
                </a:lnTo>
                <a:lnTo>
                  <a:pt x="64" y="104"/>
                </a:lnTo>
                <a:lnTo>
                  <a:pt x="65" y="109"/>
                </a:lnTo>
                <a:lnTo>
                  <a:pt x="65" y="109"/>
                </a:lnTo>
                <a:lnTo>
                  <a:pt x="64" y="113"/>
                </a:lnTo>
                <a:lnTo>
                  <a:pt x="62" y="116"/>
                </a:lnTo>
                <a:lnTo>
                  <a:pt x="59" y="118"/>
                </a:lnTo>
                <a:lnTo>
                  <a:pt x="54" y="119"/>
                </a:lnTo>
                <a:lnTo>
                  <a:pt x="54" y="119"/>
                </a:lnTo>
                <a:close/>
                <a:moveTo>
                  <a:pt x="54" y="64"/>
                </a:moveTo>
                <a:lnTo>
                  <a:pt x="54" y="64"/>
                </a:lnTo>
                <a:lnTo>
                  <a:pt x="49" y="63"/>
                </a:lnTo>
                <a:lnTo>
                  <a:pt x="46" y="61"/>
                </a:lnTo>
                <a:lnTo>
                  <a:pt x="44" y="58"/>
                </a:lnTo>
                <a:lnTo>
                  <a:pt x="43" y="53"/>
                </a:lnTo>
                <a:lnTo>
                  <a:pt x="43" y="53"/>
                </a:lnTo>
                <a:lnTo>
                  <a:pt x="44" y="49"/>
                </a:lnTo>
                <a:lnTo>
                  <a:pt x="46" y="46"/>
                </a:lnTo>
                <a:lnTo>
                  <a:pt x="49" y="44"/>
                </a:lnTo>
                <a:lnTo>
                  <a:pt x="54" y="43"/>
                </a:lnTo>
                <a:lnTo>
                  <a:pt x="54" y="43"/>
                </a:lnTo>
                <a:lnTo>
                  <a:pt x="59" y="44"/>
                </a:lnTo>
                <a:lnTo>
                  <a:pt x="62" y="46"/>
                </a:lnTo>
                <a:lnTo>
                  <a:pt x="64" y="49"/>
                </a:lnTo>
                <a:lnTo>
                  <a:pt x="65" y="53"/>
                </a:lnTo>
                <a:lnTo>
                  <a:pt x="65" y="53"/>
                </a:lnTo>
                <a:lnTo>
                  <a:pt x="64" y="58"/>
                </a:lnTo>
                <a:lnTo>
                  <a:pt x="62" y="61"/>
                </a:lnTo>
                <a:lnTo>
                  <a:pt x="59" y="63"/>
                </a:lnTo>
                <a:lnTo>
                  <a:pt x="54" y="64"/>
                </a:lnTo>
                <a:lnTo>
                  <a:pt x="54" y="64"/>
                </a:lnTo>
                <a:close/>
                <a:moveTo>
                  <a:pt x="121" y="119"/>
                </a:moveTo>
                <a:lnTo>
                  <a:pt x="121" y="119"/>
                </a:lnTo>
                <a:lnTo>
                  <a:pt x="116" y="118"/>
                </a:lnTo>
                <a:lnTo>
                  <a:pt x="112" y="116"/>
                </a:lnTo>
                <a:lnTo>
                  <a:pt x="110" y="113"/>
                </a:lnTo>
                <a:lnTo>
                  <a:pt x="109" y="109"/>
                </a:lnTo>
                <a:lnTo>
                  <a:pt x="109" y="109"/>
                </a:lnTo>
                <a:lnTo>
                  <a:pt x="110" y="104"/>
                </a:lnTo>
                <a:lnTo>
                  <a:pt x="112" y="101"/>
                </a:lnTo>
                <a:lnTo>
                  <a:pt x="116" y="98"/>
                </a:lnTo>
                <a:lnTo>
                  <a:pt x="121" y="98"/>
                </a:lnTo>
                <a:lnTo>
                  <a:pt x="121" y="98"/>
                </a:lnTo>
                <a:lnTo>
                  <a:pt x="125" y="98"/>
                </a:lnTo>
                <a:lnTo>
                  <a:pt x="128" y="101"/>
                </a:lnTo>
                <a:lnTo>
                  <a:pt x="130" y="104"/>
                </a:lnTo>
                <a:lnTo>
                  <a:pt x="131" y="109"/>
                </a:lnTo>
                <a:lnTo>
                  <a:pt x="131" y="109"/>
                </a:lnTo>
                <a:lnTo>
                  <a:pt x="130" y="113"/>
                </a:lnTo>
                <a:lnTo>
                  <a:pt x="128" y="116"/>
                </a:lnTo>
                <a:lnTo>
                  <a:pt x="125" y="118"/>
                </a:lnTo>
                <a:lnTo>
                  <a:pt x="121" y="119"/>
                </a:lnTo>
                <a:lnTo>
                  <a:pt x="121" y="119"/>
                </a:lnTo>
                <a:close/>
                <a:moveTo>
                  <a:pt x="121" y="64"/>
                </a:moveTo>
                <a:lnTo>
                  <a:pt x="121" y="64"/>
                </a:lnTo>
                <a:lnTo>
                  <a:pt x="116" y="63"/>
                </a:lnTo>
                <a:lnTo>
                  <a:pt x="112" y="61"/>
                </a:lnTo>
                <a:lnTo>
                  <a:pt x="110" y="58"/>
                </a:lnTo>
                <a:lnTo>
                  <a:pt x="109" y="53"/>
                </a:lnTo>
                <a:lnTo>
                  <a:pt x="109" y="53"/>
                </a:lnTo>
                <a:lnTo>
                  <a:pt x="110" y="49"/>
                </a:lnTo>
                <a:lnTo>
                  <a:pt x="112" y="46"/>
                </a:lnTo>
                <a:lnTo>
                  <a:pt x="116" y="44"/>
                </a:lnTo>
                <a:lnTo>
                  <a:pt x="121" y="43"/>
                </a:lnTo>
                <a:lnTo>
                  <a:pt x="121" y="43"/>
                </a:lnTo>
                <a:lnTo>
                  <a:pt x="125" y="44"/>
                </a:lnTo>
                <a:lnTo>
                  <a:pt x="128" y="46"/>
                </a:lnTo>
                <a:lnTo>
                  <a:pt x="130" y="49"/>
                </a:lnTo>
                <a:lnTo>
                  <a:pt x="131" y="53"/>
                </a:lnTo>
                <a:lnTo>
                  <a:pt x="131" y="53"/>
                </a:lnTo>
                <a:lnTo>
                  <a:pt x="130" y="58"/>
                </a:lnTo>
                <a:lnTo>
                  <a:pt x="128" y="61"/>
                </a:lnTo>
                <a:lnTo>
                  <a:pt x="125" y="63"/>
                </a:lnTo>
                <a:lnTo>
                  <a:pt x="121" y="64"/>
                </a:lnTo>
                <a:lnTo>
                  <a:pt x="121" y="64"/>
                </a:lnTo>
                <a:close/>
                <a:moveTo>
                  <a:pt x="187" y="119"/>
                </a:moveTo>
                <a:lnTo>
                  <a:pt x="187" y="119"/>
                </a:lnTo>
                <a:lnTo>
                  <a:pt x="183" y="118"/>
                </a:lnTo>
                <a:lnTo>
                  <a:pt x="179" y="116"/>
                </a:lnTo>
                <a:lnTo>
                  <a:pt x="176" y="113"/>
                </a:lnTo>
                <a:lnTo>
                  <a:pt x="176" y="109"/>
                </a:lnTo>
                <a:lnTo>
                  <a:pt x="176" y="109"/>
                </a:lnTo>
                <a:lnTo>
                  <a:pt x="176" y="104"/>
                </a:lnTo>
                <a:lnTo>
                  <a:pt x="179" y="101"/>
                </a:lnTo>
                <a:lnTo>
                  <a:pt x="183" y="98"/>
                </a:lnTo>
                <a:lnTo>
                  <a:pt x="187" y="98"/>
                </a:lnTo>
                <a:lnTo>
                  <a:pt x="187" y="98"/>
                </a:lnTo>
                <a:lnTo>
                  <a:pt x="191" y="98"/>
                </a:lnTo>
                <a:lnTo>
                  <a:pt x="194" y="101"/>
                </a:lnTo>
                <a:lnTo>
                  <a:pt x="198" y="104"/>
                </a:lnTo>
                <a:lnTo>
                  <a:pt x="198" y="109"/>
                </a:lnTo>
                <a:lnTo>
                  <a:pt x="198" y="109"/>
                </a:lnTo>
                <a:lnTo>
                  <a:pt x="198" y="113"/>
                </a:lnTo>
                <a:lnTo>
                  <a:pt x="194" y="116"/>
                </a:lnTo>
                <a:lnTo>
                  <a:pt x="191" y="118"/>
                </a:lnTo>
                <a:lnTo>
                  <a:pt x="187" y="119"/>
                </a:lnTo>
                <a:lnTo>
                  <a:pt x="187" y="119"/>
                </a:lnTo>
                <a:close/>
                <a:moveTo>
                  <a:pt x="187" y="64"/>
                </a:moveTo>
                <a:lnTo>
                  <a:pt x="187" y="64"/>
                </a:lnTo>
                <a:lnTo>
                  <a:pt x="183" y="63"/>
                </a:lnTo>
                <a:lnTo>
                  <a:pt x="179" y="61"/>
                </a:lnTo>
                <a:lnTo>
                  <a:pt x="176" y="58"/>
                </a:lnTo>
                <a:lnTo>
                  <a:pt x="176" y="53"/>
                </a:lnTo>
                <a:lnTo>
                  <a:pt x="176" y="53"/>
                </a:lnTo>
                <a:lnTo>
                  <a:pt x="176" y="49"/>
                </a:lnTo>
                <a:lnTo>
                  <a:pt x="179" y="46"/>
                </a:lnTo>
                <a:lnTo>
                  <a:pt x="183" y="44"/>
                </a:lnTo>
                <a:lnTo>
                  <a:pt x="187" y="43"/>
                </a:lnTo>
                <a:lnTo>
                  <a:pt x="187" y="43"/>
                </a:lnTo>
                <a:lnTo>
                  <a:pt x="191" y="44"/>
                </a:lnTo>
                <a:lnTo>
                  <a:pt x="194" y="46"/>
                </a:lnTo>
                <a:lnTo>
                  <a:pt x="198" y="49"/>
                </a:lnTo>
                <a:lnTo>
                  <a:pt x="198" y="53"/>
                </a:lnTo>
                <a:lnTo>
                  <a:pt x="198" y="53"/>
                </a:lnTo>
                <a:lnTo>
                  <a:pt x="198" y="58"/>
                </a:lnTo>
                <a:lnTo>
                  <a:pt x="194" y="61"/>
                </a:lnTo>
                <a:lnTo>
                  <a:pt x="191" y="63"/>
                </a:lnTo>
                <a:lnTo>
                  <a:pt x="187" y="64"/>
                </a:lnTo>
                <a:lnTo>
                  <a:pt x="187" y="64"/>
                </a:lnTo>
                <a:close/>
                <a:moveTo>
                  <a:pt x="608" y="148"/>
                </a:moveTo>
                <a:lnTo>
                  <a:pt x="257" y="148"/>
                </a:lnTo>
                <a:lnTo>
                  <a:pt x="257" y="19"/>
                </a:lnTo>
                <a:lnTo>
                  <a:pt x="608" y="19"/>
                </a:lnTo>
                <a:lnTo>
                  <a:pt x="608" y="148"/>
                </a:lnTo>
                <a:close/>
                <a:moveTo>
                  <a:pt x="637" y="98"/>
                </a:moveTo>
                <a:lnTo>
                  <a:pt x="637" y="98"/>
                </a:lnTo>
                <a:lnTo>
                  <a:pt x="632" y="97"/>
                </a:lnTo>
                <a:lnTo>
                  <a:pt x="626" y="94"/>
                </a:lnTo>
                <a:lnTo>
                  <a:pt x="624" y="90"/>
                </a:lnTo>
                <a:lnTo>
                  <a:pt x="623" y="84"/>
                </a:lnTo>
                <a:lnTo>
                  <a:pt x="623" y="84"/>
                </a:lnTo>
                <a:lnTo>
                  <a:pt x="624" y="78"/>
                </a:lnTo>
                <a:lnTo>
                  <a:pt x="626" y="74"/>
                </a:lnTo>
                <a:lnTo>
                  <a:pt x="632" y="70"/>
                </a:lnTo>
                <a:lnTo>
                  <a:pt x="637" y="69"/>
                </a:lnTo>
                <a:lnTo>
                  <a:pt x="637" y="69"/>
                </a:lnTo>
                <a:lnTo>
                  <a:pt x="642" y="70"/>
                </a:lnTo>
                <a:lnTo>
                  <a:pt x="648" y="74"/>
                </a:lnTo>
                <a:lnTo>
                  <a:pt x="651" y="78"/>
                </a:lnTo>
                <a:lnTo>
                  <a:pt x="652" y="84"/>
                </a:lnTo>
                <a:lnTo>
                  <a:pt x="652" y="84"/>
                </a:lnTo>
                <a:lnTo>
                  <a:pt x="651" y="90"/>
                </a:lnTo>
                <a:lnTo>
                  <a:pt x="648" y="94"/>
                </a:lnTo>
                <a:lnTo>
                  <a:pt x="642" y="97"/>
                </a:lnTo>
                <a:lnTo>
                  <a:pt x="637" y="98"/>
                </a:lnTo>
                <a:lnTo>
                  <a:pt x="637" y="98"/>
                </a:ln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68537" tIns="34268" rIns="68537" bIns="34268" numCol="1" anchor="ctr" anchorCtr="0" compatLnSpc="1"/>
          <a:lstStyle/>
          <a:p>
            <a:pPr defTabSz="685324" fontAlgn="base">
              <a:spcBef>
                <a:spcPct val="0"/>
              </a:spcBef>
              <a:spcAft>
                <a:spcPct val="0"/>
              </a:spcAft>
              <a:defRPr/>
            </a:pPr>
            <a:endParaRPr lang="en-US" altLang="zh-CN" sz="900" kern="0" dirty="0">
              <a:solidFill>
                <a:srgbClr val="000000"/>
              </a:solidFill>
              <a:cs typeface="Arial" panose="020B0604020202020204" pitchFamily="34" charset="0"/>
            </a:endParaRPr>
          </a:p>
        </p:txBody>
      </p:sp>
      <p:sp>
        <p:nvSpPr>
          <p:cNvPr id="62" name="文本框 61"/>
          <p:cNvSpPr txBox="1"/>
          <p:nvPr/>
        </p:nvSpPr>
        <p:spPr>
          <a:xfrm>
            <a:off x="5632717" y="4171133"/>
            <a:ext cx="2825902" cy="425758"/>
          </a:xfrm>
          <a:prstGeom prst="rect">
            <a:avLst/>
          </a:prstGeom>
          <a:noFill/>
        </p:spPr>
        <p:txBody>
          <a:bodyPr wrap="none" rtlCol="0" anchor="ctr">
            <a:spAutoFit/>
          </a:bodyPr>
          <a:lstStyle/>
          <a:p>
            <a:pPr>
              <a:lnSpc>
                <a:spcPts val="2580"/>
              </a:lnSpc>
            </a:pPr>
            <a:r>
              <a:rPr lang="en-US" altLang="zh-CN" sz="1500" dirty="0">
                <a:solidFill>
                  <a:prstClr val="black"/>
                </a:solidFill>
              </a:rPr>
              <a:t>High-Speed</a:t>
            </a:r>
            <a:r>
              <a:rPr lang="zh-CN" altLang="en-US" sz="1500" dirty="0">
                <a:solidFill>
                  <a:srgbClr val="1D1D1A"/>
                </a:solidFill>
              </a:rPr>
              <a:t> </a:t>
            </a:r>
            <a:r>
              <a:rPr lang="en-US" altLang="zh-CN" sz="1500" dirty="0">
                <a:solidFill>
                  <a:srgbClr val="1D1D1A"/>
                </a:solidFill>
              </a:rPr>
              <a:t>exchanging network</a:t>
            </a:r>
            <a:endParaRPr lang="zh-CN" altLang="en-US" sz="1500" dirty="0">
              <a:solidFill>
                <a:srgbClr val="1D1D1A"/>
              </a:solidFill>
            </a:endParaRPr>
          </a:p>
        </p:txBody>
      </p:sp>
      <p:sp>
        <p:nvSpPr>
          <p:cNvPr id="65" name="矩形 64"/>
          <p:cNvSpPr/>
          <p:nvPr/>
        </p:nvSpPr>
        <p:spPr>
          <a:xfrm>
            <a:off x="4220636" y="3535825"/>
            <a:ext cx="4374486" cy="18365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Tree>
    <p:extLst>
      <p:ext uri="{BB962C8B-B14F-4D97-AF65-F5344CB8AC3E}">
        <p14:creationId xmlns:p14="http://schemas.microsoft.com/office/powerpoint/2010/main" val="384985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b="1" dirty="0">
                <a:sym typeface="微软雅黑" panose="020B0503020204020204" pitchFamily="34" charset="-122"/>
              </a:rPr>
              <a:t>Features of different application of HPC</a:t>
            </a:r>
            <a:endParaRPr lang="zh-CN" altLang="en-US" b="1" dirty="0">
              <a:sym typeface="微软雅黑" panose="020B0503020204020204" pitchFamily="34" charset="-122"/>
            </a:endParaRPr>
          </a:p>
        </p:txBody>
      </p:sp>
      <p:sp>
        <p:nvSpPr>
          <p:cNvPr id="11" name="文本框 10"/>
          <p:cNvSpPr txBox="1"/>
          <p:nvPr/>
        </p:nvSpPr>
        <p:spPr>
          <a:xfrm>
            <a:off x="3500884" y="1641444"/>
            <a:ext cx="5025122" cy="715581"/>
          </a:xfrm>
          <a:prstGeom prst="rect">
            <a:avLst/>
          </a:prstGeom>
          <a:noFill/>
        </p:spPr>
        <p:txBody>
          <a:bodyPr wrap="square" rtlCol="0">
            <a:spAutoFit/>
          </a:bodyPr>
          <a:lstStyle/>
          <a:p>
            <a:pPr marL="214313" indent="-214313" defTabSz="911543" fontAlgn="base">
              <a:lnSpc>
                <a:spcPct val="150000"/>
              </a:lnSpc>
              <a:spcBef>
                <a:spcPct val="0"/>
              </a:spcBef>
              <a:spcAft>
                <a:spcPct val="0"/>
              </a:spcAft>
              <a:buClr>
                <a:prstClr val="black"/>
              </a:buClr>
              <a:buSzPct val="60000"/>
              <a:buFont typeface="Wingdings" panose="05000000000000000000" pitchFamily="2" charset="2"/>
              <a:buChar char="l"/>
            </a:pPr>
            <a:r>
              <a:rPr lang="en-US" altLang="zh-CN" sz="1350" b="1" dirty="0">
                <a:solidFill>
                  <a:prstClr val="black"/>
                </a:solidFill>
                <a:cs typeface="Huawei Sans" panose="020C0503030203020204" pitchFamily="34" charset="0"/>
              </a:rPr>
              <a:t>Different applications have different requirements on computing ability, storage efficiency, network IO, and delay.</a:t>
            </a:r>
            <a:endParaRPr lang="zh-CN" altLang="en-US" sz="1350" b="1" dirty="0">
              <a:solidFill>
                <a:prstClr val="black"/>
              </a:solidFill>
              <a:cs typeface="Huawei Sans" panose="020C0503030203020204" pitchFamily="34" charset="0"/>
            </a:endParaRPr>
          </a:p>
        </p:txBody>
      </p:sp>
      <p:grpSp>
        <p:nvGrpSpPr>
          <p:cNvPr id="12" name="组合 11"/>
          <p:cNvGrpSpPr/>
          <p:nvPr/>
        </p:nvGrpSpPr>
        <p:grpSpPr>
          <a:xfrm>
            <a:off x="3291572" y="2333942"/>
            <a:ext cx="5183317" cy="3173577"/>
            <a:chOff x="5401395" y="2268837"/>
            <a:chExt cx="6311229" cy="4375607"/>
          </a:xfrm>
        </p:grpSpPr>
        <p:sp>
          <p:nvSpPr>
            <p:cNvPr id="14" name="矩形 13"/>
            <p:cNvSpPr/>
            <p:nvPr/>
          </p:nvSpPr>
          <p:spPr bwMode="auto">
            <a:xfrm>
              <a:off x="6103962" y="2773841"/>
              <a:ext cx="5508398" cy="3159361"/>
            </a:xfrm>
            <a:prstGeom prst="rect">
              <a:avLst/>
            </a:prstGeom>
            <a:solidFill>
              <a:schemeClr val="bg1">
                <a:lumMod val="95000"/>
              </a:schemeClr>
            </a:solidFill>
            <a:ln>
              <a:solidFill>
                <a:srgbClr val="C7000B"/>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68562" tIns="34281" rIns="68562" bIns="34281" numCol="1" rtlCol="0" anchor="t" anchorCtr="0" compatLnSpc="1"/>
            <a:lstStyle/>
            <a:p>
              <a:pPr fontAlgn="base">
                <a:spcBef>
                  <a:spcPct val="0"/>
                </a:spcBef>
                <a:spcAft>
                  <a:spcPct val="0"/>
                </a:spcAft>
                <a:buClr>
                  <a:srgbClr val="CC9900"/>
                </a:buClr>
                <a:buFont typeface="Wingdings" panose="05000000000000000000" pitchFamily="2" charset="2"/>
                <a:buChar char="n"/>
              </a:pPr>
              <a:endParaRPr lang="en-US" sz="1050" b="1">
                <a:solidFill>
                  <a:prstClr val="black"/>
                </a:solidFill>
              </a:endParaRPr>
            </a:p>
          </p:txBody>
        </p:sp>
        <p:cxnSp>
          <p:nvCxnSpPr>
            <p:cNvPr id="15" name="直接箭头连接符 14"/>
            <p:cNvCxnSpPr/>
            <p:nvPr/>
          </p:nvCxnSpPr>
          <p:spPr bwMode="auto">
            <a:xfrm>
              <a:off x="6097539" y="4513334"/>
              <a:ext cx="5615085" cy="0"/>
            </a:xfrm>
            <a:prstGeom prst="straightConnector1">
              <a:avLst/>
            </a:prstGeom>
            <a:noFill/>
            <a:ln w="28575" cap="flat" cmpd="sng" algn="ctr">
              <a:solidFill>
                <a:schemeClr val="accent1">
                  <a:lumMod val="75000"/>
                </a:schemeClr>
              </a:solidFill>
              <a:prstDash val="solid"/>
              <a:round/>
              <a:headEnd type="triangle" w="med" len="med"/>
              <a:tailEnd type="triangle" w="med" len="med"/>
            </a:ln>
            <a:effectLst/>
          </p:spPr>
        </p:cxnSp>
        <p:cxnSp>
          <p:nvCxnSpPr>
            <p:cNvPr id="16" name="直接箭头连接符 15"/>
            <p:cNvCxnSpPr/>
            <p:nvPr/>
          </p:nvCxnSpPr>
          <p:spPr bwMode="auto">
            <a:xfrm flipH="1" flipV="1">
              <a:off x="8855149" y="2773842"/>
              <a:ext cx="21170" cy="3159360"/>
            </a:xfrm>
            <a:prstGeom prst="straightConnector1">
              <a:avLst/>
            </a:prstGeom>
            <a:noFill/>
            <a:ln w="28575" cap="flat" cmpd="sng" algn="ctr">
              <a:solidFill>
                <a:schemeClr val="accent1">
                  <a:lumMod val="75000"/>
                </a:schemeClr>
              </a:solidFill>
              <a:prstDash val="solid"/>
              <a:round/>
              <a:headEnd type="triangle" w="med" len="med"/>
              <a:tailEnd type="triangle" w="med" len="med"/>
            </a:ln>
            <a:effectLst/>
          </p:spPr>
        </p:cxnSp>
        <p:sp>
          <p:nvSpPr>
            <p:cNvPr id="18" name="文本框 17"/>
            <p:cNvSpPr txBox="1"/>
            <p:nvPr/>
          </p:nvSpPr>
          <p:spPr>
            <a:xfrm>
              <a:off x="5401395" y="4343595"/>
              <a:ext cx="869026" cy="509221"/>
            </a:xfrm>
            <a:prstGeom prst="rect">
              <a:avLst/>
            </a:prstGeom>
            <a:noFill/>
          </p:spPr>
          <p:txBody>
            <a:bodyPr wrap="square" rtlCol="0">
              <a:spAutoFit/>
            </a:bodyPr>
            <a:lstStyle/>
            <a:p>
              <a:pPr algn="ctr"/>
              <a:r>
                <a:rPr lang="en-US" sz="900" b="1" dirty="0">
                  <a:solidFill>
                    <a:prstClr val="black"/>
                  </a:solidFill>
                  <a:cs typeface="Arial" panose="020B0604020202020204" pitchFamily="34" charset="0"/>
                </a:rPr>
                <a:t>Data</a:t>
              </a:r>
            </a:p>
            <a:p>
              <a:pPr algn="ctr"/>
              <a:r>
                <a:rPr lang="en-US" sz="900" b="1" dirty="0">
                  <a:solidFill>
                    <a:prstClr val="black"/>
                  </a:solidFill>
                  <a:cs typeface="Arial" panose="020B0604020202020204" pitchFamily="34" charset="0"/>
                </a:rPr>
                <a:t>light</a:t>
              </a:r>
            </a:p>
          </p:txBody>
        </p:sp>
        <p:sp>
          <p:nvSpPr>
            <p:cNvPr id="19" name="文本框 18"/>
            <p:cNvSpPr txBox="1"/>
            <p:nvPr/>
          </p:nvSpPr>
          <p:spPr>
            <a:xfrm>
              <a:off x="8212439" y="2300685"/>
              <a:ext cx="1291443" cy="509221"/>
            </a:xfrm>
            <a:prstGeom prst="rect">
              <a:avLst/>
            </a:prstGeom>
            <a:noFill/>
          </p:spPr>
          <p:txBody>
            <a:bodyPr wrap="square" rtlCol="0">
              <a:spAutoFit/>
            </a:bodyPr>
            <a:lstStyle/>
            <a:p>
              <a:pPr algn="ctr"/>
              <a:r>
                <a:rPr lang="en-US" altLang="zh-CN" sz="900" dirty="0">
                  <a:solidFill>
                    <a:prstClr val="black"/>
                  </a:solidFill>
                </a:rPr>
                <a:t>close coupled </a:t>
              </a:r>
              <a:endParaRPr lang="zh-CN" altLang="en-US" sz="900" dirty="0">
                <a:solidFill>
                  <a:prstClr val="black"/>
                </a:solidFill>
              </a:endParaRPr>
            </a:p>
            <a:p>
              <a:pPr algn="ctr"/>
              <a:r>
                <a:rPr lang="en-US" altLang="zh-CN" sz="900" dirty="0">
                  <a:solidFill>
                    <a:prstClr val="black"/>
                  </a:solidFill>
                </a:rPr>
                <a:t>network</a:t>
              </a:r>
              <a:endParaRPr lang="en-US" sz="900" dirty="0">
                <a:solidFill>
                  <a:prstClr val="black"/>
                </a:solidFill>
              </a:endParaRPr>
            </a:p>
          </p:txBody>
        </p:sp>
        <p:sp>
          <p:nvSpPr>
            <p:cNvPr id="20" name="文本框 19"/>
            <p:cNvSpPr txBox="1"/>
            <p:nvPr/>
          </p:nvSpPr>
          <p:spPr>
            <a:xfrm>
              <a:off x="8193041" y="5986379"/>
              <a:ext cx="1359342" cy="509221"/>
            </a:xfrm>
            <a:prstGeom prst="rect">
              <a:avLst/>
            </a:prstGeom>
            <a:noFill/>
          </p:spPr>
          <p:txBody>
            <a:bodyPr wrap="square" rtlCol="0">
              <a:spAutoFit/>
            </a:bodyPr>
            <a:lstStyle/>
            <a:p>
              <a:pPr algn="ctr"/>
              <a:r>
                <a:rPr lang="en-US" altLang="zh-CN" sz="900" dirty="0">
                  <a:solidFill>
                    <a:prstClr val="black"/>
                  </a:solidFill>
                </a:rPr>
                <a:t>loosely coupled network</a:t>
              </a:r>
              <a:endParaRPr lang="en-US" sz="900" b="1" dirty="0">
                <a:solidFill>
                  <a:prstClr val="black"/>
                </a:solidFill>
                <a:cs typeface="Arial" panose="020B0604020202020204" pitchFamily="34" charset="0"/>
              </a:endParaRPr>
            </a:p>
          </p:txBody>
        </p:sp>
        <p:sp>
          <p:nvSpPr>
            <p:cNvPr id="21" name="圆角矩形 20"/>
            <p:cNvSpPr/>
            <p:nvPr/>
          </p:nvSpPr>
          <p:spPr bwMode="auto">
            <a:xfrm>
              <a:off x="6103962" y="2807354"/>
              <a:ext cx="5493920" cy="1646723"/>
            </a:xfrm>
            <a:prstGeom prst="roundRect">
              <a:avLst/>
            </a:prstGeom>
            <a:noFill/>
            <a:ln w="28575" cap="flat" cmpd="sng" algn="ctr">
              <a:solidFill>
                <a:srgbClr val="C00000"/>
              </a:solidFill>
              <a:prstDash val="dash"/>
              <a:round/>
              <a:headEnd type="none" w="med" len="med"/>
              <a:tailEnd type="none" w="med" len="med"/>
            </a:ln>
            <a:effectLst/>
          </p:spPr>
          <p:txBody>
            <a:bodyPr vert="horz" wrap="square" lIns="68562" tIns="34281" rIns="68562" bIns="34281" numCol="1" rtlCol="0" anchor="t" anchorCtr="0" compatLnSpc="1"/>
            <a:lstStyle/>
            <a:p>
              <a:pPr fontAlgn="base">
                <a:spcBef>
                  <a:spcPct val="0"/>
                </a:spcBef>
                <a:spcAft>
                  <a:spcPct val="0"/>
                </a:spcAft>
                <a:buClr>
                  <a:srgbClr val="CC9900"/>
                </a:buClr>
                <a:buFont typeface="Wingdings" panose="05000000000000000000" pitchFamily="2" charset="2"/>
                <a:buChar char="n"/>
              </a:pPr>
              <a:endParaRPr lang="en-US" sz="1050" b="1">
                <a:solidFill>
                  <a:prstClr val="black"/>
                </a:solidFill>
              </a:endParaRPr>
            </a:p>
          </p:txBody>
        </p:sp>
        <p:sp>
          <p:nvSpPr>
            <p:cNvPr id="23" name="圆角矩形 22"/>
            <p:cNvSpPr/>
            <p:nvPr/>
          </p:nvSpPr>
          <p:spPr bwMode="auto">
            <a:xfrm>
              <a:off x="8859199" y="2807354"/>
              <a:ext cx="2739402" cy="3125848"/>
            </a:xfrm>
            <a:prstGeom prst="roundRect">
              <a:avLst>
                <a:gd name="adj" fmla="val 10117"/>
              </a:avLst>
            </a:prstGeom>
            <a:noFill/>
            <a:ln w="28575" cap="flat" cmpd="sng" algn="ctr">
              <a:solidFill>
                <a:srgbClr val="0070C0"/>
              </a:solidFill>
              <a:prstDash val="dash"/>
              <a:round/>
              <a:headEnd type="none" w="med" len="med"/>
              <a:tailEnd type="none" w="med" len="med"/>
            </a:ln>
            <a:effectLst/>
          </p:spPr>
          <p:txBody>
            <a:bodyPr vert="horz" wrap="square" lIns="68562" tIns="34281" rIns="68562" bIns="34281" numCol="1" rtlCol="0" anchor="t" anchorCtr="0" compatLnSpc="1"/>
            <a:lstStyle/>
            <a:p>
              <a:pPr fontAlgn="base">
                <a:spcBef>
                  <a:spcPct val="0"/>
                </a:spcBef>
                <a:spcAft>
                  <a:spcPct val="0"/>
                </a:spcAft>
                <a:buClr>
                  <a:srgbClr val="CC9900"/>
                </a:buClr>
                <a:buFont typeface="Wingdings" panose="05000000000000000000" pitchFamily="2" charset="2"/>
                <a:buChar char="n"/>
              </a:pPr>
              <a:endParaRPr lang="en-US" sz="1050" b="1">
                <a:solidFill>
                  <a:prstClr val="black"/>
                </a:solidFill>
              </a:endParaRPr>
            </a:p>
          </p:txBody>
        </p:sp>
        <p:sp>
          <p:nvSpPr>
            <p:cNvPr id="24" name="椭圆 23"/>
            <p:cNvSpPr/>
            <p:nvPr/>
          </p:nvSpPr>
          <p:spPr bwMode="auto">
            <a:xfrm>
              <a:off x="10054089" y="6104860"/>
              <a:ext cx="1191461" cy="426613"/>
            </a:xfrm>
            <a:prstGeom prst="ellipse">
              <a:avLst/>
            </a:prstGeom>
            <a:noFill/>
            <a:ln w="19050" cap="flat" cmpd="sng" algn="ctr">
              <a:solidFill>
                <a:srgbClr val="0070C0"/>
              </a:solidFill>
              <a:prstDash val="dash"/>
              <a:round/>
              <a:headEnd type="none" w="med" len="med"/>
              <a:tailEnd type="none" w="med" len="med"/>
            </a:ln>
            <a:effectLst/>
          </p:spPr>
          <p:txBody>
            <a:bodyPr vert="horz" wrap="square" lIns="68562" tIns="34281" rIns="68562" bIns="34281" numCol="1" rtlCol="0" anchor="ctr" anchorCtr="0" compatLnSpc="1"/>
            <a:lstStyle/>
            <a:p>
              <a:pPr algn="ctr" fontAlgn="base">
                <a:spcBef>
                  <a:spcPct val="0"/>
                </a:spcBef>
                <a:spcAft>
                  <a:spcPct val="0"/>
                </a:spcAft>
                <a:buClr>
                  <a:srgbClr val="CC9900"/>
                </a:buClr>
              </a:pPr>
              <a:r>
                <a:rPr lang="en-US" altLang="zh-CN" sz="900" dirty="0">
                  <a:solidFill>
                    <a:prstClr val="black"/>
                  </a:solidFill>
                </a:rPr>
                <a:t>High storage I/O</a:t>
              </a:r>
              <a:endParaRPr lang="en-US" sz="900" dirty="0">
                <a:solidFill>
                  <a:prstClr val="black"/>
                </a:solidFill>
              </a:endParaRPr>
            </a:p>
          </p:txBody>
        </p:sp>
        <p:cxnSp>
          <p:nvCxnSpPr>
            <p:cNvPr id="25" name="直接箭头连接符 24"/>
            <p:cNvCxnSpPr>
              <a:endCxn id="24" idx="1"/>
            </p:cNvCxnSpPr>
            <p:nvPr/>
          </p:nvCxnSpPr>
          <p:spPr bwMode="auto">
            <a:xfrm>
              <a:off x="9776217" y="5799532"/>
              <a:ext cx="452357" cy="367805"/>
            </a:xfrm>
            <a:prstGeom prst="straightConnector1">
              <a:avLst/>
            </a:prstGeom>
            <a:noFill/>
            <a:ln w="19050" cap="flat" cmpd="sng" algn="ctr">
              <a:solidFill>
                <a:srgbClr val="0070C0"/>
              </a:solidFill>
              <a:prstDash val="solid"/>
              <a:round/>
              <a:headEnd type="none" w="med" len="med"/>
              <a:tailEnd type="triangle"/>
            </a:ln>
            <a:effectLst/>
          </p:spPr>
        </p:cxnSp>
        <p:sp>
          <p:nvSpPr>
            <p:cNvPr id="26" name="椭圆 25"/>
            <p:cNvSpPr/>
            <p:nvPr/>
          </p:nvSpPr>
          <p:spPr bwMode="auto">
            <a:xfrm>
              <a:off x="5835909" y="2268837"/>
              <a:ext cx="1855428" cy="449966"/>
            </a:xfrm>
            <a:prstGeom prst="ellipse">
              <a:avLst/>
            </a:prstGeom>
            <a:noFill/>
            <a:ln w="19050" cap="flat" cmpd="sng" algn="ctr">
              <a:solidFill>
                <a:srgbClr val="C7000B"/>
              </a:solidFill>
              <a:prstDash val="dash"/>
              <a:round/>
              <a:headEnd type="none" w="med" len="med"/>
              <a:tailEnd type="none" w="med" len="med"/>
            </a:ln>
            <a:effectLst/>
          </p:spPr>
          <p:txBody>
            <a:bodyPr vert="horz" wrap="square" lIns="68562" tIns="34281" rIns="68562" bIns="34281" numCol="1" rtlCol="0" anchor="ctr" anchorCtr="0" compatLnSpc="1"/>
            <a:lstStyle/>
            <a:p>
              <a:r>
                <a:rPr lang="en-US" altLang="zh-CN" sz="900" dirty="0">
                  <a:solidFill>
                    <a:prstClr val="black"/>
                  </a:solidFill>
                </a:rPr>
                <a:t>High network communication</a:t>
              </a:r>
              <a:endParaRPr lang="zh-CN" altLang="en-US" sz="900" dirty="0">
                <a:solidFill>
                  <a:prstClr val="black"/>
                </a:solidFill>
              </a:endParaRPr>
            </a:p>
          </p:txBody>
        </p:sp>
        <p:cxnSp>
          <p:nvCxnSpPr>
            <p:cNvPr id="27" name="直接箭头连接符 26"/>
            <p:cNvCxnSpPr>
              <a:endCxn id="26" idx="4"/>
            </p:cNvCxnSpPr>
            <p:nvPr/>
          </p:nvCxnSpPr>
          <p:spPr bwMode="auto">
            <a:xfrm flipH="1" flipV="1">
              <a:off x="6763623" y="2718802"/>
              <a:ext cx="545787" cy="310000"/>
            </a:xfrm>
            <a:prstGeom prst="straightConnector1">
              <a:avLst/>
            </a:prstGeom>
            <a:noFill/>
            <a:ln w="19050" cap="flat" cmpd="sng" algn="ctr">
              <a:solidFill>
                <a:srgbClr val="C00000"/>
              </a:solidFill>
              <a:prstDash val="solid"/>
              <a:round/>
              <a:headEnd type="none" w="med" len="med"/>
              <a:tailEnd type="triangle"/>
            </a:ln>
            <a:effectLst/>
          </p:spPr>
        </p:cxnSp>
        <p:sp>
          <p:nvSpPr>
            <p:cNvPr id="28" name="椭圆 27"/>
            <p:cNvSpPr/>
            <p:nvPr/>
          </p:nvSpPr>
          <p:spPr bwMode="auto">
            <a:xfrm>
              <a:off x="6103962" y="2775868"/>
              <a:ext cx="5508398" cy="1620425"/>
            </a:xfrm>
            <a:prstGeom prst="ellipse">
              <a:avLst/>
            </a:prstGeom>
            <a:noFill/>
            <a:ln w="9525" cap="flat" cmpd="sng" algn="ctr">
              <a:noFill/>
              <a:prstDash val="solid"/>
              <a:round/>
              <a:headEnd type="none" w="med" len="med"/>
              <a:tailEnd type="none" w="med" len="med"/>
            </a:ln>
            <a:effectLst/>
          </p:spPr>
          <p:txBody>
            <a:bodyPr vert="horz" wrap="square" lIns="68562" tIns="34281" rIns="68562" bIns="34281" numCol="1" rtlCol="0" anchor="t" anchorCtr="0" compatLnSpc="1"/>
            <a:lstStyle/>
            <a:p>
              <a:pPr fontAlgn="base">
                <a:spcBef>
                  <a:spcPct val="0"/>
                </a:spcBef>
                <a:spcAft>
                  <a:spcPct val="0"/>
                </a:spcAft>
                <a:buClr>
                  <a:srgbClr val="CC9900"/>
                </a:buClr>
                <a:buFont typeface="Wingdings" panose="05000000000000000000" pitchFamily="2" charset="2"/>
                <a:buChar char="n"/>
              </a:pPr>
              <a:endParaRPr lang="en-US" sz="1050" b="1">
                <a:solidFill>
                  <a:prstClr val="black"/>
                </a:solidFill>
              </a:endParaRPr>
            </a:p>
          </p:txBody>
        </p:sp>
        <p:sp>
          <p:nvSpPr>
            <p:cNvPr id="29" name="圆角矩形 28"/>
            <p:cNvSpPr/>
            <p:nvPr/>
          </p:nvSpPr>
          <p:spPr bwMode="auto">
            <a:xfrm>
              <a:off x="6097539" y="4598641"/>
              <a:ext cx="2757611" cy="1334561"/>
            </a:xfrm>
            <a:prstGeom prst="roundRect">
              <a:avLst/>
            </a:prstGeom>
            <a:noFill/>
            <a:ln w="28575" cap="flat" cmpd="sng" algn="ctr">
              <a:solidFill>
                <a:srgbClr val="00B050"/>
              </a:solidFill>
              <a:prstDash val="dash"/>
              <a:round/>
              <a:headEnd type="none" w="med" len="med"/>
              <a:tailEnd type="none" w="med" len="med"/>
            </a:ln>
            <a:effectLst/>
          </p:spPr>
          <p:txBody>
            <a:bodyPr vert="horz" wrap="square" lIns="68562" tIns="34281" rIns="68562" bIns="34281" numCol="1" rtlCol="0" anchor="t" anchorCtr="0" compatLnSpc="1"/>
            <a:lstStyle/>
            <a:p>
              <a:pPr fontAlgn="base">
                <a:spcBef>
                  <a:spcPct val="0"/>
                </a:spcBef>
                <a:spcAft>
                  <a:spcPct val="0"/>
                </a:spcAft>
                <a:buClr>
                  <a:srgbClr val="CC9900"/>
                </a:buClr>
                <a:buFont typeface="Wingdings" panose="05000000000000000000" pitchFamily="2" charset="2"/>
                <a:buChar char="n"/>
              </a:pPr>
              <a:endParaRPr lang="en-US" sz="1050" b="1">
                <a:solidFill>
                  <a:prstClr val="black"/>
                </a:solidFill>
              </a:endParaRPr>
            </a:p>
          </p:txBody>
        </p:sp>
        <p:sp>
          <p:nvSpPr>
            <p:cNvPr id="30" name="椭圆 29"/>
            <p:cNvSpPr/>
            <p:nvPr/>
          </p:nvSpPr>
          <p:spPr bwMode="auto">
            <a:xfrm>
              <a:off x="6298462" y="6102296"/>
              <a:ext cx="1526844" cy="542148"/>
            </a:xfrm>
            <a:prstGeom prst="ellipse">
              <a:avLst/>
            </a:prstGeom>
            <a:noFill/>
            <a:ln w="19050" cap="flat" cmpd="sng" algn="ctr">
              <a:solidFill>
                <a:srgbClr val="00B050"/>
              </a:solidFill>
              <a:prstDash val="dash"/>
              <a:round/>
              <a:headEnd type="none" w="med" len="med"/>
              <a:tailEnd type="none" w="med" len="med"/>
            </a:ln>
            <a:effectLst/>
          </p:spPr>
          <p:txBody>
            <a:bodyPr vert="horz" wrap="square" lIns="68562" tIns="34281" rIns="68562" bIns="34281" numCol="1" rtlCol="0" anchor="ctr" anchorCtr="0" compatLnSpc="1"/>
            <a:lstStyle/>
            <a:p>
              <a:pPr algn="ctr" fontAlgn="base">
                <a:spcBef>
                  <a:spcPct val="0"/>
                </a:spcBef>
                <a:spcAft>
                  <a:spcPct val="0"/>
                </a:spcAft>
                <a:buClr>
                  <a:srgbClr val="CC9900"/>
                </a:buClr>
              </a:pPr>
              <a:r>
                <a:rPr lang="en-US" altLang="zh-CN" sz="900" dirty="0">
                  <a:solidFill>
                    <a:prstClr val="black"/>
                  </a:solidFill>
                </a:rPr>
                <a:t>Low difficulty on uploading to cloud</a:t>
              </a:r>
              <a:endParaRPr lang="en-US" sz="900" dirty="0">
                <a:solidFill>
                  <a:prstClr val="black"/>
                </a:solidFill>
              </a:endParaRPr>
            </a:p>
          </p:txBody>
        </p:sp>
        <p:cxnSp>
          <p:nvCxnSpPr>
            <p:cNvPr id="31" name="直接箭头连接符 30"/>
            <p:cNvCxnSpPr>
              <a:endCxn id="30" idx="0"/>
            </p:cNvCxnSpPr>
            <p:nvPr/>
          </p:nvCxnSpPr>
          <p:spPr bwMode="auto">
            <a:xfrm flipH="1">
              <a:off x="7061884" y="5763610"/>
              <a:ext cx="474278" cy="338686"/>
            </a:xfrm>
            <a:prstGeom prst="straightConnector1">
              <a:avLst/>
            </a:prstGeom>
            <a:noFill/>
            <a:ln w="19050" cap="flat" cmpd="sng" algn="ctr">
              <a:solidFill>
                <a:srgbClr val="00B050"/>
              </a:solidFill>
              <a:prstDash val="solid"/>
              <a:round/>
              <a:headEnd type="none" w="med" len="med"/>
              <a:tailEnd type="triangle"/>
            </a:ln>
            <a:effectLst/>
          </p:spPr>
        </p:cxnSp>
        <p:sp>
          <p:nvSpPr>
            <p:cNvPr id="42" name="文本框 41"/>
            <p:cNvSpPr txBox="1"/>
            <p:nvPr/>
          </p:nvSpPr>
          <p:spPr>
            <a:xfrm>
              <a:off x="6225549" y="3413244"/>
              <a:ext cx="2692602" cy="700178"/>
            </a:xfrm>
            <a:prstGeom prst="rect">
              <a:avLst/>
            </a:prstGeom>
            <a:noFill/>
          </p:spPr>
          <p:txBody>
            <a:bodyPr wrap="square" rtlCol="0">
              <a:spAutoFit/>
            </a:bodyPr>
            <a:lstStyle>
              <a:defPPr>
                <a:defRPr lang="zh-CN"/>
              </a:defPPr>
              <a:lvl1pPr>
                <a:buNone/>
                <a:defRPr sz="1600" b="0">
                  <a:latin typeface="Arial" panose="020B0604020202020204" pitchFamily="34" charset="0"/>
                  <a:ea typeface="微软雅黑" panose="020B0503020204020204" pitchFamily="34" charset="-122"/>
                  <a:cs typeface="Arial" panose="020B0604020202020204" pitchFamily="34" charset="0"/>
                </a:defRPr>
              </a:lvl1pPr>
            </a:lstStyle>
            <a:p>
              <a:r>
                <a:rPr lang="en-US" sz="900" dirty="0">
                  <a:solidFill>
                    <a:prstClr val="black"/>
                  </a:solidFill>
                  <a:latin typeface="Huawei Sans" panose="020C0503030203020204" pitchFamily="34" charset="0"/>
                  <a:ea typeface="方正兰亭黑简体" panose="02000000000000000000" pitchFamily="2" charset="-122"/>
                </a:rPr>
                <a:t>Fluid dynamics</a:t>
              </a:r>
            </a:p>
            <a:p>
              <a:r>
                <a:rPr lang="en-US" sz="900" dirty="0">
                  <a:solidFill>
                    <a:prstClr val="black"/>
                  </a:solidFill>
                  <a:latin typeface="Huawei Sans" panose="020C0503030203020204" pitchFamily="34" charset="0"/>
                  <a:ea typeface="方正兰亭黑简体" panose="02000000000000000000" pitchFamily="2" charset="-122"/>
                </a:rPr>
                <a:t>Materials simulations</a:t>
              </a:r>
            </a:p>
            <a:p>
              <a:r>
                <a:rPr lang="en-US" sz="900" dirty="0">
                  <a:solidFill>
                    <a:prstClr val="black"/>
                  </a:solidFill>
                  <a:latin typeface="Huawei Sans" panose="020C0503030203020204" pitchFamily="34" charset="0"/>
                  <a:ea typeface="方正兰亭黑简体" panose="02000000000000000000" pitchFamily="2" charset="-122"/>
                </a:rPr>
                <a:t>Crash simulation</a:t>
              </a:r>
            </a:p>
          </p:txBody>
        </p:sp>
        <p:sp>
          <p:nvSpPr>
            <p:cNvPr id="40" name="文本框 39"/>
            <p:cNvSpPr txBox="1"/>
            <p:nvPr/>
          </p:nvSpPr>
          <p:spPr>
            <a:xfrm>
              <a:off x="8961210" y="3354481"/>
              <a:ext cx="2534727" cy="891137"/>
            </a:xfrm>
            <a:prstGeom prst="rect">
              <a:avLst/>
            </a:prstGeom>
            <a:noFill/>
          </p:spPr>
          <p:txBody>
            <a:bodyPr wrap="square" rtlCol="0">
              <a:spAutoFit/>
            </a:bodyPr>
            <a:lstStyle>
              <a:defPPr>
                <a:defRPr lang="zh-CN"/>
              </a:defPPr>
              <a:lvl1pPr>
                <a:buNone/>
                <a:defRPr sz="1600" b="0">
                  <a:latin typeface="Arial" panose="020B0604020202020204" pitchFamily="34" charset="0"/>
                  <a:ea typeface="微软雅黑" panose="020B0503020204020204" pitchFamily="34" charset="-122"/>
                  <a:cs typeface="Arial" panose="020B0604020202020204" pitchFamily="34" charset="0"/>
                </a:defRPr>
              </a:lvl1pPr>
            </a:lstStyle>
            <a:p>
              <a:r>
                <a:rPr lang="en-US" sz="900" dirty="0">
                  <a:solidFill>
                    <a:prstClr val="black"/>
                  </a:solidFill>
                  <a:latin typeface="Huawei Sans" panose="020C0503030203020204" pitchFamily="34" charset="0"/>
                  <a:ea typeface="方正兰亭黑简体" panose="02000000000000000000" pitchFamily="2" charset="-122"/>
                </a:rPr>
                <a:t>Seismic professing</a:t>
              </a:r>
            </a:p>
            <a:p>
              <a:r>
                <a:rPr lang="en-US" altLang="zh-CN" sz="900" dirty="0">
                  <a:solidFill>
                    <a:prstClr val="black"/>
                  </a:solidFill>
                  <a:latin typeface="Huawei Sans" panose="020C0503030203020204" pitchFamily="34" charset="0"/>
                  <a:ea typeface="方正兰亭黑简体" panose="02000000000000000000" pitchFamily="2" charset="-122"/>
                </a:rPr>
                <a:t>Weather forecasting</a:t>
              </a:r>
            </a:p>
            <a:p>
              <a:r>
                <a:rPr lang="en-US" sz="900" dirty="0">
                  <a:solidFill>
                    <a:prstClr val="black"/>
                  </a:solidFill>
                  <a:latin typeface="Huawei Sans" panose="020C0503030203020204" pitchFamily="34" charset="0"/>
                  <a:ea typeface="方正兰亭黑简体" panose="02000000000000000000" pitchFamily="2" charset="-122"/>
                </a:rPr>
                <a:t>Astrophysics</a:t>
              </a:r>
            </a:p>
            <a:p>
              <a:r>
                <a:rPr lang="en-US" sz="900" dirty="0">
                  <a:solidFill>
                    <a:prstClr val="black"/>
                  </a:solidFill>
                  <a:latin typeface="Huawei Sans" panose="020C0503030203020204" pitchFamily="34" charset="0"/>
                  <a:ea typeface="方正兰亭黑简体" panose="02000000000000000000" pitchFamily="2" charset="-122"/>
                </a:rPr>
                <a:t>Deep learning</a:t>
              </a:r>
            </a:p>
          </p:txBody>
        </p:sp>
        <p:sp>
          <p:nvSpPr>
            <p:cNvPr id="38" name="文本框 37"/>
            <p:cNvSpPr txBox="1"/>
            <p:nvPr/>
          </p:nvSpPr>
          <p:spPr>
            <a:xfrm>
              <a:off x="8862183" y="4749264"/>
              <a:ext cx="2734158" cy="1082094"/>
            </a:xfrm>
            <a:prstGeom prst="rect">
              <a:avLst/>
            </a:prstGeom>
            <a:noFill/>
          </p:spPr>
          <p:txBody>
            <a:bodyPr wrap="square" rtlCol="0">
              <a:spAutoFit/>
            </a:bodyPr>
            <a:lstStyle/>
            <a:p>
              <a:r>
                <a:rPr lang="en-US" sz="900" dirty="0">
                  <a:solidFill>
                    <a:prstClr val="black"/>
                  </a:solidFill>
                  <a:cs typeface="Arial" panose="020B0604020202020204" pitchFamily="34" charset="0"/>
                </a:rPr>
                <a:t>Animation and VFX</a:t>
              </a:r>
            </a:p>
            <a:p>
              <a:r>
                <a:rPr lang="en-US" sz="900" dirty="0">
                  <a:solidFill>
                    <a:prstClr val="black"/>
                  </a:solidFill>
                  <a:cs typeface="Arial" panose="020B0604020202020204" pitchFamily="34" charset="0"/>
                </a:rPr>
                <a:t>Semiconductor Verification</a:t>
              </a:r>
              <a:endParaRPr lang="en-US" altLang="zh-CN" sz="900" dirty="0">
                <a:solidFill>
                  <a:prstClr val="black"/>
                </a:solidFill>
                <a:cs typeface="Arial" panose="020B0604020202020204" pitchFamily="34" charset="0"/>
              </a:endParaRPr>
            </a:p>
            <a:p>
              <a:r>
                <a:rPr lang="en-US" altLang="zh-CN" sz="900" dirty="0">
                  <a:solidFill>
                    <a:prstClr val="black"/>
                  </a:solidFill>
                </a:rPr>
                <a:t>Metagenomics</a:t>
              </a:r>
            </a:p>
            <a:p>
              <a:r>
                <a:rPr lang="en-US" sz="900" dirty="0">
                  <a:solidFill>
                    <a:prstClr val="black"/>
                  </a:solidFill>
                  <a:cs typeface="Arial" panose="020B0604020202020204" pitchFamily="34" charset="0"/>
                </a:rPr>
                <a:t>Image processing</a:t>
              </a:r>
            </a:p>
            <a:p>
              <a:r>
                <a:rPr lang="en-US" sz="900" dirty="0">
                  <a:solidFill>
                    <a:prstClr val="black"/>
                  </a:solidFill>
                  <a:cs typeface="Arial" panose="020B0604020202020204" pitchFamily="34" charset="0"/>
                </a:rPr>
                <a:t>GIS</a:t>
              </a:r>
            </a:p>
          </p:txBody>
        </p:sp>
        <p:sp>
          <p:nvSpPr>
            <p:cNvPr id="36" name="文本框 35"/>
            <p:cNvSpPr txBox="1"/>
            <p:nvPr/>
          </p:nvSpPr>
          <p:spPr>
            <a:xfrm>
              <a:off x="6205512" y="4897062"/>
              <a:ext cx="2699569" cy="891137"/>
            </a:xfrm>
            <a:prstGeom prst="rect">
              <a:avLst/>
            </a:prstGeom>
            <a:noFill/>
          </p:spPr>
          <p:txBody>
            <a:bodyPr wrap="square" rtlCol="0">
              <a:spAutoFit/>
            </a:bodyPr>
            <a:lstStyle>
              <a:defPPr>
                <a:defRPr lang="zh-CN"/>
              </a:defPPr>
              <a:lvl1pPr>
                <a:buNone/>
                <a:defRPr sz="1600" b="0">
                  <a:latin typeface="Arial" panose="020B0604020202020204" pitchFamily="34" charset="0"/>
                  <a:ea typeface="微软雅黑" panose="020B0503020204020204" pitchFamily="34" charset="-122"/>
                  <a:cs typeface="Arial" panose="020B0604020202020204" pitchFamily="34" charset="0"/>
                </a:defRPr>
              </a:lvl1pPr>
            </a:lstStyle>
            <a:p>
              <a:r>
                <a:rPr lang="en-US" sz="900" dirty="0">
                  <a:solidFill>
                    <a:prstClr val="black"/>
                  </a:solidFill>
                  <a:latin typeface="Huawei Sans" panose="020C0503030203020204" pitchFamily="34" charset="0"/>
                  <a:ea typeface="方正兰亭黑简体" panose="02000000000000000000" pitchFamily="2" charset="-122"/>
                </a:rPr>
                <a:t>Risk simulations</a:t>
              </a:r>
            </a:p>
            <a:p>
              <a:r>
                <a:rPr lang="en-US" sz="900" dirty="0">
                  <a:solidFill>
                    <a:prstClr val="black"/>
                  </a:solidFill>
                  <a:latin typeface="Huawei Sans" panose="020C0503030203020204" pitchFamily="34" charset="0"/>
                  <a:ea typeface="方正兰亭黑简体" panose="02000000000000000000" pitchFamily="2" charset="-122"/>
                </a:rPr>
                <a:t>Molecular modeling</a:t>
              </a:r>
            </a:p>
            <a:p>
              <a:r>
                <a:rPr lang="en-US" sz="900" dirty="0">
                  <a:solidFill>
                    <a:prstClr val="black"/>
                  </a:solidFill>
                  <a:latin typeface="Huawei Sans" panose="020C0503030203020204" pitchFamily="34" charset="0"/>
                  <a:ea typeface="方正兰亭黑简体" panose="02000000000000000000" pitchFamily="2" charset="-122"/>
                </a:rPr>
                <a:t>Contextual search</a:t>
              </a:r>
            </a:p>
            <a:p>
              <a:r>
                <a:rPr lang="en-US" sz="900" dirty="0">
                  <a:solidFill>
                    <a:prstClr val="black"/>
                  </a:solidFill>
                  <a:latin typeface="Huawei Sans" panose="020C0503030203020204" pitchFamily="34" charset="0"/>
                  <a:ea typeface="方正兰亭黑简体" panose="02000000000000000000" pitchFamily="2" charset="-122"/>
                </a:rPr>
                <a:t>Logistics simulations</a:t>
              </a:r>
            </a:p>
          </p:txBody>
        </p:sp>
      </p:grpSp>
      <p:grpSp>
        <p:nvGrpSpPr>
          <p:cNvPr id="44" name="组合 43"/>
          <p:cNvGrpSpPr/>
          <p:nvPr/>
        </p:nvGrpSpPr>
        <p:grpSpPr>
          <a:xfrm>
            <a:off x="559812" y="1594432"/>
            <a:ext cx="2781029" cy="3913400"/>
            <a:chOff x="327895" y="1124744"/>
            <a:chExt cx="5158207" cy="6879350"/>
          </a:xfrm>
        </p:grpSpPr>
        <p:pic>
          <p:nvPicPr>
            <p:cNvPr id="45" name="Picture 48" descr="E:\01 日常工作\04 展厅相关设计\2015年\PPT\主打胶片\源文件\images\7_13.png"/>
            <p:cNvPicPr>
              <a:picLocks noChangeAspect="1" noChangeArrowheads="1"/>
            </p:cNvPicPr>
            <p:nvPr/>
          </p:nvPicPr>
          <p:blipFill>
            <a:blip r:embed="rId3" cstate="print"/>
            <a:srcRect/>
            <a:stretch>
              <a:fillRect/>
            </a:stretch>
          </p:blipFill>
          <p:spPr bwMode="auto">
            <a:xfrm>
              <a:off x="2050812" y="4563702"/>
              <a:ext cx="1740233" cy="1734147"/>
            </a:xfrm>
            <a:prstGeom prst="rect">
              <a:avLst/>
            </a:prstGeom>
            <a:noFill/>
          </p:spPr>
        </p:pic>
        <p:sp>
          <p:nvSpPr>
            <p:cNvPr id="46" name="矩形 45"/>
            <p:cNvSpPr/>
            <p:nvPr/>
          </p:nvSpPr>
          <p:spPr>
            <a:xfrm>
              <a:off x="3772948" y="1145743"/>
              <a:ext cx="1713154" cy="1710363"/>
            </a:xfrm>
            <a:prstGeom prst="rect">
              <a:avLst/>
            </a:prstGeom>
            <a:solidFill>
              <a:srgbClr val="8A9C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7" name="矩形 46"/>
            <p:cNvSpPr/>
            <p:nvPr/>
          </p:nvSpPr>
          <p:spPr>
            <a:xfrm>
              <a:off x="2059108" y="2855172"/>
              <a:ext cx="1712467" cy="1706280"/>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8" name="矩形 47"/>
            <p:cNvSpPr/>
            <p:nvPr/>
          </p:nvSpPr>
          <p:spPr>
            <a:xfrm>
              <a:off x="3771575" y="4557227"/>
              <a:ext cx="1713154" cy="1715903"/>
            </a:xfrm>
            <a:prstGeom prst="rect">
              <a:avLst/>
            </a:prstGeom>
            <a:solidFill>
              <a:srgbClr val="D4E4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49" name="矩形 48"/>
            <p:cNvSpPr/>
            <p:nvPr/>
          </p:nvSpPr>
          <p:spPr>
            <a:xfrm>
              <a:off x="335359" y="6278204"/>
              <a:ext cx="1724435" cy="1725341"/>
            </a:xfrm>
            <a:prstGeom prst="rect">
              <a:avLst/>
            </a:prstGeom>
            <a:solidFill>
              <a:srgbClr val="8A9C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50" name="Freeform 5"/>
            <p:cNvSpPr>
              <a:spLocks noEditPoints="1"/>
            </p:cNvSpPr>
            <p:nvPr/>
          </p:nvSpPr>
          <p:spPr bwMode="auto">
            <a:xfrm>
              <a:off x="4410132" y="5217962"/>
              <a:ext cx="396253" cy="394432"/>
            </a:xfrm>
            <a:custGeom>
              <a:avLst/>
              <a:gdLst>
                <a:gd name="T0" fmla="*/ 0 w 3968"/>
                <a:gd name="T1" fmla="*/ 1984 h 3968"/>
                <a:gd name="T2" fmla="*/ 3968 w 3968"/>
                <a:gd name="T3" fmla="*/ 1984 h 3968"/>
                <a:gd name="T4" fmla="*/ 3709 w 3968"/>
                <a:gd name="T5" fmla="*/ 1920 h 3968"/>
                <a:gd name="T6" fmla="*/ 2794 w 3968"/>
                <a:gd name="T7" fmla="*/ 1118 h 3968"/>
                <a:gd name="T8" fmla="*/ 3709 w 3968"/>
                <a:gd name="T9" fmla="*/ 1920 h 3968"/>
                <a:gd name="T10" fmla="*/ 1391 w 3968"/>
                <a:gd name="T11" fmla="*/ 3034 h 3968"/>
                <a:gd name="T12" fmla="*/ 1920 w 3968"/>
                <a:gd name="T13" fmla="*/ 3709 h 3968"/>
                <a:gd name="T14" fmla="*/ 2055 w 3968"/>
                <a:gd name="T15" fmla="*/ 260 h 3968"/>
                <a:gd name="T16" fmla="*/ 2048 w 3968"/>
                <a:gd name="T17" fmla="*/ 1149 h 3968"/>
                <a:gd name="T18" fmla="*/ 2055 w 3968"/>
                <a:gd name="T19" fmla="*/ 260 h 3968"/>
                <a:gd name="T20" fmla="*/ 3185 w 3968"/>
                <a:gd name="T21" fmla="*/ 744 h 3968"/>
                <a:gd name="T22" fmla="*/ 2268 w 3968"/>
                <a:gd name="T23" fmla="*/ 281 h 3968"/>
                <a:gd name="T24" fmla="*/ 1920 w 3968"/>
                <a:gd name="T25" fmla="*/ 1149 h 3968"/>
                <a:gd name="T26" fmla="*/ 1913 w 3968"/>
                <a:gd name="T27" fmla="*/ 260 h 3968"/>
                <a:gd name="T28" fmla="*/ 1222 w 3968"/>
                <a:gd name="T29" fmla="*/ 1000 h 3968"/>
                <a:gd name="T30" fmla="*/ 1700 w 3968"/>
                <a:gd name="T31" fmla="*/ 281 h 3968"/>
                <a:gd name="T32" fmla="*/ 1293 w 3968"/>
                <a:gd name="T33" fmla="*/ 1162 h 3968"/>
                <a:gd name="T34" fmla="*/ 1920 w 3968"/>
                <a:gd name="T35" fmla="*/ 1920 h 3968"/>
                <a:gd name="T36" fmla="*/ 1293 w 3968"/>
                <a:gd name="T37" fmla="*/ 1162 h 3968"/>
                <a:gd name="T38" fmla="*/ 1920 w 3968"/>
                <a:gd name="T39" fmla="*/ 2819 h 3968"/>
                <a:gd name="T40" fmla="*/ 1155 w 3968"/>
                <a:gd name="T41" fmla="*/ 2048 h 3968"/>
                <a:gd name="T42" fmla="*/ 1700 w 3968"/>
                <a:gd name="T43" fmla="*/ 3687 h 3968"/>
                <a:gd name="T44" fmla="*/ 1271 w 3968"/>
                <a:gd name="T45" fmla="*/ 3078 h 3968"/>
                <a:gd name="T46" fmla="*/ 2048 w 3968"/>
                <a:gd name="T47" fmla="*/ 3709 h 3968"/>
                <a:gd name="T48" fmla="*/ 2577 w 3968"/>
                <a:gd name="T49" fmla="*/ 3034 h 3968"/>
                <a:gd name="T50" fmla="*/ 2048 w 3968"/>
                <a:gd name="T51" fmla="*/ 3709 h 3968"/>
                <a:gd name="T52" fmla="*/ 3106 w 3968"/>
                <a:gd name="T53" fmla="*/ 3296 h 3968"/>
                <a:gd name="T54" fmla="*/ 2697 w 3968"/>
                <a:gd name="T55" fmla="*/ 3078 h 3968"/>
                <a:gd name="T56" fmla="*/ 2048 w 3968"/>
                <a:gd name="T57" fmla="*/ 2819 h 3968"/>
                <a:gd name="T58" fmla="*/ 2813 w 3968"/>
                <a:gd name="T59" fmla="*/ 2048 h 3968"/>
                <a:gd name="T60" fmla="*/ 2048 w 3968"/>
                <a:gd name="T61" fmla="*/ 1920 h 3968"/>
                <a:gd name="T62" fmla="*/ 2675 w 3968"/>
                <a:gd name="T63" fmla="*/ 1162 h 3968"/>
                <a:gd name="T64" fmla="*/ 2048 w 3968"/>
                <a:gd name="T65" fmla="*/ 1920 h 3968"/>
                <a:gd name="T66" fmla="*/ 1174 w 3968"/>
                <a:gd name="T67" fmla="*/ 1118 h 3968"/>
                <a:gd name="T68" fmla="*/ 259 w 3968"/>
                <a:gd name="T69" fmla="*/ 1920 h 3968"/>
                <a:gd name="T70" fmla="*/ 259 w 3968"/>
                <a:gd name="T71" fmla="*/ 2048 h 3968"/>
                <a:gd name="T72" fmla="*/ 1219 w 3968"/>
                <a:gd name="T73" fmla="*/ 2962 h 3968"/>
                <a:gd name="T74" fmla="*/ 259 w 3968"/>
                <a:gd name="T75" fmla="*/ 2048 h 3968"/>
                <a:gd name="T76" fmla="*/ 2749 w 3968"/>
                <a:gd name="T77" fmla="*/ 2961 h 3968"/>
                <a:gd name="T78" fmla="*/ 3709 w 3968"/>
                <a:gd name="T79" fmla="*/ 2048 h 3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68" h="3968">
                  <a:moveTo>
                    <a:pt x="1984" y="0"/>
                  </a:moveTo>
                  <a:cubicBezTo>
                    <a:pt x="888" y="0"/>
                    <a:pt x="0" y="888"/>
                    <a:pt x="0" y="1984"/>
                  </a:cubicBezTo>
                  <a:cubicBezTo>
                    <a:pt x="0" y="3080"/>
                    <a:pt x="888" y="3968"/>
                    <a:pt x="1984" y="3968"/>
                  </a:cubicBezTo>
                  <a:cubicBezTo>
                    <a:pt x="3080" y="3968"/>
                    <a:pt x="3968" y="3080"/>
                    <a:pt x="3968" y="1984"/>
                  </a:cubicBezTo>
                  <a:cubicBezTo>
                    <a:pt x="3968" y="888"/>
                    <a:pt x="3080" y="0"/>
                    <a:pt x="1984" y="0"/>
                  </a:cubicBezTo>
                  <a:close/>
                  <a:moveTo>
                    <a:pt x="3709" y="1920"/>
                  </a:moveTo>
                  <a:cubicBezTo>
                    <a:pt x="2941" y="1920"/>
                    <a:pt x="2941" y="1920"/>
                    <a:pt x="2941" y="1920"/>
                  </a:cubicBezTo>
                  <a:cubicBezTo>
                    <a:pt x="2934" y="1636"/>
                    <a:pt x="2884" y="1366"/>
                    <a:pt x="2794" y="1118"/>
                  </a:cubicBezTo>
                  <a:cubicBezTo>
                    <a:pt x="2967" y="1046"/>
                    <a:pt x="3127" y="950"/>
                    <a:pt x="3273" y="836"/>
                  </a:cubicBezTo>
                  <a:cubicBezTo>
                    <a:pt x="3532" y="1127"/>
                    <a:pt x="3693" y="1505"/>
                    <a:pt x="3709" y="1920"/>
                  </a:cubicBezTo>
                  <a:close/>
                  <a:moveTo>
                    <a:pt x="1913" y="3708"/>
                  </a:moveTo>
                  <a:cubicBezTo>
                    <a:pt x="1700" y="3531"/>
                    <a:pt x="1522" y="3301"/>
                    <a:pt x="1391" y="3034"/>
                  </a:cubicBezTo>
                  <a:cubicBezTo>
                    <a:pt x="1559" y="2982"/>
                    <a:pt x="1737" y="2953"/>
                    <a:pt x="1920" y="2947"/>
                  </a:cubicBezTo>
                  <a:cubicBezTo>
                    <a:pt x="1920" y="3709"/>
                    <a:pt x="1920" y="3709"/>
                    <a:pt x="1920" y="3709"/>
                  </a:cubicBezTo>
                  <a:cubicBezTo>
                    <a:pt x="1918" y="3709"/>
                    <a:pt x="1916" y="3709"/>
                    <a:pt x="1913" y="3708"/>
                  </a:cubicBezTo>
                  <a:close/>
                  <a:moveTo>
                    <a:pt x="2055" y="260"/>
                  </a:moveTo>
                  <a:cubicBezTo>
                    <a:pt x="2296" y="461"/>
                    <a:pt x="2493" y="730"/>
                    <a:pt x="2626" y="1044"/>
                  </a:cubicBezTo>
                  <a:cubicBezTo>
                    <a:pt x="2444" y="1106"/>
                    <a:pt x="2250" y="1142"/>
                    <a:pt x="2048" y="1149"/>
                  </a:cubicBezTo>
                  <a:cubicBezTo>
                    <a:pt x="2048" y="259"/>
                    <a:pt x="2048" y="259"/>
                    <a:pt x="2048" y="259"/>
                  </a:cubicBezTo>
                  <a:cubicBezTo>
                    <a:pt x="2050" y="259"/>
                    <a:pt x="2052" y="259"/>
                    <a:pt x="2055" y="260"/>
                  </a:cubicBezTo>
                  <a:close/>
                  <a:moveTo>
                    <a:pt x="2268" y="281"/>
                  </a:moveTo>
                  <a:cubicBezTo>
                    <a:pt x="2621" y="340"/>
                    <a:pt x="2938" y="505"/>
                    <a:pt x="3185" y="744"/>
                  </a:cubicBezTo>
                  <a:cubicBezTo>
                    <a:pt x="3051" y="847"/>
                    <a:pt x="2904" y="934"/>
                    <a:pt x="2746" y="1000"/>
                  </a:cubicBezTo>
                  <a:cubicBezTo>
                    <a:pt x="2630" y="724"/>
                    <a:pt x="2466" y="479"/>
                    <a:pt x="2268" y="281"/>
                  </a:cubicBezTo>
                  <a:close/>
                  <a:moveTo>
                    <a:pt x="1920" y="259"/>
                  </a:moveTo>
                  <a:cubicBezTo>
                    <a:pt x="1920" y="1149"/>
                    <a:pt x="1920" y="1149"/>
                    <a:pt x="1920" y="1149"/>
                  </a:cubicBezTo>
                  <a:cubicBezTo>
                    <a:pt x="1718" y="1142"/>
                    <a:pt x="1524" y="1106"/>
                    <a:pt x="1342" y="1044"/>
                  </a:cubicBezTo>
                  <a:cubicBezTo>
                    <a:pt x="1475" y="730"/>
                    <a:pt x="1672" y="461"/>
                    <a:pt x="1913" y="260"/>
                  </a:cubicBezTo>
                  <a:cubicBezTo>
                    <a:pt x="1916" y="259"/>
                    <a:pt x="1918" y="259"/>
                    <a:pt x="1920" y="259"/>
                  </a:cubicBezTo>
                  <a:close/>
                  <a:moveTo>
                    <a:pt x="1222" y="1000"/>
                  </a:moveTo>
                  <a:cubicBezTo>
                    <a:pt x="1064" y="934"/>
                    <a:pt x="917" y="847"/>
                    <a:pt x="783" y="744"/>
                  </a:cubicBezTo>
                  <a:cubicBezTo>
                    <a:pt x="1030" y="505"/>
                    <a:pt x="1347" y="340"/>
                    <a:pt x="1700" y="281"/>
                  </a:cubicBezTo>
                  <a:cubicBezTo>
                    <a:pt x="1502" y="479"/>
                    <a:pt x="1338" y="724"/>
                    <a:pt x="1222" y="1000"/>
                  </a:cubicBezTo>
                  <a:close/>
                  <a:moveTo>
                    <a:pt x="1293" y="1162"/>
                  </a:moveTo>
                  <a:cubicBezTo>
                    <a:pt x="1491" y="1230"/>
                    <a:pt x="1701" y="1270"/>
                    <a:pt x="1920" y="1277"/>
                  </a:cubicBezTo>
                  <a:cubicBezTo>
                    <a:pt x="1920" y="1920"/>
                    <a:pt x="1920" y="1920"/>
                    <a:pt x="1920" y="1920"/>
                  </a:cubicBezTo>
                  <a:cubicBezTo>
                    <a:pt x="1155" y="1920"/>
                    <a:pt x="1155" y="1920"/>
                    <a:pt x="1155" y="1920"/>
                  </a:cubicBezTo>
                  <a:cubicBezTo>
                    <a:pt x="1162" y="1652"/>
                    <a:pt x="1209" y="1396"/>
                    <a:pt x="1293" y="1162"/>
                  </a:cubicBezTo>
                  <a:close/>
                  <a:moveTo>
                    <a:pt x="1920" y="2048"/>
                  </a:moveTo>
                  <a:cubicBezTo>
                    <a:pt x="1920" y="2819"/>
                    <a:pt x="1920" y="2819"/>
                    <a:pt x="1920" y="2819"/>
                  </a:cubicBezTo>
                  <a:cubicBezTo>
                    <a:pt x="1718" y="2825"/>
                    <a:pt x="1523" y="2858"/>
                    <a:pt x="1339" y="2918"/>
                  </a:cubicBezTo>
                  <a:cubicBezTo>
                    <a:pt x="1228" y="2654"/>
                    <a:pt x="1163" y="2360"/>
                    <a:pt x="1155" y="2048"/>
                  </a:cubicBezTo>
                  <a:cubicBezTo>
                    <a:pt x="1920" y="2048"/>
                    <a:pt x="1920" y="2048"/>
                    <a:pt x="1920" y="2048"/>
                  </a:cubicBezTo>
                  <a:close/>
                  <a:moveTo>
                    <a:pt x="1700" y="3687"/>
                  </a:moveTo>
                  <a:cubicBezTo>
                    <a:pt x="1384" y="3634"/>
                    <a:pt x="1096" y="3496"/>
                    <a:pt x="862" y="3296"/>
                  </a:cubicBezTo>
                  <a:cubicBezTo>
                    <a:pt x="989" y="3209"/>
                    <a:pt x="1125" y="3135"/>
                    <a:pt x="1271" y="3078"/>
                  </a:cubicBezTo>
                  <a:cubicBezTo>
                    <a:pt x="1382" y="3310"/>
                    <a:pt x="1528" y="3515"/>
                    <a:pt x="1700" y="3687"/>
                  </a:cubicBezTo>
                  <a:close/>
                  <a:moveTo>
                    <a:pt x="2048" y="3709"/>
                  </a:moveTo>
                  <a:cubicBezTo>
                    <a:pt x="2048" y="2947"/>
                    <a:pt x="2048" y="2947"/>
                    <a:pt x="2048" y="2947"/>
                  </a:cubicBezTo>
                  <a:cubicBezTo>
                    <a:pt x="2231" y="2953"/>
                    <a:pt x="2409" y="2982"/>
                    <a:pt x="2577" y="3034"/>
                  </a:cubicBezTo>
                  <a:cubicBezTo>
                    <a:pt x="2446" y="3301"/>
                    <a:pt x="2268" y="3531"/>
                    <a:pt x="2055" y="3709"/>
                  </a:cubicBezTo>
                  <a:cubicBezTo>
                    <a:pt x="2053" y="3709"/>
                    <a:pt x="2050" y="3709"/>
                    <a:pt x="2048" y="3709"/>
                  </a:cubicBezTo>
                  <a:close/>
                  <a:moveTo>
                    <a:pt x="2697" y="3078"/>
                  </a:moveTo>
                  <a:cubicBezTo>
                    <a:pt x="2843" y="3135"/>
                    <a:pt x="2979" y="3209"/>
                    <a:pt x="3106" y="3296"/>
                  </a:cubicBezTo>
                  <a:cubicBezTo>
                    <a:pt x="2872" y="3496"/>
                    <a:pt x="2584" y="3634"/>
                    <a:pt x="2268" y="3687"/>
                  </a:cubicBezTo>
                  <a:cubicBezTo>
                    <a:pt x="2440" y="3515"/>
                    <a:pt x="2586" y="3310"/>
                    <a:pt x="2697" y="3078"/>
                  </a:cubicBezTo>
                  <a:close/>
                  <a:moveTo>
                    <a:pt x="2629" y="2918"/>
                  </a:moveTo>
                  <a:cubicBezTo>
                    <a:pt x="2445" y="2858"/>
                    <a:pt x="2250" y="2825"/>
                    <a:pt x="2048" y="2819"/>
                  </a:cubicBezTo>
                  <a:cubicBezTo>
                    <a:pt x="2048" y="2048"/>
                    <a:pt x="2048" y="2048"/>
                    <a:pt x="2048" y="2048"/>
                  </a:cubicBezTo>
                  <a:cubicBezTo>
                    <a:pt x="2813" y="2048"/>
                    <a:pt x="2813" y="2048"/>
                    <a:pt x="2813" y="2048"/>
                  </a:cubicBezTo>
                  <a:cubicBezTo>
                    <a:pt x="2805" y="2360"/>
                    <a:pt x="2740" y="2654"/>
                    <a:pt x="2629" y="2918"/>
                  </a:cubicBezTo>
                  <a:close/>
                  <a:moveTo>
                    <a:pt x="2048" y="1920"/>
                  </a:moveTo>
                  <a:cubicBezTo>
                    <a:pt x="2048" y="1277"/>
                    <a:pt x="2048" y="1277"/>
                    <a:pt x="2048" y="1277"/>
                  </a:cubicBezTo>
                  <a:cubicBezTo>
                    <a:pt x="2267" y="1270"/>
                    <a:pt x="2477" y="1230"/>
                    <a:pt x="2675" y="1162"/>
                  </a:cubicBezTo>
                  <a:cubicBezTo>
                    <a:pt x="2759" y="1396"/>
                    <a:pt x="2806" y="1652"/>
                    <a:pt x="2813" y="1920"/>
                  </a:cubicBezTo>
                  <a:cubicBezTo>
                    <a:pt x="2048" y="1920"/>
                    <a:pt x="2048" y="1920"/>
                    <a:pt x="2048" y="1920"/>
                  </a:cubicBezTo>
                  <a:close/>
                  <a:moveTo>
                    <a:pt x="696" y="836"/>
                  </a:moveTo>
                  <a:cubicBezTo>
                    <a:pt x="841" y="950"/>
                    <a:pt x="1001" y="1046"/>
                    <a:pt x="1174" y="1118"/>
                  </a:cubicBezTo>
                  <a:cubicBezTo>
                    <a:pt x="1084" y="1366"/>
                    <a:pt x="1034" y="1636"/>
                    <a:pt x="1027" y="1920"/>
                  </a:cubicBezTo>
                  <a:cubicBezTo>
                    <a:pt x="259" y="1920"/>
                    <a:pt x="259" y="1920"/>
                    <a:pt x="259" y="1920"/>
                  </a:cubicBezTo>
                  <a:cubicBezTo>
                    <a:pt x="275" y="1505"/>
                    <a:pt x="436" y="1127"/>
                    <a:pt x="696" y="836"/>
                  </a:cubicBezTo>
                  <a:close/>
                  <a:moveTo>
                    <a:pt x="259" y="2048"/>
                  </a:moveTo>
                  <a:cubicBezTo>
                    <a:pt x="1027" y="2048"/>
                    <a:pt x="1027" y="2048"/>
                    <a:pt x="1027" y="2048"/>
                  </a:cubicBezTo>
                  <a:cubicBezTo>
                    <a:pt x="1035" y="2375"/>
                    <a:pt x="1103" y="2684"/>
                    <a:pt x="1219" y="2962"/>
                  </a:cubicBezTo>
                  <a:cubicBezTo>
                    <a:pt x="1057" y="3025"/>
                    <a:pt x="906" y="3109"/>
                    <a:pt x="766" y="3209"/>
                  </a:cubicBezTo>
                  <a:cubicBezTo>
                    <a:pt x="466" y="2910"/>
                    <a:pt x="276" y="2501"/>
                    <a:pt x="259" y="2048"/>
                  </a:cubicBezTo>
                  <a:close/>
                  <a:moveTo>
                    <a:pt x="3202" y="3209"/>
                  </a:moveTo>
                  <a:cubicBezTo>
                    <a:pt x="3062" y="3109"/>
                    <a:pt x="2911" y="3025"/>
                    <a:pt x="2749" y="2961"/>
                  </a:cubicBezTo>
                  <a:cubicBezTo>
                    <a:pt x="2865" y="2684"/>
                    <a:pt x="2933" y="2375"/>
                    <a:pt x="2941" y="2048"/>
                  </a:cubicBezTo>
                  <a:cubicBezTo>
                    <a:pt x="3709" y="2048"/>
                    <a:pt x="3709" y="2048"/>
                    <a:pt x="3709" y="2048"/>
                  </a:cubicBezTo>
                  <a:cubicBezTo>
                    <a:pt x="3692" y="2501"/>
                    <a:pt x="3502" y="2910"/>
                    <a:pt x="3202" y="3209"/>
                  </a:cubicBezTo>
                  <a:close/>
                </a:path>
              </a:pathLst>
            </a:custGeom>
            <a:solidFill>
              <a:srgbClr val="282828"/>
            </a:solidFill>
            <a:ln>
              <a:noFill/>
            </a:ln>
          </p:spPr>
          <p:txBody>
            <a:bodyPr vert="horz" wrap="square" lIns="68562" tIns="34281" rIns="68562" bIns="34281" numCol="1" anchor="t" anchorCtr="0" compatLnSpc="1"/>
            <a:lstStyle/>
            <a:p>
              <a:endParaRPr lang="zh-CN" altLang="en-US">
                <a:solidFill>
                  <a:prstClr val="black"/>
                </a:solidFill>
              </a:endParaRPr>
            </a:p>
          </p:txBody>
        </p:sp>
        <p:sp>
          <p:nvSpPr>
            <p:cNvPr id="51" name="Freeform 194"/>
            <p:cNvSpPr>
              <a:spLocks noEditPoints="1"/>
            </p:cNvSpPr>
            <p:nvPr/>
          </p:nvSpPr>
          <p:spPr bwMode="auto">
            <a:xfrm>
              <a:off x="2603920" y="3465041"/>
              <a:ext cx="647531" cy="374552"/>
            </a:xfrm>
            <a:custGeom>
              <a:avLst/>
              <a:gdLst>
                <a:gd name="T0" fmla="*/ 191 w 191"/>
                <a:gd name="T1" fmla="*/ 59 h 109"/>
                <a:gd name="T2" fmla="*/ 169 w 191"/>
                <a:gd name="T3" fmla="*/ 109 h 109"/>
                <a:gd name="T4" fmla="*/ 20 w 191"/>
                <a:gd name="T5" fmla="*/ 107 h 109"/>
                <a:gd name="T6" fmla="*/ 1 w 191"/>
                <a:gd name="T7" fmla="*/ 56 h 109"/>
                <a:gd name="T8" fmla="*/ 19 w 191"/>
                <a:gd name="T9" fmla="*/ 55 h 109"/>
                <a:gd name="T10" fmla="*/ 23 w 191"/>
                <a:gd name="T11" fmla="*/ 37 h 109"/>
                <a:gd name="T12" fmla="*/ 30 w 191"/>
                <a:gd name="T13" fmla="*/ 21 h 109"/>
                <a:gd name="T14" fmla="*/ 49 w 191"/>
                <a:gd name="T15" fmla="*/ 18 h 109"/>
                <a:gd name="T16" fmla="*/ 52 w 191"/>
                <a:gd name="T17" fmla="*/ 37 h 109"/>
                <a:gd name="T18" fmla="*/ 68 w 191"/>
                <a:gd name="T19" fmla="*/ 40 h 109"/>
                <a:gd name="T20" fmla="*/ 80 w 191"/>
                <a:gd name="T21" fmla="*/ 55 h 109"/>
                <a:gd name="T22" fmla="*/ 83 w 191"/>
                <a:gd name="T23" fmla="*/ 37 h 109"/>
                <a:gd name="T24" fmla="*/ 96 w 191"/>
                <a:gd name="T25" fmla="*/ 4 h 109"/>
                <a:gd name="T26" fmla="*/ 145 w 191"/>
                <a:gd name="T27" fmla="*/ 0 h 109"/>
                <a:gd name="T28" fmla="*/ 148 w 191"/>
                <a:gd name="T29" fmla="*/ 37 h 109"/>
                <a:gd name="T30" fmla="*/ 165 w 191"/>
                <a:gd name="T31" fmla="*/ 40 h 109"/>
                <a:gd name="T32" fmla="*/ 188 w 191"/>
                <a:gd name="T33" fmla="*/ 55 h 109"/>
                <a:gd name="T34" fmla="*/ 102 w 191"/>
                <a:gd name="T35" fmla="*/ 55 h 109"/>
                <a:gd name="T36" fmla="*/ 112 w 191"/>
                <a:gd name="T37" fmla="*/ 43 h 109"/>
                <a:gd name="T38" fmla="*/ 102 w 191"/>
                <a:gd name="T39" fmla="*/ 55 h 109"/>
                <a:gd name="T40" fmla="*/ 102 w 191"/>
                <a:gd name="T41" fmla="*/ 37 h 109"/>
                <a:gd name="T42" fmla="*/ 126 w 191"/>
                <a:gd name="T43" fmla="*/ 25 h 109"/>
                <a:gd name="T44" fmla="*/ 142 w 191"/>
                <a:gd name="T45" fmla="*/ 25 h 109"/>
                <a:gd name="T46" fmla="*/ 132 w 191"/>
                <a:gd name="T47" fmla="*/ 37 h 109"/>
                <a:gd name="T48" fmla="*/ 142 w 191"/>
                <a:gd name="T49" fmla="*/ 25 h 109"/>
                <a:gd name="T50" fmla="*/ 118 w 191"/>
                <a:gd name="T51" fmla="*/ 55 h 109"/>
                <a:gd name="T52" fmla="*/ 142 w 191"/>
                <a:gd name="T53" fmla="*/ 43 h 109"/>
                <a:gd name="T54" fmla="*/ 158 w 191"/>
                <a:gd name="T55" fmla="*/ 55 h 109"/>
                <a:gd name="T56" fmla="*/ 148 w 191"/>
                <a:gd name="T57" fmla="*/ 43 h 109"/>
                <a:gd name="T58" fmla="*/ 158 w 191"/>
                <a:gd name="T59" fmla="*/ 55 h 109"/>
                <a:gd name="T60" fmla="*/ 142 w 191"/>
                <a:gd name="T61" fmla="*/ 7 h 109"/>
                <a:gd name="T62" fmla="*/ 118 w 191"/>
                <a:gd name="T63" fmla="*/ 19 h 109"/>
                <a:gd name="T64" fmla="*/ 102 w 191"/>
                <a:gd name="T65" fmla="*/ 7 h 109"/>
                <a:gd name="T66" fmla="*/ 112 w 191"/>
                <a:gd name="T67" fmla="*/ 19 h 109"/>
                <a:gd name="T68" fmla="*/ 102 w 191"/>
                <a:gd name="T69" fmla="*/ 7 h 109"/>
                <a:gd name="T70" fmla="*/ 86 w 191"/>
                <a:gd name="T71" fmla="*/ 55 h 109"/>
                <a:gd name="T72" fmla="*/ 96 w 191"/>
                <a:gd name="T73" fmla="*/ 43 h 109"/>
                <a:gd name="T74" fmla="*/ 36 w 191"/>
                <a:gd name="T75" fmla="*/ 24 h 109"/>
                <a:gd name="T76" fmla="*/ 45 w 191"/>
                <a:gd name="T77" fmla="*/ 37 h 109"/>
                <a:gd name="T78" fmla="*/ 36 w 191"/>
                <a:gd name="T79" fmla="*/ 24 h 109"/>
                <a:gd name="T80" fmla="*/ 26 w 191"/>
                <a:gd name="T81" fmla="*/ 55 h 109"/>
                <a:gd name="T82" fmla="*/ 61 w 191"/>
                <a:gd name="T83" fmla="*/ 43 h 109"/>
                <a:gd name="T84" fmla="*/ 167 w 191"/>
                <a:gd name="T85" fmla="*/ 103 h 109"/>
                <a:gd name="T86" fmla="*/ 8 w 191"/>
                <a:gd name="T87" fmla="*/ 61 h 109"/>
                <a:gd name="T88" fmla="*/ 167 w 191"/>
                <a:gd name="T89" fmla="*/ 103 h 109"/>
                <a:gd name="T90" fmla="*/ 100 w 191"/>
                <a:gd name="T91" fmla="*/ 82 h 109"/>
                <a:gd name="T92" fmla="*/ 90 w 191"/>
                <a:gd name="T93" fmla="*/ 82 h 109"/>
                <a:gd name="T94" fmla="*/ 95 w 191"/>
                <a:gd name="T95" fmla="*/ 71 h 109"/>
                <a:gd name="T96" fmla="*/ 95 w 191"/>
                <a:gd name="T97" fmla="*/ 94 h 109"/>
                <a:gd name="T98" fmla="*/ 95 w 191"/>
                <a:gd name="T99" fmla="*/ 71 h 109"/>
                <a:gd name="T100" fmla="*/ 72 w 191"/>
                <a:gd name="T101" fmla="*/ 82 h 109"/>
                <a:gd name="T102" fmla="*/ 49 w 191"/>
                <a:gd name="T103" fmla="*/ 82 h 109"/>
                <a:gd name="T104" fmla="*/ 60 w 191"/>
                <a:gd name="T105" fmla="*/ 87 h 109"/>
                <a:gd name="T106" fmla="*/ 60 w 191"/>
                <a:gd name="T107" fmla="*/ 77 h 109"/>
                <a:gd name="T108" fmla="*/ 60 w 191"/>
                <a:gd name="T109" fmla="*/ 87 h 109"/>
                <a:gd name="T110" fmla="*/ 130 w 191"/>
                <a:gd name="T111" fmla="*/ 71 h 109"/>
                <a:gd name="T112" fmla="*/ 130 w 191"/>
                <a:gd name="T113" fmla="*/ 94 h 109"/>
                <a:gd name="T114" fmla="*/ 135 w 191"/>
                <a:gd name="T115" fmla="*/ 82 h 109"/>
                <a:gd name="T116" fmla="*/ 125 w 191"/>
                <a:gd name="T117" fmla="*/ 82 h 109"/>
                <a:gd name="T118" fmla="*/ 135 w 191"/>
                <a:gd name="T119" fmla="*/ 82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1" h="109">
                  <a:moveTo>
                    <a:pt x="190" y="56"/>
                  </a:moveTo>
                  <a:cubicBezTo>
                    <a:pt x="191" y="57"/>
                    <a:pt x="191" y="58"/>
                    <a:pt x="191" y="59"/>
                  </a:cubicBezTo>
                  <a:cubicBezTo>
                    <a:pt x="172" y="107"/>
                    <a:pt x="172" y="107"/>
                    <a:pt x="172" y="107"/>
                  </a:cubicBezTo>
                  <a:cubicBezTo>
                    <a:pt x="171" y="108"/>
                    <a:pt x="170" y="109"/>
                    <a:pt x="169" y="109"/>
                  </a:cubicBezTo>
                  <a:cubicBezTo>
                    <a:pt x="22" y="109"/>
                    <a:pt x="22" y="109"/>
                    <a:pt x="22" y="109"/>
                  </a:cubicBezTo>
                  <a:cubicBezTo>
                    <a:pt x="21" y="109"/>
                    <a:pt x="20" y="108"/>
                    <a:pt x="20" y="107"/>
                  </a:cubicBezTo>
                  <a:cubicBezTo>
                    <a:pt x="0" y="59"/>
                    <a:pt x="0" y="59"/>
                    <a:pt x="0" y="59"/>
                  </a:cubicBezTo>
                  <a:cubicBezTo>
                    <a:pt x="0" y="58"/>
                    <a:pt x="0" y="57"/>
                    <a:pt x="1" y="56"/>
                  </a:cubicBezTo>
                  <a:cubicBezTo>
                    <a:pt x="1" y="55"/>
                    <a:pt x="2" y="55"/>
                    <a:pt x="3" y="55"/>
                  </a:cubicBezTo>
                  <a:cubicBezTo>
                    <a:pt x="19" y="55"/>
                    <a:pt x="19" y="55"/>
                    <a:pt x="19" y="55"/>
                  </a:cubicBezTo>
                  <a:cubicBezTo>
                    <a:pt x="19" y="40"/>
                    <a:pt x="19" y="40"/>
                    <a:pt x="19" y="40"/>
                  </a:cubicBezTo>
                  <a:cubicBezTo>
                    <a:pt x="19" y="39"/>
                    <a:pt x="21" y="37"/>
                    <a:pt x="23" y="37"/>
                  </a:cubicBezTo>
                  <a:cubicBezTo>
                    <a:pt x="30" y="37"/>
                    <a:pt x="30" y="37"/>
                    <a:pt x="30" y="37"/>
                  </a:cubicBezTo>
                  <a:cubicBezTo>
                    <a:pt x="30" y="21"/>
                    <a:pt x="30" y="21"/>
                    <a:pt x="30" y="21"/>
                  </a:cubicBezTo>
                  <a:cubicBezTo>
                    <a:pt x="30" y="19"/>
                    <a:pt x="31" y="18"/>
                    <a:pt x="33" y="18"/>
                  </a:cubicBezTo>
                  <a:cubicBezTo>
                    <a:pt x="49" y="18"/>
                    <a:pt x="49" y="18"/>
                    <a:pt x="49" y="18"/>
                  </a:cubicBezTo>
                  <a:cubicBezTo>
                    <a:pt x="50" y="18"/>
                    <a:pt x="52" y="19"/>
                    <a:pt x="52" y="21"/>
                  </a:cubicBezTo>
                  <a:cubicBezTo>
                    <a:pt x="52" y="37"/>
                    <a:pt x="52" y="37"/>
                    <a:pt x="52" y="37"/>
                  </a:cubicBezTo>
                  <a:cubicBezTo>
                    <a:pt x="64" y="37"/>
                    <a:pt x="64" y="37"/>
                    <a:pt x="64" y="37"/>
                  </a:cubicBezTo>
                  <a:cubicBezTo>
                    <a:pt x="66" y="37"/>
                    <a:pt x="68" y="39"/>
                    <a:pt x="68" y="40"/>
                  </a:cubicBezTo>
                  <a:cubicBezTo>
                    <a:pt x="68" y="55"/>
                    <a:pt x="68" y="55"/>
                    <a:pt x="68" y="55"/>
                  </a:cubicBezTo>
                  <a:cubicBezTo>
                    <a:pt x="80" y="55"/>
                    <a:pt x="80" y="55"/>
                    <a:pt x="80" y="55"/>
                  </a:cubicBezTo>
                  <a:cubicBezTo>
                    <a:pt x="80" y="40"/>
                    <a:pt x="80" y="40"/>
                    <a:pt x="80" y="40"/>
                  </a:cubicBezTo>
                  <a:cubicBezTo>
                    <a:pt x="80" y="39"/>
                    <a:pt x="81" y="37"/>
                    <a:pt x="83" y="37"/>
                  </a:cubicBezTo>
                  <a:cubicBezTo>
                    <a:pt x="96" y="37"/>
                    <a:pt x="96" y="37"/>
                    <a:pt x="96" y="37"/>
                  </a:cubicBezTo>
                  <a:cubicBezTo>
                    <a:pt x="96" y="4"/>
                    <a:pt x="96" y="4"/>
                    <a:pt x="96" y="4"/>
                  </a:cubicBezTo>
                  <a:cubicBezTo>
                    <a:pt x="96" y="2"/>
                    <a:pt x="97" y="0"/>
                    <a:pt x="99" y="0"/>
                  </a:cubicBezTo>
                  <a:cubicBezTo>
                    <a:pt x="145" y="0"/>
                    <a:pt x="145" y="0"/>
                    <a:pt x="145" y="0"/>
                  </a:cubicBezTo>
                  <a:cubicBezTo>
                    <a:pt x="147" y="0"/>
                    <a:pt x="148" y="2"/>
                    <a:pt x="148" y="4"/>
                  </a:cubicBezTo>
                  <a:cubicBezTo>
                    <a:pt x="148" y="37"/>
                    <a:pt x="148" y="37"/>
                    <a:pt x="148" y="37"/>
                  </a:cubicBezTo>
                  <a:cubicBezTo>
                    <a:pt x="161" y="37"/>
                    <a:pt x="161" y="37"/>
                    <a:pt x="161" y="37"/>
                  </a:cubicBezTo>
                  <a:cubicBezTo>
                    <a:pt x="163" y="37"/>
                    <a:pt x="165" y="39"/>
                    <a:pt x="165" y="40"/>
                  </a:cubicBezTo>
                  <a:cubicBezTo>
                    <a:pt x="165" y="55"/>
                    <a:pt x="165" y="55"/>
                    <a:pt x="165" y="55"/>
                  </a:cubicBezTo>
                  <a:cubicBezTo>
                    <a:pt x="188" y="55"/>
                    <a:pt x="188" y="55"/>
                    <a:pt x="188" y="55"/>
                  </a:cubicBezTo>
                  <a:cubicBezTo>
                    <a:pt x="189" y="55"/>
                    <a:pt x="190" y="55"/>
                    <a:pt x="190" y="56"/>
                  </a:cubicBezTo>
                  <a:close/>
                  <a:moveTo>
                    <a:pt x="102" y="55"/>
                  </a:moveTo>
                  <a:cubicBezTo>
                    <a:pt x="112" y="55"/>
                    <a:pt x="112" y="55"/>
                    <a:pt x="112" y="55"/>
                  </a:cubicBezTo>
                  <a:cubicBezTo>
                    <a:pt x="112" y="43"/>
                    <a:pt x="112" y="43"/>
                    <a:pt x="112" y="43"/>
                  </a:cubicBezTo>
                  <a:cubicBezTo>
                    <a:pt x="102" y="43"/>
                    <a:pt x="102" y="43"/>
                    <a:pt x="102" y="43"/>
                  </a:cubicBezTo>
                  <a:cubicBezTo>
                    <a:pt x="102" y="55"/>
                    <a:pt x="102" y="55"/>
                    <a:pt x="102" y="55"/>
                  </a:cubicBezTo>
                  <a:close/>
                  <a:moveTo>
                    <a:pt x="102" y="25"/>
                  </a:moveTo>
                  <a:cubicBezTo>
                    <a:pt x="102" y="37"/>
                    <a:pt x="102" y="37"/>
                    <a:pt x="102" y="37"/>
                  </a:cubicBezTo>
                  <a:cubicBezTo>
                    <a:pt x="126" y="37"/>
                    <a:pt x="126" y="37"/>
                    <a:pt x="126" y="37"/>
                  </a:cubicBezTo>
                  <a:cubicBezTo>
                    <a:pt x="126" y="25"/>
                    <a:pt x="126" y="25"/>
                    <a:pt x="126" y="25"/>
                  </a:cubicBezTo>
                  <a:cubicBezTo>
                    <a:pt x="102" y="25"/>
                    <a:pt x="102" y="25"/>
                    <a:pt x="102" y="25"/>
                  </a:cubicBezTo>
                  <a:close/>
                  <a:moveTo>
                    <a:pt x="142" y="25"/>
                  </a:moveTo>
                  <a:cubicBezTo>
                    <a:pt x="132" y="25"/>
                    <a:pt x="132" y="25"/>
                    <a:pt x="132" y="25"/>
                  </a:cubicBezTo>
                  <a:cubicBezTo>
                    <a:pt x="132" y="37"/>
                    <a:pt x="132" y="37"/>
                    <a:pt x="132" y="37"/>
                  </a:cubicBezTo>
                  <a:cubicBezTo>
                    <a:pt x="142" y="37"/>
                    <a:pt x="142" y="37"/>
                    <a:pt x="142" y="37"/>
                  </a:cubicBezTo>
                  <a:cubicBezTo>
                    <a:pt x="142" y="25"/>
                    <a:pt x="142" y="25"/>
                    <a:pt x="142" y="25"/>
                  </a:cubicBezTo>
                  <a:close/>
                  <a:moveTo>
                    <a:pt x="118" y="43"/>
                  </a:moveTo>
                  <a:cubicBezTo>
                    <a:pt x="118" y="55"/>
                    <a:pt x="118" y="55"/>
                    <a:pt x="118" y="55"/>
                  </a:cubicBezTo>
                  <a:cubicBezTo>
                    <a:pt x="142" y="55"/>
                    <a:pt x="142" y="55"/>
                    <a:pt x="142" y="55"/>
                  </a:cubicBezTo>
                  <a:cubicBezTo>
                    <a:pt x="142" y="43"/>
                    <a:pt x="142" y="43"/>
                    <a:pt x="142" y="43"/>
                  </a:cubicBezTo>
                  <a:cubicBezTo>
                    <a:pt x="118" y="43"/>
                    <a:pt x="118" y="43"/>
                    <a:pt x="118" y="43"/>
                  </a:cubicBezTo>
                  <a:close/>
                  <a:moveTo>
                    <a:pt x="158" y="55"/>
                  </a:moveTo>
                  <a:cubicBezTo>
                    <a:pt x="158" y="43"/>
                    <a:pt x="158" y="43"/>
                    <a:pt x="158" y="43"/>
                  </a:cubicBezTo>
                  <a:cubicBezTo>
                    <a:pt x="148" y="43"/>
                    <a:pt x="148" y="43"/>
                    <a:pt x="148" y="43"/>
                  </a:cubicBezTo>
                  <a:cubicBezTo>
                    <a:pt x="148" y="55"/>
                    <a:pt x="148" y="55"/>
                    <a:pt x="148" y="55"/>
                  </a:cubicBezTo>
                  <a:cubicBezTo>
                    <a:pt x="158" y="55"/>
                    <a:pt x="158" y="55"/>
                    <a:pt x="158" y="55"/>
                  </a:cubicBezTo>
                  <a:close/>
                  <a:moveTo>
                    <a:pt x="142" y="19"/>
                  </a:moveTo>
                  <a:cubicBezTo>
                    <a:pt x="142" y="7"/>
                    <a:pt x="142" y="7"/>
                    <a:pt x="142" y="7"/>
                  </a:cubicBezTo>
                  <a:cubicBezTo>
                    <a:pt x="118" y="7"/>
                    <a:pt x="118" y="7"/>
                    <a:pt x="118" y="7"/>
                  </a:cubicBezTo>
                  <a:cubicBezTo>
                    <a:pt x="118" y="19"/>
                    <a:pt x="118" y="19"/>
                    <a:pt x="118" y="19"/>
                  </a:cubicBezTo>
                  <a:cubicBezTo>
                    <a:pt x="142" y="19"/>
                    <a:pt x="142" y="19"/>
                    <a:pt x="142" y="19"/>
                  </a:cubicBezTo>
                  <a:close/>
                  <a:moveTo>
                    <a:pt x="102" y="7"/>
                  </a:moveTo>
                  <a:cubicBezTo>
                    <a:pt x="102" y="19"/>
                    <a:pt x="102" y="19"/>
                    <a:pt x="102" y="19"/>
                  </a:cubicBezTo>
                  <a:cubicBezTo>
                    <a:pt x="112" y="19"/>
                    <a:pt x="112" y="19"/>
                    <a:pt x="112" y="19"/>
                  </a:cubicBezTo>
                  <a:cubicBezTo>
                    <a:pt x="112" y="7"/>
                    <a:pt x="112" y="7"/>
                    <a:pt x="112" y="7"/>
                  </a:cubicBezTo>
                  <a:cubicBezTo>
                    <a:pt x="102" y="7"/>
                    <a:pt x="102" y="7"/>
                    <a:pt x="102" y="7"/>
                  </a:cubicBezTo>
                  <a:close/>
                  <a:moveTo>
                    <a:pt x="86" y="43"/>
                  </a:moveTo>
                  <a:cubicBezTo>
                    <a:pt x="86" y="55"/>
                    <a:pt x="86" y="55"/>
                    <a:pt x="86" y="55"/>
                  </a:cubicBezTo>
                  <a:cubicBezTo>
                    <a:pt x="96" y="55"/>
                    <a:pt x="96" y="55"/>
                    <a:pt x="96" y="55"/>
                  </a:cubicBezTo>
                  <a:cubicBezTo>
                    <a:pt x="96" y="43"/>
                    <a:pt x="96" y="43"/>
                    <a:pt x="96" y="43"/>
                  </a:cubicBezTo>
                  <a:cubicBezTo>
                    <a:pt x="86" y="43"/>
                    <a:pt x="86" y="43"/>
                    <a:pt x="86" y="43"/>
                  </a:cubicBezTo>
                  <a:close/>
                  <a:moveTo>
                    <a:pt x="36" y="24"/>
                  </a:moveTo>
                  <a:cubicBezTo>
                    <a:pt x="36" y="37"/>
                    <a:pt x="36" y="37"/>
                    <a:pt x="36" y="37"/>
                  </a:cubicBezTo>
                  <a:cubicBezTo>
                    <a:pt x="45" y="37"/>
                    <a:pt x="45" y="37"/>
                    <a:pt x="45" y="37"/>
                  </a:cubicBezTo>
                  <a:cubicBezTo>
                    <a:pt x="45" y="24"/>
                    <a:pt x="45" y="24"/>
                    <a:pt x="45" y="24"/>
                  </a:cubicBezTo>
                  <a:cubicBezTo>
                    <a:pt x="36" y="24"/>
                    <a:pt x="36" y="24"/>
                    <a:pt x="36" y="24"/>
                  </a:cubicBezTo>
                  <a:close/>
                  <a:moveTo>
                    <a:pt x="26" y="43"/>
                  </a:moveTo>
                  <a:cubicBezTo>
                    <a:pt x="26" y="55"/>
                    <a:pt x="26" y="55"/>
                    <a:pt x="26" y="55"/>
                  </a:cubicBezTo>
                  <a:cubicBezTo>
                    <a:pt x="61" y="55"/>
                    <a:pt x="61" y="55"/>
                    <a:pt x="61" y="55"/>
                  </a:cubicBezTo>
                  <a:cubicBezTo>
                    <a:pt x="61" y="43"/>
                    <a:pt x="61" y="43"/>
                    <a:pt x="61" y="43"/>
                  </a:cubicBezTo>
                  <a:cubicBezTo>
                    <a:pt x="26" y="43"/>
                    <a:pt x="26" y="43"/>
                    <a:pt x="26" y="43"/>
                  </a:cubicBezTo>
                  <a:close/>
                  <a:moveTo>
                    <a:pt x="167" y="103"/>
                  </a:moveTo>
                  <a:cubicBezTo>
                    <a:pt x="183" y="61"/>
                    <a:pt x="183" y="61"/>
                    <a:pt x="183" y="61"/>
                  </a:cubicBezTo>
                  <a:cubicBezTo>
                    <a:pt x="8" y="61"/>
                    <a:pt x="8" y="61"/>
                    <a:pt x="8" y="61"/>
                  </a:cubicBezTo>
                  <a:cubicBezTo>
                    <a:pt x="25" y="103"/>
                    <a:pt x="25" y="103"/>
                    <a:pt x="25" y="103"/>
                  </a:cubicBezTo>
                  <a:cubicBezTo>
                    <a:pt x="167" y="103"/>
                    <a:pt x="167" y="103"/>
                    <a:pt x="167" y="103"/>
                  </a:cubicBezTo>
                  <a:close/>
                  <a:moveTo>
                    <a:pt x="95" y="87"/>
                  </a:moveTo>
                  <a:cubicBezTo>
                    <a:pt x="98" y="87"/>
                    <a:pt x="100" y="85"/>
                    <a:pt x="100" y="82"/>
                  </a:cubicBezTo>
                  <a:cubicBezTo>
                    <a:pt x="100" y="80"/>
                    <a:pt x="98" y="77"/>
                    <a:pt x="95" y="77"/>
                  </a:cubicBezTo>
                  <a:cubicBezTo>
                    <a:pt x="92" y="77"/>
                    <a:pt x="90" y="80"/>
                    <a:pt x="90" y="82"/>
                  </a:cubicBezTo>
                  <a:cubicBezTo>
                    <a:pt x="90" y="85"/>
                    <a:pt x="92" y="87"/>
                    <a:pt x="95" y="87"/>
                  </a:cubicBezTo>
                  <a:close/>
                  <a:moveTo>
                    <a:pt x="95" y="71"/>
                  </a:moveTo>
                  <a:cubicBezTo>
                    <a:pt x="101" y="71"/>
                    <a:pt x="106" y="76"/>
                    <a:pt x="106" y="82"/>
                  </a:cubicBezTo>
                  <a:cubicBezTo>
                    <a:pt x="106" y="89"/>
                    <a:pt x="101" y="94"/>
                    <a:pt x="95" y="94"/>
                  </a:cubicBezTo>
                  <a:cubicBezTo>
                    <a:pt x="89" y="94"/>
                    <a:pt x="83" y="89"/>
                    <a:pt x="83" y="82"/>
                  </a:cubicBezTo>
                  <a:cubicBezTo>
                    <a:pt x="83" y="76"/>
                    <a:pt x="89" y="71"/>
                    <a:pt x="95" y="71"/>
                  </a:cubicBezTo>
                  <a:close/>
                  <a:moveTo>
                    <a:pt x="60" y="71"/>
                  </a:moveTo>
                  <a:cubicBezTo>
                    <a:pt x="67" y="71"/>
                    <a:pt x="72" y="76"/>
                    <a:pt x="72" y="82"/>
                  </a:cubicBezTo>
                  <a:cubicBezTo>
                    <a:pt x="72" y="89"/>
                    <a:pt x="67" y="94"/>
                    <a:pt x="60" y="94"/>
                  </a:cubicBezTo>
                  <a:cubicBezTo>
                    <a:pt x="54" y="94"/>
                    <a:pt x="49" y="89"/>
                    <a:pt x="49" y="82"/>
                  </a:cubicBezTo>
                  <a:cubicBezTo>
                    <a:pt x="49" y="76"/>
                    <a:pt x="54" y="71"/>
                    <a:pt x="60" y="71"/>
                  </a:cubicBezTo>
                  <a:close/>
                  <a:moveTo>
                    <a:pt x="60" y="87"/>
                  </a:moveTo>
                  <a:cubicBezTo>
                    <a:pt x="63" y="87"/>
                    <a:pt x="66" y="85"/>
                    <a:pt x="66" y="82"/>
                  </a:cubicBezTo>
                  <a:cubicBezTo>
                    <a:pt x="66" y="80"/>
                    <a:pt x="63" y="77"/>
                    <a:pt x="60" y="77"/>
                  </a:cubicBezTo>
                  <a:cubicBezTo>
                    <a:pt x="58" y="77"/>
                    <a:pt x="55" y="80"/>
                    <a:pt x="55" y="82"/>
                  </a:cubicBezTo>
                  <a:cubicBezTo>
                    <a:pt x="55" y="85"/>
                    <a:pt x="58" y="87"/>
                    <a:pt x="60" y="87"/>
                  </a:cubicBezTo>
                  <a:close/>
                  <a:moveTo>
                    <a:pt x="119" y="82"/>
                  </a:moveTo>
                  <a:cubicBezTo>
                    <a:pt x="119" y="76"/>
                    <a:pt x="124" y="71"/>
                    <a:pt x="130" y="71"/>
                  </a:cubicBezTo>
                  <a:cubicBezTo>
                    <a:pt x="137" y="71"/>
                    <a:pt x="142" y="76"/>
                    <a:pt x="142" y="82"/>
                  </a:cubicBezTo>
                  <a:cubicBezTo>
                    <a:pt x="142" y="89"/>
                    <a:pt x="137" y="94"/>
                    <a:pt x="130" y="94"/>
                  </a:cubicBezTo>
                  <a:cubicBezTo>
                    <a:pt x="124" y="94"/>
                    <a:pt x="119" y="89"/>
                    <a:pt x="119" y="82"/>
                  </a:cubicBezTo>
                  <a:close/>
                  <a:moveTo>
                    <a:pt x="135" y="82"/>
                  </a:moveTo>
                  <a:cubicBezTo>
                    <a:pt x="135" y="80"/>
                    <a:pt x="133" y="77"/>
                    <a:pt x="130" y="77"/>
                  </a:cubicBezTo>
                  <a:cubicBezTo>
                    <a:pt x="128" y="77"/>
                    <a:pt x="125" y="80"/>
                    <a:pt x="125" y="82"/>
                  </a:cubicBezTo>
                  <a:cubicBezTo>
                    <a:pt x="125" y="85"/>
                    <a:pt x="128" y="87"/>
                    <a:pt x="130" y="87"/>
                  </a:cubicBezTo>
                  <a:cubicBezTo>
                    <a:pt x="133" y="87"/>
                    <a:pt x="135" y="85"/>
                    <a:pt x="135" y="82"/>
                  </a:cubicBezTo>
                  <a:close/>
                </a:path>
              </a:pathLst>
            </a:custGeom>
            <a:solidFill>
              <a:schemeClr val="bg1"/>
            </a:solidFill>
            <a:ln>
              <a:noFill/>
            </a:ln>
          </p:spPr>
          <p:txBody>
            <a:bodyPr vert="horz" wrap="square" lIns="68562" tIns="34281" rIns="68562" bIns="34281" numCol="1" anchor="t" anchorCtr="0" compatLnSpc="1"/>
            <a:lstStyle/>
            <a:p>
              <a:endParaRPr lang="zh-CN" altLang="en-US">
                <a:solidFill>
                  <a:prstClr val="black"/>
                </a:solidFill>
              </a:endParaRPr>
            </a:p>
          </p:txBody>
        </p:sp>
        <p:pic>
          <p:nvPicPr>
            <p:cNvPr id="52" name="Picture 49" descr="E:\01 日常工作\04 展厅相关设计\2015年\PPT\主打胶片\源文件\images\7_15.png"/>
            <p:cNvPicPr>
              <a:picLocks noChangeAspect="1" noChangeArrowheads="1"/>
            </p:cNvPicPr>
            <p:nvPr/>
          </p:nvPicPr>
          <p:blipFill>
            <a:blip r:embed="rId4" cstate="print"/>
            <a:srcRect/>
            <a:stretch>
              <a:fillRect/>
            </a:stretch>
          </p:blipFill>
          <p:spPr bwMode="auto">
            <a:xfrm>
              <a:off x="2050812" y="1145743"/>
              <a:ext cx="1728227" cy="1728227"/>
            </a:xfrm>
            <a:prstGeom prst="rect">
              <a:avLst/>
            </a:prstGeom>
            <a:noFill/>
          </p:spPr>
        </p:pic>
        <p:grpSp>
          <p:nvGrpSpPr>
            <p:cNvPr id="53" name="组合 52"/>
            <p:cNvGrpSpPr/>
            <p:nvPr/>
          </p:nvGrpSpPr>
          <p:grpSpPr>
            <a:xfrm>
              <a:off x="960774" y="6888208"/>
              <a:ext cx="490409" cy="431689"/>
              <a:chOff x="5807076" y="3829050"/>
              <a:chExt cx="490537" cy="431801"/>
            </a:xfrm>
            <a:solidFill>
              <a:schemeClr val="bg1"/>
            </a:solidFill>
          </p:grpSpPr>
          <p:sp>
            <p:nvSpPr>
              <p:cNvPr id="67" name="Freeform 44"/>
              <p:cNvSpPr>
                <a:spLocks noEditPoints="1"/>
              </p:cNvSpPr>
              <p:nvPr/>
            </p:nvSpPr>
            <p:spPr bwMode="auto">
              <a:xfrm>
                <a:off x="5807076" y="4148138"/>
                <a:ext cx="104775" cy="112713"/>
              </a:xfrm>
              <a:custGeom>
                <a:avLst/>
                <a:gdLst>
                  <a:gd name="T0" fmla="*/ 25 w 28"/>
                  <a:gd name="T1" fmla="*/ 29 h 29"/>
                  <a:gd name="T2" fmla="*/ 3 w 28"/>
                  <a:gd name="T3" fmla="*/ 29 h 29"/>
                  <a:gd name="T4" fmla="*/ 0 w 28"/>
                  <a:gd name="T5" fmla="*/ 26 h 29"/>
                  <a:gd name="T6" fmla="*/ 0 w 28"/>
                  <a:gd name="T7" fmla="*/ 3 h 29"/>
                  <a:gd name="T8" fmla="*/ 3 w 28"/>
                  <a:gd name="T9" fmla="*/ 0 h 29"/>
                  <a:gd name="T10" fmla="*/ 25 w 28"/>
                  <a:gd name="T11" fmla="*/ 0 h 29"/>
                  <a:gd name="T12" fmla="*/ 28 w 28"/>
                  <a:gd name="T13" fmla="*/ 3 h 29"/>
                  <a:gd name="T14" fmla="*/ 28 w 28"/>
                  <a:gd name="T15" fmla="*/ 26 h 29"/>
                  <a:gd name="T16" fmla="*/ 25 w 28"/>
                  <a:gd name="T17" fmla="*/ 29 h 29"/>
                  <a:gd name="T18" fmla="*/ 6 w 28"/>
                  <a:gd name="T19" fmla="*/ 23 h 29"/>
                  <a:gd name="T20" fmla="*/ 22 w 28"/>
                  <a:gd name="T21" fmla="*/ 23 h 29"/>
                  <a:gd name="T22" fmla="*/ 22 w 28"/>
                  <a:gd name="T23" fmla="*/ 6 h 29"/>
                  <a:gd name="T24" fmla="*/ 6 w 28"/>
                  <a:gd name="T25" fmla="*/ 6 h 29"/>
                  <a:gd name="T26" fmla="*/ 6 w 28"/>
                  <a:gd name="T2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9">
                    <a:moveTo>
                      <a:pt x="25" y="29"/>
                    </a:moveTo>
                    <a:cubicBezTo>
                      <a:pt x="3" y="29"/>
                      <a:pt x="3" y="29"/>
                      <a:pt x="3" y="29"/>
                    </a:cubicBezTo>
                    <a:cubicBezTo>
                      <a:pt x="1" y="29"/>
                      <a:pt x="0" y="28"/>
                      <a:pt x="0" y="26"/>
                    </a:cubicBezTo>
                    <a:cubicBezTo>
                      <a:pt x="0" y="3"/>
                      <a:pt x="0" y="3"/>
                      <a:pt x="0" y="3"/>
                    </a:cubicBezTo>
                    <a:cubicBezTo>
                      <a:pt x="0" y="1"/>
                      <a:pt x="1" y="0"/>
                      <a:pt x="3" y="0"/>
                    </a:cubicBezTo>
                    <a:cubicBezTo>
                      <a:pt x="25" y="0"/>
                      <a:pt x="25" y="0"/>
                      <a:pt x="25" y="0"/>
                    </a:cubicBezTo>
                    <a:cubicBezTo>
                      <a:pt x="27" y="0"/>
                      <a:pt x="28" y="1"/>
                      <a:pt x="28" y="3"/>
                    </a:cubicBezTo>
                    <a:cubicBezTo>
                      <a:pt x="28" y="26"/>
                      <a:pt x="28" y="26"/>
                      <a:pt x="28" y="26"/>
                    </a:cubicBezTo>
                    <a:cubicBezTo>
                      <a:pt x="28" y="28"/>
                      <a:pt x="27" y="29"/>
                      <a:pt x="25" y="29"/>
                    </a:cubicBezTo>
                    <a:close/>
                    <a:moveTo>
                      <a:pt x="6" y="23"/>
                    </a:moveTo>
                    <a:cubicBezTo>
                      <a:pt x="22" y="23"/>
                      <a:pt x="22" y="23"/>
                      <a:pt x="22" y="23"/>
                    </a:cubicBezTo>
                    <a:cubicBezTo>
                      <a:pt x="22" y="6"/>
                      <a:pt x="22" y="6"/>
                      <a:pt x="22" y="6"/>
                    </a:cubicBezTo>
                    <a:cubicBezTo>
                      <a:pt x="6" y="6"/>
                      <a:pt x="6" y="6"/>
                      <a:pt x="6" y="6"/>
                    </a:cubicBezTo>
                    <a:lnTo>
                      <a:pt x="6"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a:solidFill>
                    <a:prstClr val="black"/>
                  </a:solidFill>
                </a:endParaRPr>
              </a:p>
            </p:txBody>
          </p:sp>
          <p:sp>
            <p:nvSpPr>
              <p:cNvPr id="68" name="Freeform 45"/>
              <p:cNvSpPr>
                <a:spLocks noEditPoints="1"/>
              </p:cNvSpPr>
              <p:nvPr/>
            </p:nvSpPr>
            <p:spPr bwMode="auto">
              <a:xfrm>
                <a:off x="5807076" y="4148138"/>
                <a:ext cx="104775" cy="112713"/>
              </a:xfrm>
              <a:custGeom>
                <a:avLst/>
                <a:gdLst>
                  <a:gd name="T0" fmla="*/ 25 w 28"/>
                  <a:gd name="T1" fmla="*/ 29 h 29"/>
                  <a:gd name="T2" fmla="*/ 3 w 28"/>
                  <a:gd name="T3" fmla="*/ 29 h 29"/>
                  <a:gd name="T4" fmla="*/ 0 w 28"/>
                  <a:gd name="T5" fmla="*/ 26 h 29"/>
                  <a:gd name="T6" fmla="*/ 0 w 28"/>
                  <a:gd name="T7" fmla="*/ 3 h 29"/>
                  <a:gd name="T8" fmla="*/ 3 w 28"/>
                  <a:gd name="T9" fmla="*/ 0 h 29"/>
                  <a:gd name="T10" fmla="*/ 25 w 28"/>
                  <a:gd name="T11" fmla="*/ 0 h 29"/>
                  <a:gd name="T12" fmla="*/ 28 w 28"/>
                  <a:gd name="T13" fmla="*/ 3 h 29"/>
                  <a:gd name="T14" fmla="*/ 28 w 28"/>
                  <a:gd name="T15" fmla="*/ 26 h 29"/>
                  <a:gd name="T16" fmla="*/ 25 w 28"/>
                  <a:gd name="T17" fmla="*/ 29 h 29"/>
                  <a:gd name="T18" fmla="*/ 6 w 28"/>
                  <a:gd name="T19" fmla="*/ 23 h 29"/>
                  <a:gd name="T20" fmla="*/ 22 w 28"/>
                  <a:gd name="T21" fmla="*/ 23 h 29"/>
                  <a:gd name="T22" fmla="*/ 22 w 28"/>
                  <a:gd name="T23" fmla="*/ 6 h 29"/>
                  <a:gd name="T24" fmla="*/ 6 w 28"/>
                  <a:gd name="T25" fmla="*/ 6 h 29"/>
                  <a:gd name="T26" fmla="*/ 6 w 28"/>
                  <a:gd name="T2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9">
                    <a:moveTo>
                      <a:pt x="25" y="29"/>
                    </a:moveTo>
                    <a:cubicBezTo>
                      <a:pt x="3" y="29"/>
                      <a:pt x="3" y="29"/>
                      <a:pt x="3" y="29"/>
                    </a:cubicBezTo>
                    <a:cubicBezTo>
                      <a:pt x="1" y="29"/>
                      <a:pt x="0" y="28"/>
                      <a:pt x="0" y="26"/>
                    </a:cubicBezTo>
                    <a:cubicBezTo>
                      <a:pt x="0" y="3"/>
                      <a:pt x="0" y="3"/>
                      <a:pt x="0" y="3"/>
                    </a:cubicBezTo>
                    <a:cubicBezTo>
                      <a:pt x="0" y="1"/>
                      <a:pt x="1" y="0"/>
                      <a:pt x="3" y="0"/>
                    </a:cubicBezTo>
                    <a:cubicBezTo>
                      <a:pt x="25" y="0"/>
                      <a:pt x="25" y="0"/>
                      <a:pt x="25" y="0"/>
                    </a:cubicBezTo>
                    <a:cubicBezTo>
                      <a:pt x="27" y="0"/>
                      <a:pt x="28" y="1"/>
                      <a:pt x="28" y="3"/>
                    </a:cubicBezTo>
                    <a:cubicBezTo>
                      <a:pt x="28" y="26"/>
                      <a:pt x="28" y="26"/>
                      <a:pt x="28" y="26"/>
                    </a:cubicBezTo>
                    <a:cubicBezTo>
                      <a:pt x="28" y="28"/>
                      <a:pt x="27" y="29"/>
                      <a:pt x="25" y="29"/>
                    </a:cubicBezTo>
                    <a:close/>
                    <a:moveTo>
                      <a:pt x="6" y="23"/>
                    </a:moveTo>
                    <a:cubicBezTo>
                      <a:pt x="22" y="23"/>
                      <a:pt x="22" y="23"/>
                      <a:pt x="22" y="23"/>
                    </a:cubicBezTo>
                    <a:cubicBezTo>
                      <a:pt x="22" y="6"/>
                      <a:pt x="22" y="6"/>
                      <a:pt x="22" y="6"/>
                    </a:cubicBezTo>
                    <a:cubicBezTo>
                      <a:pt x="6" y="6"/>
                      <a:pt x="6" y="6"/>
                      <a:pt x="6" y="6"/>
                    </a:cubicBezTo>
                    <a:lnTo>
                      <a:pt x="6"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a:solidFill>
                    <a:prstClr val="black"/>
                  </a:solidFill>
                </a:endParaRPr>
              </a:p>
            </p:txBody>
          </p:sp>
          <p:sp>
            <p:nvSpPr>
              <p:cNvPr id="69" name="Freeform 46"/>
              <p:cNvSpPr>
                <a:spLocks noEditPoints="1"/>
              </p:cNvSpPr>
              <p:nvPr/>
            </p:nvSpPr>
            <p:spPr bwMode="auto">
              <a:xfrm>
                <a:off x="5967413" y="4040188"/>
                <a:ext cx="106363" cy="220663"/>
              </a:xfrm>
              <a:custGeom>
                <a:avLst/>
                <a:gdLst>
                  <a:gd name="T0" fmla="*/ 25 w 28"/>
                  <a:gd name="T1" fmla="*/ 57 h 57"/>
                  <a:gd name="T2" fmla="*/ 3 w 28"/>
                  <a:gd name="T3" fmla="*/ 57 h 57"/>
                  <a:gd name="T4" fmla="*/ 0 w 28"/>
                  <a:gd name="T5" fmla="*/ 54 h 57"/>
                  <a:gd name="T6" fmla="*/ 0 w 28"/>
                  <a:gd name="T7" fmla="*/ 3 h 57"/>
                  <a:gd name="T8" fmla="*/ 3 w 28"/>
                  <a:gd name="T9" fmla="*/ 0 h 57"/>
                  <a:gd name="T10" fmla="*/ 25 w 28"/>
                  <a:gd name="T11" fmla="*/ 0 h 57"/>
                  <a:gd name="T12" fmla="*/ 28 w 28"/>
                  <a:gd name="T13" fmla="*/ 3 h 57"/>
                  <a:gd name="T14" fmla="*/ 28 w 28"/>
                  <a:gd name="T15" fmla="*/ 54 h 57"/>
                  <a:gd name="T16" fmla="*/ 25 w 28"/>
                  <a:gd name="T17" fmla="*/ 57 h 57"/>
                  <a:gd name="T18" fmla="*/ 6 w 28"/>
                  <a:gd name="T19" fmla="*/ 51 h 57"/>
                  <a:gd name="T20" fmla="*/ 22 w 28"/>
                  <a:gd name="T21" fmla="*/ 51 h 57"/>
                  <a:gd name="T22" fmla="*/ 22 w 28"/>
                  <a:gd name="T23" fmla="*/ 6 h 57"/>
                  <a:gd name="T24" fmla="*/ 6 w 28"/>
                  <a:gd name="T25" fmla="*/ 6 h 57"/>
                  <a:gd name="T26" fmla="*/ 6 w 28"/>
                  <a:gd name="T27" fmla="*/ 5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7">
                    <a:moveTo>
                      <a:pt x="25" y="57"/>
                    </a:moveTo>
                    <a:cubicBezTo>
                      <a:pt x="3" y="57"/>
                      <a:pt x="3" y="57"/>
                      <a:pt x="3" y="57"/>
                    </a:cubicBezTo>
                    <a:cubicBezTo>
                      <a:pt x="1" y="57"/>
                      <a:pt x="0" y="56"/>
                      <a:pt x="0" y="54"/>
                    </a:cubicBezTo>
                    <a:cubicBezTo>
                      <a:pt x="0" y="3"/>
                      <a:pt x="0" y="3"/>
                      <a:pt x="0" y="3"/>
                    </a:cubicBezTo>
                    <a:cubicBezTo>
                      <a:pt x="0" y="1"/>
                      <a:pt x="1" y="0"/>
                      <a:pt x="3" y="0"/>
                    </a:cubicBezTo>
                    <a:cubicBezTo>
                      <a:pt x="25" y="0"/>
                      <a:pt x="25" y="0"/>
                      <a:pt x="25" y="0"/>
                    </a:cubicBezTo>
                    <a:cubicBezTo>
                      <a:pt x="27" y="0"/>
                      <a:pt x="28" y="1"/>
                      <a:pt x="28" y="3"/>
                    </a:cubicBezTo>
                    <a:cubicBezTo>
                      <a:pt x="28" y="54"/>
                      <a:pt x="28" y="54"/>
                      <a:pt x="28" y="54"/>
                    </a:cubicBezTo>
                    <a:cubicBezTo>
                      <a:pt x="28" y="56"/>
                      <a:pt x="27" y="57"/>
                      <a:pt x="25" y="57"/>
                    </a:cubicBezTo>
                    <a:close/>
                    <a:moveTo>
                      <a:pt x="6" y="51"/>
                    </a:moveTo>
                    <a:cubicBezTo>
                      <a:pt x="22" y="51"/>
                      <a:pt x="22" y="51"/>
                      <a:pt x="22" y="51"/>
                    </a:cubicBezTo>
                    <a:cubicBezTo>
                      <a:pt x="22" y="6"/>
                      <a:pt x="22" y="6"/>
                      <a:pt x="22" y="6"/>
                    </a:cubicBezTo>
                    <a:cubicBezTo>
                      <a:pt x="6" y="6"/>
                      <a:pt x="6" y="6"/>
                      <a:pt x="6" y="6"/>
                    </a:cubicBezTo>
                    <a:lnTo>
                      <a:pt x="6" y="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a:solidFill>
                    <a:prstClr val="black"/>
                  </a:solidFill>
                </a:endParaRPr>
              </a:p>
            </p:txBody>
          </p:sp>
          <p:sp>
            <p:nvSpPr>
              <p:cNvPr id="70" name="Freeform 47"/>
              <p:cNvSpPr/>
              <p:nvPr/>
            </p:nvSpPr>
            <p:spPr bwMode="auto">
              <a:xfrm>
                <a:off x="5851526" y="4237038"/>
                <a:ext cx="349250" cy="23813"/>
              </a:xfrm>
              <a:custGeom>
                <a:avLst/>
                <a:gdLst>
                  <a:gd name="T0" fmla="*/ 90 w 93"/>
                  <a:gd name="T1" fmla="*/ 6 h 6"/>
                  <a:gd name="T2" fmla="*/ 3 w 93"/>
                  <a:gd name="T3" fmla="*/ 6 h 6"/>
                  <a:gd name="T4" fmla="*/ 0 w 93"/>
                  <a:gd name="T5" fmla="*/ 3 h 6"/>
                  <a:gd name="T6" fmla="*/ 3 w 93"/>
                  <a:gd name="T7" fmla="*/ 0 h 6"/>
                  <a:gd name="T8" fmla="*/ 90 w 93"/>
                  <a:gd name="T9" fmla="*/ 0 h 6"/>
                  <a:gd name="T10" fmla="*/ 93 w 93"/>
                  <a:gd name="T11" fmla="*/ 3 h 6"/>
                  <a:gd name="T12" fmla="*/ 90 w 93"/>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3" h="6">
                    <a:moveTo>
                      <a:pt x="90" y="6"/>
                    </a:moveTo>
                    <a:cubicBezTo>
                      <a:pt x="3" y="6"/>
                      <a:pt x="3" y="6"/>
                      <a:pt x="3" y="6"/>
                    </a:cubicBezTo>
                    <a:cubicBezTo>
                      <a:pt x="1" y="6"/>
                      <a:pt x="0" y="5"/>
                      <a:pt x="0" y="3"/>
                    </a:cubicBezTo>
                    <a:cubicBezTo>
                      <a:pt x="0" y="1"/>
                      <a:pt x="1" y="0"/>
                      <a:pt x="3" y="0"/>
                    </a:cubicBezTo>
                    <a:cubicBezTo>
                      <a:pt x="90" y="0"/>
                      <a:pt x="90" y="0"/>
                      <a:pt x="90" y="0"/>
                    </a:cubicBezTo>
                    <a:cubicBezTo>
                      <a:pt x="92" y="0"/>
                      <a:pt x="93" y="1"/>
                      <a:pt x="93" y="3"/>
                    </a:cubicBezTo>
                    <a:cubicBezTo>
                      <a:pt x="93" y="5"/>
                      <a:pt x="92" y="6"/>
                      <a:pt x="9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a:solidFill>
                    <a:prstClr val="black"/>
                  </a:solidFill>
                </a:endParaRPr>
              </a:p>
            </p:txBody>
          </p:sp>
          <p:sp>
            <p:nvSpPr>
              <p:cNvPr id="71" name="Freeform 48"/>
              <p:cNvSpPr>
                <a:spLocks noEditPoints="1"/>
              </p:cNvSpPr>
              <p:nvPr/>
            </p:nvSpPr>
            <p:spPr bwMode="auto">
              <a:xfrm>
                <a:off x="6069013" y="3829050"/>
                <a:ext cx="228600" cy="431800"/>
              </a:xfrm>
              <a:custGeom>
                <a:avLst/>
                <a:gdLst>
                  <a:gd name="T0" fmla="*/ 41 w 61"/>
                  <a:gd name="T1" fmla="*/ 112 h 112"/>
                  <a:gd name="T2" fmla="*/ 19 w 61"/>
                  <a:gd name="T3" fmla="*/ 112 h 112"/>
                  <a:gd name="T4" fmla="*/ 16 w 61"/>
                  <a:gd name="T5" fmla="*/ 109 h 112"/>
                  <a:gd name="T6" fmla="*/ 16 w 61"/>
                  <a:gd name="T7" fmla="*/ 37 h 112"/>
                  <a:gd name="T8" fmla="*/ 3 w 61"/>
                  <a:gd name="T9" fmla="*/ 37 h 112"/>
                  <a:gd name="T10" fmla="*/ 0 w 61"/>
                  <a:gd name="T11" fmla="*/ 35 h 112"/>
                  <a:gd name="T12" fmla="*/ 1 w 61"/>
                  <a:gd name="T13" fmla="*/ 32 h 112"/>
                  <a:gd name="T14" fmla="*/ 28 w 61"/>
                  <a:gd name="T15" fmla="*/ 1 h 112"/>
                  <a:gd name="T16" fmla="*/ 33 w 61"/>
                  <a:gd name="T17" fmla="*/ 1 h 112"/>
                  <a:gd name="T18" fmla="*/ 60 w 61"/>
                  <a:gd name="T19" fmla="*/ 32 h 112"/>
                  <a:gd name="T20" fmla="*/ 60 w 61"/>
                  <a:gd name="T21" fmla="*/ 35 h 112"/>
                  <a:gd name="T22" fmla="*/ 58 w 61"/>
                  <a:gd name="T23" fmla="*/ 37 h 112"/>
                  <a:gd name="T24" fmla="*/ 44 w 61"/>
                  <a:gd name="T25" fmla="*/ 37 h 112"/>
                  <a:gd name="T26" fmla="*/ 44 w 61"/>
                  <a:gd name="T27" fmla="*/ 109 h 112"/>
                  <a:gd name="T28" fmla="*/ 41 w 61"/>
                  <a:gd name="T29" fmla="*/ 112 h 112"/>
                  <a:gd name="T30" fmla="*/ 22 w 61"/>
                  <a:gd name="T31" fmla="*/ 106 h 112"/>
                  <a:gd name="T32" fmla="*/ 38 w 61"/>
                  <a:gd name="T33" fmla="*/ 106 h 112"/>
                  <a:gd name="T34" fmla="*/ 38 w 61"/>
                  <a:gd name="T35" fmla="*/ 34 h 112"/>
                  <a:gd name="T36" fmla="*/ 41 w 61"/>
                  <a:gd name="T37" fmla="*/ 31 h 112"/>
                  <a:gd name="T38" fmla="*/ 51 w 61"/>
                  <a:gd name="T39" fmla="*/ 31 h 112"/>
                  <a:gd name="T40" fmla="*/ 30 w 61"/>
                  <a:gd name="T41" fmla="*/ 8 h 112"/>
                  <a:gd name="T42" fmla="*/ 10 w 61"/>
                  <a:gd name="T43" fmla="*/ 31 h 112"/>
                  <a:gd name="T44" fmla="*/ 19 w 61"/>
                  <a:gd name="T45" fmla="*/ 31 h 112"/>
                  <a:gd name="T46" fmla="*/ 22 w 61"/>
                  <a:gd name="T47" fmla="*/ 34 h 112"/>
                  <a:gd name="T48" fmla="*/ 22 w 61"/>
                  <a:gd name="T49" fmla="*/ 10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112">
                    <a:moveTo>
                      <a:pt x="41" y="112"/>
                    </a:moveTo>
                    <a:cubicBezTo>
                      <a:pt x="19" y="112"/>
                      <a:pt x="19" y="112"/>
                      <a:pt x="19" y="112"/>
                    </a:cubicBezTo>
                    <a:cubicBezTo>
                      <a:pt x="17" y="112"/>
                      <a:pt x="16" y="111"/>
                      <a:pt x="16" y="109"/>
                    </a:cubicBezTo>
                    <a:cubicBezTo>
                      <a:pt x="16" y="37"/>
                      <a:pt x="16" y="37"/>
                      <a:pt x="16" y="37"/>
                    </a:cubicBezTo>
                    <a:cubicBezTo>
                      <a:pt x="3" y="37"/>
                      <a:pt x="3" y="37"/>
                      <a:pt x="3" y="37"/>
                    </a:cubicBezTo>
                    <a:cubicBezTo>
                      <a:pt x="2" y="37"/>
                      <a:pt x="1" y="36"/>
                      <a:pt x="0" y="35"/>
                    </a:cubicBezTo>
                    <a:cubicBezTo>
                      <a:pt x="0" y="34"/>
                      <a:pt x="0" y="32"/>
                      <a:pt x="1" y="32"/>
                    </a:cubicBezTo>
                    <a:cubicBezTo>
                      <a:pt x="28" y="1"/>
                      <a:pt x="28" y="1"/>
                      <a:pt x="28" y="1"/>
                    </a:cubicBezTo>
                    <a:cubicBezTo>
                      <a:pt x="29" y="0"/>
                      <a:pt x="32" y="0"/>
                      <a:pt x="33" y="1"/>
                    </a:cubicBezTo>
                    <a:cubicBezTo>
                      <a:pt x="60" y="32"/>
                      <a:pt x="60" y="32"/>
                      <a:pt x="60" y="32"/>
                    </a:cubicBezTo>
                    <a:cubicBezTo>
                      <a:pt x="61" y="32"/>
                      <a:pt x="61" y="34"/>
                      <a:pt x="60" y="35"/>
                    </a:cubicBezTo>
                    <a:cubicBezTo>
                      <a:pt x="60" y="36"/>
                      <a:pt x="59" y="37"/>
                      <a:pt x="58" y="37"/>
                    </a:cubicBezTo>
                    <a:cubicBezTo>
                      <a:pt x="44" y="37"/>
                      <a:pt x="44" y="37"/>
                      <a:pt x="44" y="37"/>
                    </a:cubicBezTo>
                    <a:cubicBezTo>
                      <a:pt x="44" y="109"/>
                      <a:pt x="44" y="109"/>
                      <a:pt x="44" y="109"/>
                    </a:cubicBezTo>
                    <a:cubicBezTo>
                      <a:pt x="44" y="111"/>
                      <a:pt x="43" y="112"/>
                      <a:pt x="41" y="112"/>
                    </a:cubicBezTo>
                    <a:close/>
                    <a:moveTo>
                      <a:pt x="22" y="106"/>
                    </a:moveTo>
                    <a:cubicBezTo>
                      <a:pt x="38" y="106"/>
                      <a:pt x="38" y="106"/>
                      <a:pt x="38" y="106"/>
                    </a:cubicBezTo>
                    <a:cubicBezTo>
                      <a:pt x="38" y="34"/>
                      <a:pt x="38" y="34"/>
                      <a:pt x="38" y="34"/>
                    </a:cubicBezTo>
                    <a:cubicBezTo>
                      <a:pt x="38" y="32"/>
                      <a:pt x="40" y="31"/>
                      <a:pt x="41" y="31"/>
                    </a:cubicBezTo>
                    <a:cubicBezTo>
                      <a:pt x="51" y="31"/>
                      <a:pt x="51" y="31"/>
                      <a:pt x="51" y="31"/>
                    </a:cubicBezTo>
                    <a:cubicBezTo>
                      <a:pt x="30" y="8"/>
                      <a:pt x="30" y="8"/>
                      <a:pt x="30" y="8"/>
                    </a:cubicBezTo>
                    <a:cubicBezTo>
                      <a:pt x="10" y="31"/>
                      <a:pt x="10" y="31"/>
                      <a:pt x="10" y="31"/>
                    </a:cubicBezTo>
                    <a:cubicBezTo>
                      <a:pt x="19" y="31"/>
                      <a:pt x="19" y="31"/>
                      <a:pt x="19" y="31"/>
                    </a:cubicBezTo>
                    <a:cubicBezTo>
                      <a:pt x="20" y="31"/>
                      <a:pt x="22" y="32"/>
                      <a:pt x="22" y="34"/>
                    </a:cubicBezTo>
                    <a:lnTo>
                      <a:pt x="22"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a:solidFill>
                    <a:prstClr val="black"/>
                  </a:solidFill>
                </a:endParaRPr>
              </a:p>
            </p:txBody>
          </p:sp>
        </p:grpSp>
        <p:grpSp>
          <p:nvGrpSpPr>
            <p:cNvPr id="54" name="组合 53"/>
            <p:cNvGrpSpPr/>
            <p:nvPr/>
          </p:nvGrpSpPr>
          <p:grpSpPr>
            <a:xfrm>
              <a:off x="4405582" y="1753248"/>
              <a:ext cx="414230" cy="420148"/>
              <a:chOff x="195262" y="5502275"/>
              <a:chExt cx="444500" cy="450850"/>
            </a:xfrm>
            <a:solidFill>
              <a:schemeClr val="bg1"/>
            </a:solidFill>
          </p:grpSpPr>
          <p:sp>
            <p:nvSpPr>
              <p:cNvPr id="61" name="Freeform 38"/>
              <p:cNvSpPr>
                <a:spLocks noEditPoints="1"/>
              </p:cNvSpPr>
              <p:nvPr/>
            </p:nvSpPr>
            <p:spPr bwMode="auto">
              <a:xfrm>
                <a:off x="450850" y="5581650"/>
                <a:ext cx="104775" cy="66675"/>
              </a:xfrm>
              <a:custGeom>
                <a:avLst/>
                <a:gdLst/>
                <a:ahLst/>
                <a:cxnLst>
                  <a:cxn ang="0">
                    <a:pos x="1" y="13"/>
                  </a:cxn>
                  <a:cxn ang="0">
                    <a:pos x="2" y="15"/>
                  </a:cxn>
                  <a:cxn ang="0">
                    <a:pos x="3" y="17"/>
                  </a:cxn>
                  <a:cxn ang="0">
                    <a:pos x="7" y="20"/>
                  </a:cxn>
                  <a:cxn ang="0">
                    <a:pos x="12" y="23"/>
                  </a:cxn>
                  <a:cxn ang="0">
                    <a:pos x="15" y="24"/>
                  </a:cxn>
                  <a:cxn ang="0">
                    <a:pos x="22" y="25"/>
                  </a:cxn>
                  <a:cxn ang="0">
                    <a:pos x="32" y="26"/>
                  </a:cxn>
                  <a:cxn ang="0">
                    <a:pos x="32" y="26"/>
                  </a:cxn>
                  <a:cxn ang="0">
                    <a:pos x="39" y="25"/>
                  </a:cxn>
                  <a:cxn ang="0">
                    <a:pos x="41" y="24"/>
                  </a:cxn>
                  <a:cxn ang="0">
                    <a:pos x="42" y="21"/>
                  </a:cxn>
                  <a:cxn ang="0">
                    <a:pos x="41" y="19"/>
                  </a:cxn>
                  <a:cxn ang="0">
                    <a:pos x="41" y="18"/>
                  </a:cxn>
                  <a:cxn ang="0">
                    <a:pos x="38" y="15"/>
                  </a:cxn>
                  <a:cxn ang="0">
                    <a:pos x="37" y="15"/>
                  </a:cxn>
                  <a:cxn ang="0">
                    <a:pos x="29" y="11"/>
                  </a:cxn>
                  <a:cxn ang="0">
                    <a:pos x="18" y="8"/>
                  </a:cxn>
                  <a:cxn ang="0">
                    <a:pos x="13" y="7"/>
                  </a:cxn>
                  <a:cxn ang="0">
                    <a:pos x="8" y="2"/>
                  </a:cxn>
                  <a:cxn ang="0">
                    <a:pos x="8" y="2"/>
                  </a:cxn>
                  <a:cxn ang="0">
                    <a:pos x="8" y="1"/>
                  </a:cxn>
                  <a:cxn ang="0">
                    <a:pos x="3" y="1"/>
                  </a:cxn>
                  <a:cxn ang="0">
                    <a:pos x="2" y="2"/>
                  </a:cxn>
                  <a:cxn ang="0">
                    <a:pos x="0" y="6"/>
                  </a:cxn>
                  <a:cxn ang="0">
                    <a:pos x="0" y="7"/>
                  </a:cxn>
                  <a:cxn ang="0">
                    <a:pos x="1" y="12"/>
                  </a:cxn>
                  <a:cxn ang="0">
                    <a:pos x="1" y="13"/>
                  </a:cxn>
                  <a:cxn ang="0">
                    <a:pos x="8" y="11"/>
                  </a:cxn>
                  <a:cxn ang="0">
                    <a:pos x="9" y="12"/>
                  </a:cxn>
                  <a:cxn ang="0">
                    <a:pos x="10" y="13"/>
                  </a:cxn>
                  <a:cxn ang="0">
                    <a:pos x="11" y="13"/>
                  </a:cxn>
                  <a:cxn ang="0">
                    <a:pos x="22" y="16"/>
                  </a:cxn>
                  <a:cxn ang="0">
                    <a:pos x="24" y="16"/>
                  </a:cxn>
                  <a:cxn ang="0">
                    <a:pos x="29" y="18"/>
                  </a:cxn>
                  <a:cxn ang="0">
                    <a:pos x="32" y="19"/>
                  </a:cxn>
                  <a:cxn ang="0">
                    <a:pos x="28" y="19"/>
                  </a:cxn>
                  <a:cxn ang="0">
                    <a:pos x="22" y="19"/>
                  </a:cxn>
                  <a:cxn ang="0">
                    <a:pos x="17" y="18"/>
                  </a:cxn>
                  <a:cxn ang="0">
                    <a:pos x="11" y="16"/>
                  </a:cxn>
                  <a:cxn ang="0">
                    <a:pos x="9" y="13"/>
                  </a:cxn>
                  <a:cxn ang="0">
                    <a:pos x="7" y="11"/>
                  </a:cxn>
                  <a:cxn ang="0">
                    <a:pos x="7" y="11"/>
                  </a:cxn>
                  <a:cxn ang="0">
                    <a:pos x="8" y="11"/>
                  </a:cxn>
                </a:cxnLst>
                <a:rect l="0" t="0" r="r" b="b"/>
                <a:pathLst>
                  <a:path w="42" h="26">
                    <a:moveTo>
                      <a:pt x="1" y="13"/>
                    </a:moveTo>
                    <a:cubicBezTo>
                      <a:pt x="2" y="15"/>
                      <a:pt x="2" y="15"/>
                      <a:pt x="2" y="15"/>
                    </a:cubicBezTo>
                    <a:cubicBezTo>
                      <a:pt x="3" y="17"/>
                      <a:pt x="3" y="17"/>
                      <a:pt x="3" y="17"/>
                    </a:cubicBezTo>
                    <a:cubicBezTo>
                      <a:pt x="7" y="20"/>
                      <a:pt x="7" y="20"/>
                      <a:pt x="7" y="20"/>
                    </a:cubicBezTo>
                    <a:cubicBezTo>
                      <a:pt x="12" y="23"/>
                      <a:pt x="12" y="23"/>
                      <a:pt x="12" y="23"/>
                    </a:cubicBezTo>
                    <a:cubicBezTo>
                      <a:pt x="15" y="24"/>
                      <a:pt x="15" y="24"/>
                      <a:pt x="15" y="24"/>
                    </a:cubicBezTo>
                    <a:cubicBezTo>
                      <a:pt x="22" y="25"/>
                      <a:pt x="22" y="25"/>
                      <a:pt x="22" y="25"/>
                    </a:cubicBezTo>
                    <a:cubicBezTo>
                      <a:pt x="32" y="26"/>
                      <a:pt x="32" y="26"/>
                      <a:pt x="32" y="26"/>
                    </a:cubicBezTo>
                    <a:cubicBezTo>
                      <a:pt x="32" y="26"/>
                      <a:pt x="32" y="26"/>
                      <a:pt x="32" y="26"/>
                    </a:cubicBezTo>
                    <a:cubicBezTo>
                      <a:pt x="39" y="25"/>
                      <a:pt x="39" y="25"/>
                      <a:pt x="39" y="25"/>
                    </a:cubicBezTo>
                    <a:cubicBezTo>
                      <a:pt x="40" y="25"/>
                      <a:pt x="41" y="25"/>
                      <a:pt x="41" y="24"/>
                    </a:cubicBezTo>
                    <a:cubicBezTo>
                      <a:pt x="42" y="23"/>
                      <a:pt x="42" y="22"/>
                      <a:pt x="42" y="21"/>
                    </a:cubicBezTo>
                    <a:cubicBezTo>
                      <a:pt x="41" y="19"/>
                      <a:pt x="41" y="19"/>
                      <a:pt x="41" y="19"/>
                    </a:cubicBezTo>
                    <a:cubicBezTo>
                      <a:pt x="41" y="19"/>
                      <a:pt x="41" y="18"/>
                      <a:pt x="41" y="18"/>
                    </a:cubicBezTo>
                    <a:cubicBezTo>
                      <a:pt x="38" y="15"/>
                      <a:pt x="38" y="15"/>
                      <a:pt x="38" y="15"/>
                    </a:cubicBezTo>
                    <a:cubicBezTo>
                      <a:pt x="37" y="15"/>
                      <a:pt x="37" y="15"/>
                      <a:pt x="37" y="15"/>
                    </a:cubicBezTo>
                    <a:cubicBezTo>
                      <a:pt x="29" y="11"/>
                      <a:pt x="29" y="11"/>
                      <a:pt x="29" y="11"/>
                    </a:cubicBezTo>
                    <a:cubicBezTo>
                      <a:pt x="18" y="8"/>
                      <a:pt x="18" y="8"/>
                      <a:pt x="18" y="8"/>
                    </a:cubicBezTo>
                    <a:cubicBezTo>
                      <a:pt x="13" y="7"/>
                      <a:pt x="13" y="7"/>
                      <a:pt x="13" y="7"/>
                    </a:cubicBezTo>
                    <a:cubicBezTo>
                      <a:pt x="8" y="2"/>
                      <a:pt x="8" y="2"/>
                      <a:pt x="8" y="2"/>
                    </a:cubicBezTo>
                    <a:cubicBezTo>
                      <a:pt x="8" y="2"/>
                      <a:pt x="8" y="2"/>
                      <a:pt x="8" y="2"/>
                    </a:cubicBezTo>
                    <a:cubicBezTo>
                      <a:pt x="8" y="2"/>
                      <a:pt x="8" y="1"/>
                      <a:pt x="8" y="1"/>
                    </a:cubicBezTo>
                    <a:cubicBezTo>
                      <a:pt x="6" y="0"/>
                      <a:pt x="5" y="0"/>
                      <a:pt x="3" y="1"/>
                    </a:cubicBezTo>
                    <a:cubicBezTo>
                      <a:pt x="3" y="1"/>
                      <a:pt x="2" y="2"/>
                      <a:pt x="2" y="2"/>
                    </a:cubicBezTo>
                    <a:cubicBezTo>
                      <a:pt x="0" y="6"/>
                      <a:pt x="0" y="6"/>
                      <a:pt x="0" y="6"/>
                    </a:cubicBezTo>
                    <a:cubicBezTo>
                      <a:pt x="0" y="6"/>
                      <a:pt x="0" y="6"/>
                      <a:pt x="0" y="7"/>
                    </a:cubicBezTo>
                    <a:cubicBezTo>
                      <a:pt x="1" y="12"/>
                      <a:pt x="1" y="12"/>
                      <a:pt x="1" y="12"/>
                    </a:cubicBezTo>
                    <a:cubicBezTo>
                      <a:pt x="1" y="13"/>
                      <a:pt x="1" y="13"/>
                      <a:pt x="1" y="13"/>
                    </a:cubicBezTo>
                    <a:close/>
                    <a:moveTo>
                      <a:pt x="8" y="11"/>
                    </a:moveTo>
                    <a:cubicBezTo>
                      <a:pt x="8" y="12"/>
                      <a:pt x="9" y="12"/>
                      <a:pt x="9" y="12"/>
                    </a:cubicBezTo>
                    <a:cubicBezTo>
                      <a:pt x="10" y="13"/>
                      <a:pt x="10" y="13"/>
                      <a:pt x="10" y="13"/>
                    </a:cubicBezTo>
                    <a:cubicBezTo>
                      <a:pt x="10" y="13"/>
                      <a:pt x="11" y="13"/>
                      <a:pt x="11" y="13"/>
                    </a:cubicBezTo>
                    <a:cubicBezTo>
                      <a:pt x="22" y="16"/>
                      <a:pt x="22" y="16"/>
                      <a:pt x="22" y="16"/>
                    </a:cubicBezTo>
                    <a:cubicBezTo>
                      <a:pt x="24" y="16"/>
                      <a:pt x="24" y="16"/>
                      <a:pt x="24" y="16"/>
                    </a:cubicBezTo>
                    <a:cubicBezTo>
                      <a:pt x="29" y="18"/>
                      <a:pt x="29" y="18"/>
                      <a:pt x="29" y="18"/>
                    </a:cubicBezTo>
                    <a:cubicBezTo>
                      <a:pt x="32" y="19"/>
                      <a:pt x="32" y="19"/>
                      <a:pt x="32" y="19"/>
                    </a:cubicBezTo>
                    <a:cubicBezTo>
                      <a:pt x="28" y="19"/>
                      <a:pt x="28" y="19"/>
                      <a:pt x="28" y="19"/>
                    </a:cubicBezTo>
                    <a:cubicBezTo>
                      <a:pt x="22" y="19"/>
                      <a:pt x="22" y="19"/>
                      <a:pt x="22" y="19"/>
                    </a:cubicBezTo>
                    <a:cubicBezTo>
                      <a:pt x="17" y="18"/>
                      <a:pt x="17" y="18"/>
                      <a:pt x="17" y="18"/>
                    </a:cubicBezTo>
                    <a:cubicBezTo>
                      <a:pt x="11" y="16"/>
                      <a:pt x="11" y="16"/>
                      <a:pt x="11" y="16"/>
                    </a:cubicBezTo>
                    <a:cubicBezTo>
                      <a:pt x="9" y="13"/>
                      <a:pt x="9" y="13"/>
                      <a:pt x="9" y="13"/>
                    </a:cubicBezTo>
                    <a:cubicBezTo>
                      <a:pt x="7" y="11"/>
                      <a:pt x="7" y="11"/>
                      <a:pt x="7" y="11"/>
                    </a:cubicBezTo>
                    <a:cubicBezTo>
                      <a:pt x="7" y="11"/>
                      <a:pt x="7" y="11"/>
                      <a:pt x="7" y="11"/>
                    </a:cubicBezTo>
                    <a:lnTo>
                      <a:pt x="8" y="11"/>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sp>
            <p:nvSpPr>
              <p:cNvPr id="62" name="Freeform 39"/>
              <p:cNvSpPr>
                <a:spLocks noEditPoints="1"/>
              </p:cNvSpPr>
              <p:nvPr/>
            </p:nvSpPr>
            <p:spPr bwMode="auto">
              <a:xfrm>
                <a:off x="288925" y="5502275"/>
                <a:ext cx="123825" cy="74613"/>
              </a:xfrm>
              <a:custGeom>
                <a:avLst/>
                <a:gdLst/>
                <a:ahLst/>
                <a:cxnLst>
                  <a:cxn ang="0">
                    <a:pos x="0" y="13"/>
                  </a:cxn>
                  <a:cxn ang="0">
                    <a:pos x="2" y="17"/>
                  </a:cxn>
                  <a:cxn ang="0">
                    <a:pos x="5" y="21"/>
                  </a:cxn>
                  <a:cxn ang="0">
                    <a:pos x="6" y="22"/>
                  </a:cxn>
                  <a:cxn ang="0">
                    <a:pos x="11" y="25"/>
                  </a:cxn>
                  <a:cxn ang="0">
                    <a:pos x="14" y="27"/>
                  </a:cxn>
                  <a:cxn ang="0">
                    <a:pos x="21" y="28"/>
                  </a:cxn>
                  <a:cxn ang="0">
                    <a:pos x="28" y="30"/>
                  </a:cxn>
                  <a:cxn ang="0">
                    <a:pos x="37" y="30"/>
                  </a:cxn>
                  <a:cxn ang="0">
                    <a:pos x="38" y="30"/>
                  </a:cxn>
                  <a:cxn ang="0">
                    <a:pos x="42" y="30"/>
                  </a:cxn>
                  <a:cxn ang="0">
                    <a:pos x="46" y="29"/>
                  </a:cxn>
                  <a:cxn ang="0">
                    <a:pos x="48" y="27"/>
                  </a:cxn>
                  <a:cxn ang="0">
                    <a:pos x="48" y="25"/>
                  </a:cxn>
                  <a:cxn ang="0">
                    <a:pos x="46" y="20"/>
                  </a:cxn>
                  <a:cxn ang="0">
                    <a:pos x="45" y="20"/>
                  </a:cxn>
                  <a:cxn ang="0">
                    <a:pos x="43" y="18"/>
                  </a:cxn>
                  <a:cxn ang="0">
                    <a:pos x="43" y="17"/>
                  </a:cxn>
                  <a:cxn ang="0">
                    <a:pos x="40" y="16"/>
                  </a:cxn>
                  <a:cxn ang="0">
                    <a:pos x="33" y="13"/>
                  </a:cxn>
                  <a:cxn ang="0">
                    <a:pos x="20" y="10"/>
                  </a:cxn>
                  <a:cxn ang="0">
                    <a:pos x="15" y="8"/>
                  </a:cxn>
                  <a:cxn ang="0">
                    <a:pos x="11" y="6"/>
                  </a:cxn>
                  <a:cxn ang="0">
                    <a:pos x="9" y="3"/>
                  </a:cxn>
                  <a:cxn ang="0">
                    <a:pos x="7" y="1"/>
                  </a:cxn>
                  <a:cxn ang="0">
                    <a:pos x="7" y="1"/>
                  </a:cxn>
                  <a:cxn ang="0">
                    <a:pos x="4" y="1"/>
                  </a:cxn>
                  <a:cxn ang="0">
                    <a:pos x="3" y="1"/>
                  </a:cxn>
                  <a:cxn ang="0">
                    <a:pos x="2" y="3"/>
                  </a:cxn>
                  <a:cxn ang="0">
                    <a:pos x="1" y="5"/>
                  </a:cxn>
                  <a:cxn ang="0">
                    <a:pos x="1" y="5"/>
                  </a:cxn>
                  <a:cxn ang="0">
                    <a:pos x="0" y="8"/>
                  </a:cxn>
                  <a:cxn ang="0">
                    <a:pos x="0" y="12"/>
                  </a:cxn>
                  <a:cxn ang="0">
                    <a:pos x="0" y="13"/>
                  </a:cxn>
                  <a:cxn ang="0">
                    <a:pos x="10" y="13"/>
                  </a:cxn>
                  <a:cxn ang="0">
                    <a:pos x="12" y="14"/>
                  </a:cxn>
                  <a:cxn ang="0">
                    <a:pos x="31" y="19"/>
                  </a:cxn>
                  <a:cxn ang="0">
                    <a:pos x="37" y="21"/>
                  </a:cxn>
                  <a:cxn ang="0">
                    <a:pos x="38" y="22"/>
                  </a:cxn>
                  <a:cxn ang="0">
                    <a:pos x="39" y="23"/>
                  </a:cxn>
                  <a:cxn ang="0">
                    <a:pos x="32" y="23"/>
                  </a:cxn>
                  <a:cxn ang="0">
                    <a:pos x="29" y="23"/>
                  </a:cxn>
                  <a:cxn ang="0">
                    <a:pos x="22" y="22"/>
                  </a:cxn>
                  <a:cxn ang="0">
                    <a:pos x="16" y="21"/>
                  </a:cxn>
                  <a:cxn ang="0">
                    <a:pos x="10" y="17"/>
                  </a:cxn>
                  <a:cxn ang="0">
                    <a:pos x="8" y="14"/>
                  </a:cxn>
                  <a:cxn ang="0">
                    <a:pos x="7" y="11"/>
                  </a:cxn>
                  <a:cxn ang="0">
                    <a:pos x="7" y="11"/>
                  </a:cxn>
                  <a:cxn ang="0">
                    <a:pos x="10" y="13"/>
                  </a:cxn>
                </a:cxnLst>
                <a:rect l="0" t="0" r="r" b="b"/>
                <a:pathLst>
                  <a:path w="49" h="30">
                    <a:moveTo>
                      <a:pt x="0" y="13"/>
                    </a:moveTo>
                    <a:cubicBezTo>
                      <a:pt x="2" y="17"/>
                      <a:pt x="2" y="17"/>
                      <a:pt x="2" y="17"/>
                    </a:cubicBezTo>
                    <a:cubicBezTo>
                      <a:pt x="5" y="21"/>
                      <a:pt x="5" y="21"/>
                      <a:pt x="5" y="21"/>
                    </a:cubicBezTo>
                    <a:cubicBezTo>
                      <a:pt x="6" y="22"/>
                      <a:pt x="6" y="22"/>
                      <a:pt x="6" y="22"/>
                    </a:cubicBezTo>
                    <a:cubicBezTo>
                      <a:pt x="11" y="25"/>
                      <a:pt x="11" y="25"/>
                      <a:pt x="11" y="25"/>
                    </a:cubicBezTo>
                    <a:cubicBezTo>
                      <a:pt x="14" y="27"/>
                      <a:pt x="14" y="27"/>
                      <a:pt x="14" y="27"/>
                    </a:cubicBezTo>
                    <a:cubicBezTo>
                      <a:pt x="21" y="28"/>
                      <a:pt x="21" y="28"/>
                      <a:pt x="21" y="28"/>
                    </a:cubicBezTo>
                    <a:cubicBezTo>
                      <a:pt x="28" y="30"/>
                      <a:pt x="28" y="30"/>
                      <a:pt x="28" y="30"/>
                    </a:cubicBezTo>
                    <a:cubicBezTo>
                      <a:pt x="37" y="30"/>
                      <a:pt x="37" y="30"/>
                      <a:pt x="37" y="30"/>
                    </a:cubicBezTo>
                    <a:cubicBezTo>
                      <a:pt x="37" y="30"/>
                      <a:pt x="38" y="30"/>
                      <a:pt x="38" y="30"/>
                    </a:cubicBezTo>
                    <a:cubicBezTo>
                      <a:pt x="42" y="30"/>
                      <a:pt x="42" y="30"/>
                      <a:pt x="42" y="30"/>
                    </a:cubicBezTo>
                    <a:cubicBezTo>
                      <a:pt x="46" y="29"/>
                      <a:pt x="46" y="29"/>
                      <a:pt x="46" y="29"/>
                    </a:cubicBezTo>
                    <a:cubicBezTo>
                      <a:pt x="47" y="29"/>
                      <a:pt x="47" y="28"/>
                      <a:pt x="48" y="27"/>
                    </a:cubicBezTo>
                    <a:cubicBezTo>
                      <a:pt x="48" y="27"/>
                      <a:pt x="49" y="26"/>
                      <a:pt x="48" y="25"/>
                    </a:cubicBezTo>
                    <a:cubicBezTo>
                      <a:pt x="46" y="20"/>
                      <a:pt x="46" y="20"/>
                      <a:pt x="46" y="20"/>
                    </a:cubicBezTo>
                    <a:cubicBezTo>
                      <a:pt x="46" y="20"/>
                      <a:pt x="46" y="20"/>
                      <a:pt x="45" y="20"/>
                    </a:cubicBezTo>
                    <a:cubicBezTo>
                      <a:pt x="43" y="18"/>
                      <a:pt x="43" y="18"/>
                      <a:pt x="43" y="18"/>
                    </a:cubicBezTo>
                    <a:cubicBezTo>
                      <a:pt x="43" y="18"/>
                      <a:pt x="43" y="18"/>
                      <a:pt x="43" y="17"/>
                    </a:cubicBezTo>
                    <a:cubicBezTo>
                      <a:pt x="40" y="16"/>
                      <a:pt x="40" y="16"/>
                      <a:pt x="40" y="16"/>
                    </a:cubicBezTo>
                    <a:cubicBezTo>
                      <a:pt x="33" y="13"/>
                      <a:pt x="33" y="13"/>
                      <a:pt x="33" y="13"/>
                    </a:cubicBezTo>
                    <a:cubicBezTo>
                      <a:pt x="20" y="10"/>
                      <a:pt x="20" y="10"/>
                      <a:pt x="20" y="10"/>
                    </a:cubicBezTo>
                    <a:cubicBezTo>
                      <a:pt x="15" y="8"/>
                      <a:pt x="15" y="8"/>
                      <a:pt x="15" y="8"/>
                    </a:cubicBezTo>
                    <a:cubicBezTo>
                      <a:pt x="11" y="6"/>
                      <a:pt x="11" y="6"/>
                      <a:pt x="11" y="6"/>
                    </a:cubicBezTo>
                    <a:cubicBezTo>
                      <a:pt x="9" y="3"/>
                      <a:pt x="9" y="3"/>
                      <a:pt x="9" y="3"/>
                    </a:cubicBezTo>
                    <a:cubicBezTo>
                      <a:pt x="8" y="2"/>
                      <a:pt x="8" y="2"/>
                      <a:pt x="7" y="1"/>
                    </a:cubicBezTo>
                    <a:cubicBezTo>
                      <a:pt x="7" y="1"/>
                      <a:pt x="7" y="1"/>
                      <a:pt x="7" y="1"/>
                    </a:cubicBezTo>
                    <a:cubicBezTo>
                      <a:pt x="6" y="0"/>
                      <a:pt x="5" y="1"/>
                      <a:pt x="4" y="1"/>
                    </a:cubicBezTo>
                    <a:cubicBezTo>
                      <a:pt x="3" y="1"/>
                      <a:pt x="3" y="1"/>
                      <a:pt x="3" y="1"/>
                    </a:cubicBezTo>
                    <a:cubicBezTo>
                      <a:pt x="3" y="2"/>
                      <a:pt x="2" y="2"/>
                      <a:pt x="2" y="3"/>
                    </a:cubicBezTo>
                    <a:cubicBezTo>
                      <a:pt x="1" y="5"/>
                      <a:pt x="1" y="5"/>
                      <a:pt x="1" y="5"/>
                    </a:cubicBezTo>
                    <a:cubicBezTo>
                      <a:pt x="1" y="5"/>
                      <a:pt x="1" y="5"/>
                      <a:pt x="1" y="5"/>
                    </a:cubicBezTo>
                    <a:cubicBezTo>
                      <a:pt x="0" y="8"/>
                      <a:pt x="0" y="8"/>
                      <a:pt x="0" y="8"/>
                    </a:cubicBezTo>
                    <a:cubicBezTo>
                      <a:pt x="0" y="12"/>
                      <a:pt x="0" y="12"/>
                      <a:pt x="0" y="12"/>
                    </a:cubicBezTo>
                    <a:cubicBezTo>
                      <a:pt x="0" y="12"/>
                      <a:pt x="0" y="12"/>
                      <a:pt x="0" y="13"/>
                    </a:cubicBezTo>
                    <a:close/>
                    <a:moveTo>
                      <a:pt x="10" y="13"/>
                    </a:moveTo>
                    <a:cubicBezTo>
                      <a:pt x="12" y="14"/>
                      <a:pt x="12" y="14"/>
                      <a:pt x="12" y="14"/>
                    </a:cubicBezTo>
                    <a:cubicBezTo>
                      <a:pt x="31" y="19"/>
                      <a:pt x="31" y="19"/>
                      <a:pt x="31" y="19"/>
                    </a:cubicBezTo>
                    <a:cubicBezTo>
                      <a:pt x="37" y="21"/>
                      <a:pt x="37" y="21"/>
                      <a:pt x="37" y="21"/>
                    </a:cubicBezTo>
                    <a:cubicBezTo>
                      <a:pt x="38" y="22"/>
                      <a:pt x="38" y="22"/>
                      <a:pt x="38" y="22"/>
                    </a:cubicBezTo>
                    <a:cubicBezTo>
                      <a:pt x="39" y="23"/>
                      <a:pt x="39" y="23"/>
                      <a:pt x="39" y="23"/>
                    </a:cubicBezTo>
                    <a:cubicBezTo>
                      <a:pt x="32" y="23"/>
                      <a:pt x="32" y="23"/>
                      <a:pt x="32" y="23"/>
                    </a:cubicBezTo>
                    <a:cubicBezTo>
                      <a:pt x="29" y="23"/>
                      <a:pt x="29" y="23"/>
                      <a:pt x="29" y="23"/>
                    </a:cubicBezTo>
                    <a:cubicBezTo>
                      <a:pt x="22" y="22"/>
                      <a:pt x="22" y="22"/>
                      <a:pt x="22" y="22"/>
                    </a:cubicBezTo>
                    <a:cubicBezTo>
                      <a:pt x="16" y="21"/>
                      <a:pt x="16" y="21"/>
                      <a:pt x="16" y="21"/>
                    </a:cubicBezTo>
                    <a:cubicBezTo>
                      <a:pt x="10" y="17"/>
                      <a:pt x="10" y="17"/>
                      <a:pt x="10" y="17"/>
                    </a:cubicBezTo>
                    <a:cubicBezTo>
                      <a:pt x="8" y="14"/>
                      <a:pt x="8" y="14"/>
                      <a:pt x="8" y="14"/>
                    </a:cubicBezTo>
                    <a:cubicBezTo>
                      <a:pt x="7" y="11"/>
                      <a:pt x="7" y="11"/>
                      <a:pt x="7" y="11"/>
                    </a:cubicBezTo>
                    <a:cubicBezTo>
                      <a:pt x="7" y="11"/>
                      <a:pt x="7" y="11"/>
                      <a:pt x="7" y="11"/>
                    </a:cubicBezTo>
                    <a:lnTo>
                      <a:pt x="10" y="13"/>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sp>
            <p:nvSpPr>
              <p:cNvPr id="63" name="Freeform 40"/>
              <p:cNvSpPr>
                <a:spLocks noEditPoints="1"/>
              </p:cNvSpPr>
              <p:nvPr/>
            </p:nvSpPr>
            <p:spPr bwMode="auto">
              <a:xfrm>
                <a:off x="506412" y="5791200"/>
                <a:ext cx="79375" cy="42863"/>
              </a:xfrm>
              <a:custGeom>
                <a:avLst/>
                <a:gdLst/>
                <a:ahLst/>
                <a:cxnLst>
                  <a:cxn ang="0">
                    <a:pos x="28" y="0"/>
                  </a:cxn>
                  <a:cxn ang="0">
                    <a:pos x="4" y="0"/>
                  </a:cxn>
                  <a:cxn ang="0">
                    <a:pos x="0" y="3"/>
                  </a:cxn>
                  <a:cxn ang="0">
                    <a:pos x="0" y="14"/>
                  </a:cxn>
                  <a:cxn ang="0">
                    <a:pos x="4" y="17"/>
                  </a:cxn>
                  <a:cxn ang="0">
                    <a:pos x="28" y="17"/>
                  </a:cxn>
                  <a:cxn ang="0">
                    <a:pos x="32" y="14"/>
                  </a:cxn>
                  <a:cxn ang="0">
                    <a:pos x="32" y="3"/>
                  </a:cxn>
                  <a:cxn ang="0">
                    <a:pos x="28" y="0"/>
                  </a:cxn>
                  <a:cxn ang="0">
                    <a:pos x="25" y="11"/>
                  </a:cxn>
                  <a:cxn ang="0">
                    <a:pos x="7" y="11"/>
                  </a:cxn>
                  <a:cxn ang="0">
                    <a:pos x="7" y="6"/>
                  </a:cxn>
                  <a:cxn ang="0">
                    <a:pos x="25" y="6"/>
                  </a:cxn>
                  <a:cxn ang="0">
                    <a:pos x="25" y="11"/>
                  </a:cxn>
                </a:cxnLst>
                <a:rect l="0" t="0" r="r" b="b"/>
                <a:pathLst>
                  <a:path w="32" h="17">
                    <a:moveTo>
                      <a:pt x="28" y="0"/>
                    </a:moveTo>
                    <a:cubicBezTo>
                      <a:pt x="4" y="0"/>
                      <a:pt x="4" y="0"/>
                      <a:pt x="4" y="0"/>
                    </a:cubicBezTo>
                    <a:cubicBezTo>
                      <a:pt x="2" y="0"/>
                      <a:pt x="0" y="1"/>
                      <a:pt x="0" y="3"/>
                    </a:cubicBezTo>
                    <a:cubicBezTo>
                      <a:pt x="0" y="14"/>
                      <a:pt x="0" y="14"/>
                      <a:pt x="0" y="14"/>
                    </a:cubicBezTo>
                    <a:cubicBezTo>
                      <a:pt x="0" y="16"/>
                      <a:pt x="2" y="17"/>
                      <a:pt x="4" y="17"/>
                    </a:cubicBezTo>
                    <a:cubicBezTo>
                      <a:pt x="28" y="17"/>
                      <a:pt x="28" y="17"/>
                      <a:pt x="28" y="17"/>
                    </a:cubicBezTo>
                    <a:cubicBezTo>
                      <a:pt x="30" y="17"/>
                      <a:pt x="32" y="16"/>
                      <a:pt x="32" y="14"/>
                    </a:cubicBezTo>
                    <a:cubicBezTo>
                      <a:pt x="32" y="3"/>
                      <a:pt x="32" y="3"/>
                      <a:pt x="32" y="3"/>
                    </a:cubicBezTo>
                    <a:cubicBezTo>
                      <a:pt x="32" y="1"/>
                      <a:pt x="30" y="0"/>
                      <a:pt x="28" y="0"/>
                    </a:cubicBezTo>
                    <a:close/>
                    <a:moveTo>
                      <a:pt x="25" y="11"/>
                    </a:moveTo>
                    <a:cubicBezTo>
                      <a:pt x="7" y="11"/>
                      <a:pt x="7" y="11"/>
                      <a:pt x="7" y="11"/>
                    </a:cubicBezTo>
                    <a:cubicBezTo>
                      <a:pt x="7" y="6"/>
                      <a:pt x="7" y="6"/>
                      <a:pt x="7" y="6"/>
                    </a:cubicBezTo>
                    <a:cubicBezTo>
                      <a:pt x="25" y="6"/>
                      <a:pt x="25" y="6"/>
                      <a:pt x="25" y="6"/>
                    </a:cubicBezTo>
                    <a:lnTo>
                      <a:pt x="25" y="11"/>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sp>
            <p:nvSpPr>
              <p:cNvPr id="64" name="Freeform 41"/>
              <p:cNvSpPr>
                <a:spLocks noEditPoints="1"/>
              </p:cNvSpPr>
              <p:nvPr/>
            </p:nvSpPr>
            <p:spPr bwMode="auto">
              <a:xfrm>
                <a:off x="331787" y="5791200"/>
                <a:ext cx="80963" cy="42863"/>
              </a:xfrm>
              <a:custGeom>
                <a:avLst/>
                <a:gdLst/>
                <a:ahLst/>
                <a:cxnLst>
                  <a:cxn ang="0">
                    <a:pos x="28" y="0"/>
                  </a:cxn>
                  <a:cxn ang="0">
                    <a:pos x="3" y="0"/>
                  </a:cxn>
                  <a:cxn ang="0">
                    <a:pos x="0" y="3"/>
                  </a:cxn>
                  <a:cxn ang="0">
                    <a:pos x="0" y="14"/>
                  </a:cxn>
                  <a:cxn ang="0">
                    <a:pos x="3" y="17"/>
                  </a:cxn>
                  <a:cxn ang="0">
                    <a:pos x="28" y="17"/>
                  </a:cxn>
                  <a:cxn ang="0">
                    <a:pos x="32" y="14"/>
                  </a:cxn>
                  <a:cxn ang="0">
                    <a:pos x="32" y="3"/>
                  </a:cxn>
                  <a:cxn ang="0">
                    <a:pos x="28" y="0"/>
                  </a:cxn>
                  <a:cxn ang="0">
                    <a:pos x="25" y="11"/>
                  </a:cxn>
                  <a:cxn ang="0">
                    <a:pos x="7" y="11"/>
                  </a:cxn>
                  <a:cxn ang="0">
                    <a:pos x="7" y="6"/>
                  </a:cxn>
                  <a:cxn ang="0">
                    <a:pos x="25" y="6"/>
                  </a:cxn>
                  <a:cxn ang="0">
                    <a:pos x="25" y="11"/>
                  </a:cxn>
                </a:cxnLst>
                <a:rect l="0" t="0" r="r" b="b"/>
                <a:pathLst>
                  <a:path w="32" h="17">
                    <a:moveTo>
                      <a:pt x="28" y="0"/>
                    </a:moveTo>
                    <a:cubicBezTo>
                      <a:pt x="3" y="0"/>
                      <a:pt x="3" y="0"/>
                      <a:pt x="3" y="0"/>
                    </a:cubicBezTo>
                    <a:cubicBezTo>
                      <a:pt x="2" y="0"/>
                      <a:pt x="0" y="1"/>
                      <a:pt x="0" y="3"/>
                    </a:cubicBezTo>
                    <a:cubicBezTo>
                      <a:pt x="0" y="14"/>
                      <a:pt x="0" y="14"/>
                      <a:pt x="0" y="14"/>
                    </a:cubicBezTo>
                    <a:cubicBezTo>
                      <a:pt x="0" y="16"/>
                      <a:pt x="2" y="17"/>
                      <a:pt x="3" y="17"/>
                    </a:cubicBezTo>
                    <a:cubicBezTo>
                      <a:pt x="28" y="17"/>
                      <a:pt x="28" y="17"/>
                      <a:pt x="28" y="17"/>
                    </a:cubicBezTo>
                    <a:cubicBezTo>
                      <a:pt x="30" y="17"/>
                      <a:pt x="32" y="16"/>
                      <a:pt x="32" y="14"/>
                    </a:cubicBezTo>
                    <a:cubicBezTo>
                      <a:pt x="32" y="3"/>
                      <a:pt x="32" y="3"/>
                      <a:pt x="32" y="3"/>
                    </a:cubicBezTo>
                    <a:cubicBezTo>
                      <a:pt x="32" y="1"/>
                      <a:pt x="30" y="0"/>
                      <a:pt x="28" y="0"/>
                    </a:cubicBezTo>
                    <a:close/>
                    <a:moveTo>
                      <a:pt x="25" y="11"/>
                    </a:moveTo>
                    <a:cubicBezTo>
                      <a:pt x="7" y="11"/>
                      <a:pt x="7" y="11"/>
                      <a:pt x="7" y="11"/>
                    </a:cubicBezTo>
                    <a:cubicBezTo>
                      <a:pt x="7" y="6"/>
                      <a:pt x="7" y="6"/>
                      <a:pt x="7" y="6"/>
                    </a:cubicBezTo>
                    <a:cubicBezTo>
                      <a:pt x="25" y="6"/>
                      <a:pt x="25" y="6"/>
                      <a:pt x="25" y="6"/>
                    </a:cubicBezTo>
                    <a:lnTo>
                      <a:pt x="25" y="11"/>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sp>
            <p:nvSpPr>
              <p:cNvPr id="65" name="Freeform 42"/>
              <p:cNvSpPr>
                <a:spLocks noEditPoints="1"/>
              </p:cNvSpPr>
              <p:nvPr/>
            </p:nvSpPr>
            <p:spPr bwMode="auto">
              <a:xfrm>
                <a:off x="195262" y="5594350"/>
                <a:ext cx="444500" cy="358775"/>
              </a:xfrm>
              <a:custGeom>
                <a:avLst/>
                <a:gdLst/>
                <a:ahLst/>
                <a:cxnLst>
                  <a:cxn ang="0">
                    <a:pos x="162" y="126"/>
                  </a:cxn>
                  <a:cxn ang="0">
                    <a:pos x="160" y="44"/>
                  </a:cxn>
                  <a:cxn ang="0">
                    <a:pos x="145" y="56"/>
                  </a:cxn>
                  <a:cxn ang="0">
                    <a:pos x="139" y="26"/>
                  </a:cxn>
                  <a:cxn ang="0">
                    <a:pos x="123" y="29"/>
                  </a:cxn>
                  <a:cxn ang="0">
                    <a:pos x="116" y="62"/>
                  </a:cxn>
                  <a:cxn ang="0">
                    <a:pos x="114" y="44"/>
                  </a:cxn>
                  <a:cxn ang="0">
                    <a:pos x="95" y="61"/>
                  </a:cxn>
                  <a:cxn ang="0">
                    <a:pos x="88" y="0"/>
                  </a:cxn>
                  <a:cxn ang="0">
                    <a:pos x="71" y="3"/>
                  </a:cxn>
                  <a:cxn ang="0">
                    <a:pos x="65" y="45"/>
                  </a:cxn>
                  <a:cxn ang="0">
                    <a:pos x="48" y="47"/>
                  </a:cxn>
                  <a:cxn ang="0">
                    <a:pos x="42" y="45"/>
                  </a:cxn>
                  <a:cxn ang="0">
                    <a:pos x="13" y="74"/>
                  </a:cxn>
                  <a:cxn ang="0">
                    <a:pos x="3" y="126"/>
                  </a:cxn>
                  <a:cxn ang="0">
                    <a:pos x="0" y="139"/>
                  </a:cxn>
                  <a:cxn ang="0">
                    <a:pos x="173" y="142"/>
                  </a:cxn>
                  <a:cxn ang="0">
                    <a:pos x="176" y="129"/>
                  </a:cxn>
                  <a:cxn ang="0">
                    <a:pos x="169" y="136"/>
                  </a:cxn>
                  <a:cxn ang="0">
                    <a:pos x="6" y="132"/>
                  </a:cxn>
                  <a:cxn ang="0">
                    <a:pos x="20" y="129"/>
                  </a:cxn>
                  <a:cxn ang="0">
                    <a:pos x="23" y="95"/>
                  </a:cxn>
                  <a:cxn ang="0">
                    <a:pos x="51" y="92"/>
                  </a:cxn>
                  <a:cxn ang="0">
                    <a:pos x="48" y="78"/>
                  </a:cxn>
                  <a:cxn ang="0">
                    <a:pos x="20" y="81"/>
                  </a:cxn>
                  <a:cxn ang="0">
                    <a:pos x="41" y="55"/>
                  </a:cxn>
                  <a:cxn ang="0">
                    <a:pos x="43" y="74"/>
                  </a:cxn>
                  <a:cxn ang="0">
                    <a:pos x="64" y="55"/>
                  </a:cxn>
                  <a:cxn ang="0">
                    <a:pos x="66" y="74"/>
                  </a:cxn>
                  <a:cxn ang="0">
                    <a:pos x="73" y="69"/>
                  </a:cxn>
                  <a:cxn ang="0">
                    <a:pos x="78" y="6"/>
                  </a:cxn>
                  <a:cxn ang="0">
                    <a:pos x="89" y="69"/>
                  </a:cxn>
                  <a:cxn ang="0">
                    <a:pos x="94" y="71"/>
                  </a:cxn>
                  <a:cxn ang="0">
                    <a:pos x="110" y="71"/>
                  </a:cxn>
                  <a:cxn ang="0">
                    <a:pos x="115" y="73"/>
                  </a:cxn>
                  <a:cxn ang="0">
                    <a:pos x="126" y="60"/>
                  </a:cxn>
                  <a:cxn ang="0">
                    <a:pos x="136" y="32"/>
                  </a:cxn>
                  <a:cxn ang="0">
                    <a:pos x="142" y="66"/>
                  </a:cxn>
                  <a:cxn ang="0">
                    <a:pos x="155" y="55"/>
                  </a:cxn>
                  <a:cxn ang="0">
                    <a:pos x="158" y="132"/>
                  </a:cxn>
                  <a:cxn ang="0">
                    <a:pos x="169" y="136"/>
                  </a:cxn>
                  <a:cxn ang="0">
                    <a:pos x="26" y="84"/>
                  </a:cxn>
                  <a:cxn ang="0">
                    <a:pos x="44" y="89"/>
                  </a:cxn>
                </a:cxnLst>
                <a:rect l="0" t="0" r="r" b="b"/>
                <a:pathLst>
                  <a:path w="176" h="142">
                    <a:moveTo>
                      <a:pt x="173" y="126"/>
                    </a:moveTo>
                    <a:cubicBezTo>
                      <a:pt x="162" y="126"/>
                      <a:pt x="162" y="126"/>
                      <a:pt x="162" y="126"/>
                    </a:cubicBezTo>
                    <a:cubicBezTo>
                      <a:pt x="162" y="47"/>
                      <a:pt x="162" y="47"/>
                      <a:pt x="162" y="47"/>
                    </a:cubicBezTo>
                    <a:cubicBezTo>
                      <a:pt x="162" y="46"/>
                      <a:pt x="161" y="45"/>
                      <a:pt x="160" y="44"/>
                    </a:cubicBezTo>
                    <a:cubicBezTo>
                      <a:pt x="158" y="44"/>
                      <a:pt x="157" y="44"/>
                      <a:pt x="156" y="45"/>
                    </a:cubicBezTo>
                    <a:cubicBezTo>
                      <a:pt x="145" y="56"/>
                      <a:pt x="145" y="56"/>
                      <a:pt x="145" y="56"/>
                    </a:cubicBezTo>
                    <a:cubicBezTo>
                      <a:pt x="143" y="29"/>
                      <a:pt x="143" y="29"/>
                      <a:pt x="143" y="29"/>
                    </a:cubicBezTo>
                    <a:cubicBezTo>
                      <a:pt x="142" y="27"/>
                      <a:pt x="141" y="26"/>
                      <a:pt x="139" y="26"/>
                    </a:cubicBezTo>
                    <a:cubicBezTo>
                      <a:pt x="126" y="26"/>
                      <a:pt x="126" y="26"/>
                      <a:pt x="126" y="26"/>
                    </a:cubicBezTo>
                    <a:cubicBezTo>
                      <a:pt x="125" y="26"/>
                      <a:pt x="123" y="27"/>
                      <a:pt x="123" y="29"/>
                    </a:cubicBezTo>
                    <a:cubicBezTo>
                      <a:pt x="120" y="58"/>
                      <a:pt x="120" y="58"/>
                      <a:pt x="120" y="58"/>
                    </a:cubicBezTo>
                    <a:cubicBezTo>
                      <a:pt x="116" y="62"/>
                      <a:pt x="116" y="62"/>
                      <a:pt x="116" y="62"/>
                    </a:cubicBezTo>
                    <a:cubicBezTo>
                      <a:pt x="116" y="47"/>
                      <a:pt x="116" y="47"/>
                      <a:pt x="116" y="47"/>
                    </a:cubicBezTo>
                    <a:cubicBezTo>
                      <a:pt x="116" y="46"/>
                      <a:pt x="115" y="45"/>
                      <a:pt x="114" y="44"/>
                    </a:cubicBezTo>
                    <a:cubicBezTo>
                      <a:pt x="113" y="44"/>
                      <a:pt x="111" y="44"/>
                      <a:pt x="110" y="45"/>
                    </a:cubicBezTo>
                    <a:cubicBezTo>
                      <a:pt x="95" y="61"/>
                      <a:pt x="95" y="61"/>
                      <a:pt x="95" y="61"/>
                    </a:cubicBezTo>
                    <a:cubicBezTo>
                      <a:pt x="91" y="3"/>
                      <a:pt x="91" y="3"/>
                      <a:pt x="91" y="3"/>
                    </a:cubicBezTo>
                    <a:cubicBezTo>
                      <a:pt x="91" y="1"/>
                      <a:pt x="89" y="0"/>
                      <a:pt x="88" y="0"/>
                    </a:cubicBezTo>
                    <a:cubicBezTo>
                      <a:pt x="75" y="0"/>
                      <a:pt x="75" y="0"/>
                      <a:pt x="75" y="0"/>
                    </a:cubicBezTo>
                    <a:cubicBezTo>
                      <a:pt x="73" y="0"/>
                      <a:pt x="71" y="1"/>
                      <a:pt x="71" y="3"/>
                    </a:cubicBezTo>
                    <a:cubicBezTo>
                      <a:pt x="68" y="44"/>
                      <a:pt x="68" y="44"/>
                      <a:pt x="68" y="44"/>
                    </a:cubicBezTo>
                    <a:cubicBezTo>
                      <a:pt x="67" y="44"/>
                      <a:pt x="66" y="44"/>
                      <a:pt x="65" y="45"/>
                    </a:cubicBezTo>
                    <a:cubicBezTo>
                      <a:pt x="48" y="63"/>
                      <a:pt x="48" y="63"/>
                      <a:pt x="48" y="63"/>
                    </a:cubicBezTo>
                    <a:cubicBezTo>
                      <a:pt x="48" y="47"/>
                      <a:pt x="48" y="47"/>
                      <a:pt x="48" y="47"/>
                    </a:cubicBezTo>
                    <a:cubicBezTo>
                      <a:pt x="48" y="46"/>
                      <a:pt x="47" y="45"/>
                      <a:pt x="46" y="44"/>
                    </a:cubicBezTo>
                    <a:cubicBezTo>
                      <a:pt x="44" y="44"/>
                      <a:pt x="43" y="44"/>
                      <a:pt x="42" y="45"/>
                    </a:cubicBezTo>
                    <a:cubicBezTo>
                      <a:pt x="14" y="72"/>
                      <a:pt x="14" y="72"/>
                      <a:pt x="14" y="72"/>
                    </a:cubicBezTo>
                    <a:cubicBezTo>
                      <a:pt x="14" y="73"/>
                      <a:pt x="13" y="74"/>
                      <a:pt x="13" y="74"/>
                    </a:cubicBezTo>
                    <a:cubicBezTo>
                      <a:pt x="13" y="126"/>
                      <a:pt x="13" y="126"/>
                      <a:pt x="13" y="126"/>
                    </a:cubicBezTo>
                    <a:cubicBezTo>
                      <a:pt x="3" y="126"/>
                      <a:pt x="3" y="126"/>
                      <a:pt x="3" y="126"/>
                    </a:cubicBezTo>
                    <a:cubicBezTo>
                      <a:pt x="1" y="126"/>
                      <a:pt x="0" y="127"/>
                      <a:pt x="0" y="129"/>
                    </a:cubicBezTo>
                    <a:cubicBezTo>
                      <a:pt x="0" y="139"/>
                      <a:pt x="0" y="139"/>
                      <a:pt x="0" y="139"/>
                    </a:cubicBezTo>
                    <a:cubicBezTo>
                      <a:pt x="0" y="141"/>
                      <a:pt x="1" y="142"/>
                      <a:pt x="3" y="142"/>
                    </a:cubicBezTo>
                    <a:cubicBezTo>
                      <a:pt x="173" y="142"/>
                      <a:pt x="173" y="142"/>
                      <a:pt x="173" y="142"/>
                    </a:cubicBezTo>
                    <a:cubicBezTo>
                      <a:pt x="174" y="142"/>
                      <a:pt x="176" y="141"/>
                      <a:pt x="176" y="139"/>
                    </a:cubicBezTo>
                    <a:cubicBezTo>
                      <a:pt x="176" y="129"/>
                      <a:pt x="176" y="129"/>
                      <a:pt x="176" y="129"/>
                    </a:cubicBezTo>
                    <a:cubicBezTo>
                      <a:pt x="176" y="127"/>
                      <a:pt x="174" y="126"/>
                      <a:pt x="173" y="126"/>
                    </a:cubicBezTo>
                    <a:close/>
                    <a:moveTo>
                      <a:pt x="169" y="136"/>
                    </a:moveTo>
                    <a:cubicBezTo>
                      <a:pt x="6" y="136"/>
                      <a:pt x="6" y="136"/>
                      <a:pt x="6" y="136"/>
                    </a:cubicBezTo>
                    <a:cubicBezTo>
                      <a:pt x="6" y="132"/>
                      <a:pt x="6" y="132"/>
                      <a:pt x="6" y="132"/>
                    </a:cubicBezTo>
                    <a:cubicBezTo>
                      <a:pt x="17" y="132"/>
                      <a:pt x="17" y="132"/>
                      <a:pt x="17" y="132"/>
                    </a:cubicBezTo>
                    <a:cubicBezTo>
                      <a:pt x="18" y="132"/>
                      <a:pt x="20" y="131"/>
                      <a:pt x="20" y="129"/>
                    </a:cubicBezTo>
                    <a:cubicBezTo>
                      <a:pt x="20" y="93"/>
                      <a:pt x="20" y="93"/>
                      <a:pt x="20" y="93"/>
                    </a:cubicBezTo>
                    <a:cubicBezTo>
                      <a:pt x="20" y="94"/>
                      <a:pt x="22" y="95"/>
                      <a:pt x="23" y="95"/>
                    </a:cubicBezTo>
                    <a:cubicBezTo>
                      <a:pt x="48" y="95"/>
                      <a:pt x="48" y="95"/>
                      <a:pt x="48" y="95"/>
                    </a:cubicBezTo>
                    <a:cubicBezTo>
                      <a:pt x="49" y="95"/>
                      <a:pt x="51" y="94"/>
                      <a:pt x="51" y="92"/>
                    </a:cubicBezTo>
                    <a:cubicBezTo>
                      <a:pt x="51" y="81"/>
                      <a:pt x="51" y="81"/>
                      <a:pt x="51" y="81"/>
                    </a:cubicBezTo>
                    <a:cubicBezTo>
                      <a:pt x="51" y="79"/>
                      <a:pt x="49" y="78"/>
                      <a:pt x="48" y="78"/>
                    </a:cubicBezTo>
                    <a:cubicBezTo>
                      <a:pt x="23" y="78"/>
                      <a:pt x="23" y="78"/>
                      <a:pt x="23" y="78"/>
                    </a:cubicBezTo>
                    <a:cubicBezTo>
                      <a:pt x="22" y="78"/>
                      <a:pt x="20" y="79"/>
                      <a:pt x="20" y="81"/>
                    </a:cubicBezTo>
                    <a:cubicBezTo>
                      <a:pt x="20" y="76"/>
                      <a:pt x="20" y="76"/>
                      <a:pt x="20" y="76"/>
                    </a:cubicBezTo>
                    <a:cubicBezTo>
                      <a:pt x="41" y="55"/>
                      <a:pt x="41" y="55"/>
                      <a:pt x="41" y="55"/>
                    </a:cubicBezTo>
                    <a:cubicBezTo>
                      <a:pt x="41" y="71"/>
                      <a:pt x="41" y="71"/>
                      <a:pt x="41" y="71"/>
                    </a:cubicBezTo>
                    <a:cubicBezTo>
                      <a:pt x="41" y="72"/>
                      <a:pt x="42" y="73"/>
                      <a:pt x="43" y="74"/>
                    </a:cubicBezTo>
                    <a:cubicBezTo>
                      <a:pt x="44" y="74"/>
                      <a:pt x="46" y="74"/>
                      <a:pt x="47" y="73"/>
                    </a:cubicBezTo>
                    <a:cubicBezTo>
                      <a:pt x="64" y="55"/>
                      <a:pt x="64" y="55"/>
                      <a:pt x="64" y="55"/>
                    </a:cubicBezTo>
                    <a:cubicBezTo>
                      <a:pt x="64" y="71"/>
                      <a:pt x="64" y="71"/>
                      <a:pt x="64" y="71"/>
                    </a:cubicBezTo>
                    <a:cubicBezTo>
                      <a:pt x="64" y="72"/>
                      <a:pt x="65" y="73"/>
                      <a:pt x="66" y="74"/>
                    </a:cubicBezTo>
                    <a:cubicBezTo>
                      <a:pt x="67" y="74"/>
                      <a:pt x="69" y="74"/>
                      <a:pt x="70" y="73"/>
                    </a:cubicBezTo>
                    <a:cubicBezTo>
                      <a:pt x="73" y="69"/>
                      <a:pt x="73" y="69"/>
                      <a:pt x="73" y="69"/>
                    </a:cubicBezTo>
                    <a:cubicBezTo>
                      <a:pt x="73" y="69"/>
                      <a:pt x="73" y="68"/>
                      <a:pt x="73" y="68"/>
                    </a:cubicBezTo>
                    <a:cubicBezTo>
                      <a:pt x="78" y="6"/>
                      <a:pt x="78" y="6"/>
                      <a:pt x="78" y="6"/>
                    </a:cubicBezTo>
                    <a:cubicBezTo>
                      <a:pt x="85" y="6"/>
                      <a:pt x="85" y="6"/>
                      <a:pt x="85" y="6"/>
                    </a:cubicBezTo>
                    <a:cubicBezTo>
                      <a:pt x="89" y="69"/>
                      <a:pt x="89" y="69"/>
                      <a:pt x="89" y="69"/>
                    </a:cubicBezTo>
                    <a:cubicBezTo>
                      <a:pt x="89" y="70"/>
                      <a:pt x="90" y="71"/>
                      <a:pt x="91" y="72"/>
                    </a:cubicBezTo>
                    <a:cubicBezTo>
                      <a:pt x="92" y="72"/>
                      <a:pt x="93" y="72"/>
                      <a:pt x="94" y="71"/>
                    </a:cubicBezTo>
                    <a:cubicBezTo>
                      <a:pt x="110" y="55"/>
                      <a:pt x="110" y="55"/>
                      <a:pt x="110" y="55"/>
                    </a:cubicBezTo>
                    <a:cubicBezTo>
                      <a:pt x="110" y="71"/>
                      <a:pt x="110" y="71"/>
                      <a:pt x="110" y="71"/>
                    </a:cubicBezTo>
                    <a:cubicBezTo>
                      <a:pt x="110" y="72"/>
                      <a:pt x="110" y="73"/>
                      <a:pt x="112" y="74"/>
                    </a:cubicBezTo>
                    <a:cubicBezTo>
                      <a:pt x="113" y="74"/>
                      <a:pt x="114" y="74"/>
                      <a:pt x="115" y="73"/>
                    </a:cubicBezTo>
                    <a:cubicBezTo>
                      <a:pt x="125" y="62"/>
                      <a:pt x="125" y="62"/>
                      <a:pt x="125" y="62"/>
                    </a:cubicBezTo>
                    <a:cubicBezTo>
                      <a:pt x="126" y="62"/>
                      <a:pt x="126" y="61"/>
                      <a:pt x="126" y="60"/>
                    </a:cubicBezTo>
                    <a:cubicBezTo>
                      <a:pt x="129" y="32"/>
                      <a:pt x="129" y="32"/>
                      <a:pt x="129" y="32"/>
                    </a:cubicBezTo>
                    <a:cubicBezTo>
                      <a:pt x="136" y="32"/>
                      <a:pt x="136" y="32"/>
                      <a:pt x="136" y="32"/>
                    </a:cubicBezTo>
                    <a:cubicBezTo>
                      <a:pt x="140" y="63"/>
                      <a:pt x="140" y="63"/>
                      <a:pt x="140" y="63"/>
                    </a:cubicBezTo>
                    <a:cubicBezTo>
                      <a:pt x="140" y="65"/>
                      <a:pt x="141" y="66"/>
                      <a:pt x="142" y="66"/>
                    </a:cubicBezTo>
                    <a:cubicBezTo>
                      <a:pt x="143" y="67"/>
                      <a:pt x="144" y="66"/>
                      <a:pt x="145" y="65"/>
                    </a:cubicBezTo>
                    <a:cubicBezTo>
                      <a:pt x="155" y="55"/>
                      <a:pt x="155" y="55"/>
                      <a:pt x="155" y="55"/>
                    </a:cubicBezTo>
                    <a:cubicBezTo>
                      <a:pt x="155" y="129"/>
                      <a:pt x="155" y="129"/>
                      <a:pt x="155" y="129"/>
                    </a:cubicBezTo>
                    <a:cubicBezTo>
                      <a:pt x="155" y="131"/>
                      <a:pt x="157" y="132"/>
                      <a:pt x="158" y="132"/>
                    </a:cubicBezTo>
                    <a:cubicBezTo>
                      <a:pt x="169" y="132"/>
                      <a:pt x="169" y="132"/>
                      <a:pt x="169" y="132"/>
                    </a:cubicBezTo>
                    <a:lnTo>
                      <a:pt x="169" y="136"/>
                    </a:lnTo>
                    <a:close/>
                    <a:moveTo>
                      <a:pt x="26" y="89"/>
                    </a:moveTo>
                    <a:cubicBezTo>
                      <a:pt x="26" y="84"/>
                      <a:pt x="26" y="84"/>
                      <a:pt x="26" y="84"/>
                    </a:cubicBezTo>
                    <a:cubicBezTo>
                      <a:pt x="44" y="84"/>
                      <a:pt x="44" y="84"/>
                      <a:pt x="44" y="84"/>
                    </a:cubicBezTo>
                    <a:cubicBezTo>
                      <a:pt x="44" y="89"/>
                      <a:pt x="44" y="89"/>
                      <a:pt x="44" y="89"/>
                    </a:cubicBezTo>
                    <a:lnTo>
                      <a:pt x="26" y="89"/>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sp>
            <p:nvSpPr>
              <p:cNvPr id="66" name="Freeform 43"/>
              <p:cNvSpPr>
                <a:spLocks noEditPoints="1"/>
              </p:cNvSpPr>
              <p:nvPr/>
            </p:nvSpPr>
            <p:spPr bwMode="auto">
              <a:xfrm>
                <a:off x="419100" y="5791200"/>
                <a:ext cx="79375" cy="42863"/>
              </a:xfrm>
              <a:custGeom>
                <a:avLst/>
                <a:gdLst/>
                <a:ahLst/>
                <a:cxnLst>
                  <a:cxn ang="0">
                    <a:pos x="28" y="0"/>
                  </a:cxn>
                  <a:cxn ang="0">
                    <a:pos x="3" y="0"/>
                  </a:cxn>
                  <a:cxn ang="0">
                    <a:pos x="0" y="3"/>
                  </a:cxn>
                  <a:cxn ang="0">
                    <a:pos x="0" y="14"/>
                  </a:cxn>
                  <a:cxn ang="0">
                    <a:pos x="3" y="17"/>
                  </a:cxn>
                  <a:cxn ang="0">
                    <a:pos x="28" y="17"/>
                  </a:cxn>
                  <a:cxn ang="0">
                    <a:pos x="31" y="14"/>
                  </a:cxn>
                  <a:cxn ang="0">
                    <a:pos x="31" y="3"/>
                  </a:cxn>
                  <a:cxn ang="0">
                    <a:pos x="28" y="0"/>
                  </a:cxn>
                  <a:cxn ang="0">
                    <a:pos x="24" y="11"/>
                  </a:cxn>
                  <a:cxn ang="0">
                    <a:pos x="6" y="11"/>
                  </a:cxn>
                  <a:cxn ang="0">
                    <a:pos x="6" y="6"/>
                  </a:cxn>
                  <a:cxn ang="0">
                    <a:pos x="24" y="6"/>
                  </a:cxn>
                  <a:cxn ang="0">
                    <a:pos x="24" y="11"/>
                  </a:cxn>
                </a:cxnLst>
                <a:rect l="0" t="0" r="r" b="b"/>
                <a:pathLst>
                  <a:path w="31" h="17">
                    <a:moveTo>
                      <a:pt x="28" y="0"/>
                    </a:moveTo>
                    <a:cubicBezTo>
                      <a:pt x="3" y="0"/>
                      <a:pt x="3" y="0"/>
                      <a:pt x="3" y="0"/>
                    </a:cubicBezTo>
                    <a:cubicBezTo>
                      <a:pt x="1" y="0"/>
                      <a:pt x="0" y="1"/>
                      <a:pt x="0" y="3"/>
                    </a:cubicBezTo>
                    <a:cubicBezTo>
                      <a:pt x="0" y="14"/>
                      <a:pt x="0" y="14"/>
                      <a:pt x="0" y="14"/>
                    </a:cubicBezTo>
                    <a:cubicBezTo>
                      <a:pt x="0" y="16"/>
                      <a:pt x="1" y="17"/>
                      <a:pt x="3" y="17"/>
                    </a:cubicBezTo>
                    <a:cubicBezTo>
                      <a:pt x="28" y="17"/>
                      <a:pt x="28" y="17"/>
                      <a:pt x="28" y="17"/>
                    </a:cubicBezTo>
                    <a:cubicBezTo>
                      <a:pt x="30" y="17"/>
                      <a:pt x="31" y="16"/>
                      <a:pt x="31" y="14"/>
                    </a:cubicBezTo>
                    <a:cubicBezTo>
                      <a:pt x="31" y="3"/>
                      <a:pt x="31" y="3"/>
                      <a:pt x="31" y="3"/>
                    </a:cubicBezTo>
                    <a:cubicBezTo>
                      <a:pt x="31" y="1"/>
                      <a:pt x="30" y="0"/>
                      <a:pt x="28" y="0"/>
                    </a:cubicBezTo>
                    <a:close/>
                    <a:moveTo>
                      <a:pt x="24" y="11"/>
                    </a:moveTo>
                    <a:cubicBezTo>
                      <a:pt x="6" y="11"/>
                      <a:pt x="6" y="11"/>
                      <a:pt x="6" y="11"/>
                    </a:cubicBezTo>
                    <a:cubicBezTo>
                      <a:pt x="6" y="6"/>
                      <a:pt x="6" y="6"/>
                      <a:pt x="6" y="6"/>
                    </a:cubicBezTo>
                    <a:cubicBezTo>
                      <a:pt x="24" y="6"/>
                      <a:pt x="24" y="6"/>
                      <a:pt x="24" y="6"/>
                    </a:cubicBezTo>
                    <a:lnTo>
                      <a:pt x="24" y="11"/>
                    </a:lnTo>
                    <a:close/>
                  </a:path>
                </a:pathLst>
              </a:custGeom>
              <a:grpFill/>
              <a:ln w="9525">
                <a:noFill/>
                <a:round/>
              </a:ln>
            </p:spPr>
            <p:txBody>
              <a:bodyPr vert="horz" wrap="square" lIns="68562" tIns="34281" rIns="68562" bIns="34281" numCol="1" anchor="t" anchorCtr="0" compatLnSpc="1"/>
              <a:lstStyle/>
              <a:p>
                <a:endParaRPr lang="zh-CN" altLang="en-US">
                  <a:solidFill>
                    <a:prstClr val="black"/>
                  </a:solidFill>
                </a:endParaRPr>
              </a:p>
            </p:txBody>
          </p:sp>
        </p:grpSp>
        <p:pic>
          <p:nvPicPr>
            <p:cNvPr id="55" name="Picture 8" descr="http://t2.baidu.com/it/u=1095666686,3228445107&amp;fm=23&amp;gp=0.jpg"/>
            <p:cNvPicPr>
              <a:picLocks noChangeAspect="1" noChangeArrowheads="1"/>
            </p:cNvPicPr>
            <p:nvPr/>
          </p:nvPicPr>
          <p:blipFill>
            <a:blip r:embed="rId5" cstate="email"/>
            <a:srcRect/>
            <a:stretch>
              <a:fillRect/>
            </a:stretch>
          </p:blipFill>
          <p:spPr bwMode="auto">
            <a:xfrm>
              <a:off x="335360" y="1124744"/>
              <a:ext cx="1708055" cy="1757070"/>
            </a:xfrm>
            <a:prstGeom prst="rect">
              <a:avLst/>
            </a:prstGeom>
            <a:noFill/>
            <a:ln w="9525">
              <a:noFill/>
              <a:miter lim="800000"/>
              <a:headEnd/>
              <a:tailEnd/>
            </a:ln>
          </p:spPr>
        </p:pic>
        <p:pic>
          <p:nvPicPr>
            <p:cNvPr id="56" name="图片 55"/>
            <p:cNvPicPr>
              <a:picLocks noChangeAspect="1"/>
            </p:cNvPicPr>
            <p:nvPr/>
          </p:nvPicPr>
          <p:blipFill>
            <a:blip r:embed="rId6" cstate="print"/>
            <a:stretch>
              <a:fillRect/>
            </a:stretch>
          </p:blipFill>
          <p:spPr>
            <a:xfrm>
              <a:off x="3789830" y="2870967"/>
              <a:ext cx="1678612" cy="1661541"/>
            </a:xfrm>
            <a:prstGeom prst="rect">
              <a:avLst/>
            </a:prstGeom>
            <a:ln>
              <a:solidFill>
                <a:srgbClr val="0070C0"/>
              </a:solidFill>
            </a:ln>
          </p:spPr>
        </p:pic>
        <p:pic>
          <p:nvPicPr>
            <p:cNvPr id="57" name="Picture 17" descr="http://t11.baidu.com/it/u=2091326033,2268336849&amp;fm=23&amp;gp=0.jpg"/>
            <p:cNvPicPr>
              <a:picLocks noChangeAspect="1" noChangeArrowheads="1"/>
            </p:cNvPicPr>
            <p:nvPr/>
          </p:nvPicPr>
          <p:blipFill>
            <a:blip r:embed="rId7" cstate="print"/>
            <a:srcRect/>
            <a:stretch>
              <a:fillRect/>
            </a:stretch>
          </p:blipFill>
          <p:spPr bwMode="auto">
            <a:xfrm>
              <a:off x="346639" y="4582660"/>
              <a:ext cx="1696775" cy="1695544"/>
            </a:xfrm>
            <a:prstGeom prst="rect">
              <a:avLst/>
            </a:prstGeom>
            <a:noFill/>
            <a:ln w="9525">
              <a:noFill/>
              <a:miter lim="800000"/>
              <a:headEnd/>
              <a:tailEnd/>
            </a:ln>
          </p:spPr>
        </p:pic>
        <p:pic>
          <p:nvPicPr>
            <p:cNvPr id="58" name="Picture 3" descr="C:\Users\h67418\Pictures\基因图谱.jpg"/>
            <p:cNvPicPr>
              <a:picLocks noChangeAspect="1" noChangeArrowheads="1"/>
            </p:cNvPicPr>
            <p:nvPr/>
          </p:nvPicPr>
          <p:blipFill>
            <a:blip r:embed="rId8" cstate="email"/>
            <a:srcRect/>
            <a:stretch>
              <a:fillRect/>
            </a:stretch>
          </p:blipFill>
          <p:spPr bwMode="auto">
            <a:xfrm>
              <a:off x="327895" y="2870966"/>
              <a:ext cx="1736617" cy="1711145"/>
            </a:xfrm>
            <a:prstGeom prst="rect">
              <a:avLst/>
            </a:prstGeom>
            <a:noFill/>
            <a:ln w="9525">
              <a:noFill/>
              <a:miter lim="800000"/>
              <a:headEnd/>
              <a:tailEnd/>
            </a:ln>
          </p:spPr>
        </p:pic>
        <p:pic>
          <p:nvPicPr>
            <p:cNvPr id="59" name="图片 58"/>
            <p:cNvPicPr>
              <a:picLocks noChangeAspect="1"/>
            </p:cNvPicPr>
            <p:nvPr/>
          </p:nvPicPr>
          <p:blipFill>
            <a:blip r:embed="rId9" cstate="print"/>
            <a:stretch>
              <a:fillRect/>
            </a:stretch>
          </p:blipFill>
          <p:spPr>
            <a:xfrm>
              <a:off x="2030991" y="6233354"/>
              <a:ext cx="1767451" cy="1770739"/>
            </a:xfrm>
            <a:prstGeom prst="rect">
              <a:avLst/>
            </a:prstGeom>
          </p:spPr>
        </p:pic>
        <p:pic>
          <p:nvPicPr>
            <p:cNvPr id="60" name="图片 59"/>
            <p:cNvPicPr>
              <a:picLocks noChangeAspect="1"/>
            </p:cNvPicPr>
            <p:nvPr/>
          </p:nvPicPr>
          <p:blipFill>
            <a:blip r:embed="rId10" cstate="print"/>
            <a:stretch>
              <a:fillRect/>
            </a:stretch>
          </p:blipFill>
          <p:spPr>
            <a:xfrm>
              <a:off x="3751887" y="6244709"/>
              <a:ext cx="1716554" cy="1759385"/>
            </a:xfrm>
            <a:prstGeom prst="rect">
              <a:avLst/>
            </a:prstGeom>
          </p:spPr>
        </p:pic>
      </p:grpSp>
      <p:sp>
        <p:nvSpPr>
          <p:cNvPr id="72" name="文本框 17"/>
          <p:cNvSpPr txBox="1"/>
          <p:nvPr/>
        </p:nvSpPr>
        <p:spPr>
          <a:xfrm>
            <a:off x="8275628" y="3835219"/>
            <a:ext cx="713718" cy="369332"/>
          </a:xfrm>
          <a:prstGeom prst="rect">
            <a:avLst/>
          </a:prstGeom>
          <a:noFill/>
        </p:spPr>
        <p:txBody>
          <a:bodyPr wrap="square" rtlCol="0">
            <a:spAutoFit/>
          </a:bodyPr>
          <a:lstStyle/>
          <a:p>
            <a:pPr algn="ctr"/>
            <a:r>
              <a:rPr lang="en-US" sz="900" b="1" dirty="0">
                <a:solidFill>
                  <a:prstClr val="black"/>
                </a:solidFill>
                <a:cs typeface="Arial" panose="020B0604020202020204" pitchFamily="34" charset="0"/>
              </a:rPr>
              <a:t>Data</a:t>
            </a:r>
          </a:p>
          <a:p>
            <a:pPr algn="ctr"/>
            <a:r>
              <a:rPr lang="en-US" altLang="zh-CN" sz="900" b="1" dirty="0">
                <a:solidFill>
                  <a:prstClr val="black"/>
                </a:solidFill>
                <a:cs typeface="Arial" panose="020B0604020202020204" pitchFamily="34" charset="0"/>
              </a:rPr>
              <a:t>intensive </a:t>
            </a:r>
            <a:endParaRPr lang="en-US" sz="900" b="1" dirty="0">
              <a:solidFill>
                <a:prstClr val="black"/>
              </a:solidFill>
              <a:cs typeface="Arial" panose="020B0604020202020204" pitchFamily="34" charset="0"/>
            </a:endParaRPr>
          </a:p>
        </p:txBody>
      </p:sp>
    </p:spTree>
    <p:extLst>
      <p:ext uri="{BB962C8B-B14F-4D97-AF65-F5344CB8AC3E}">
        <p14:creationId xmlns:p14="http://schemas.microsoft.com/office/powerpoint/2010/main" val="3258546909"/>
      </p:ext>
    </p:extLst>
  </p:cSld>
  <p:clrMapOvr>
    <a:masterClrMapping/>
  </p:clrMapOvr>
  <p:transition advClick="0" advTm="8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Why Do We Need HPC?</a:t>
            </a:r>
            <a:endParaRPr lang="zh-CN" altLang="en-US" dirty="0"/>
          </a:p>
        </p:txBody>
      </p:sp>
      <p:sp>
        <p:nvSpPr>
          <p:cNvPr id="3" name="内容占位符 2"/>
          <p:cNvSpPr>
            <a:spLocks noGrp="1"/>
          </p:cNvSpPr>
          <p:nvPr>
            <p:ph idx="1"/>
          </p:nvPr>
        </p:nvSpPr>
        <p:spPr/>
        <p:txBody>
          <a:bodyPr>
            <a:normAutofit/>
          </a:bodyPr>
          <a:lstStyle/>
          <a:p>
            <a:r>
              <a:rPr lang="en-US" altLang="zh-CN" dirty="0"/>
              <a:t>HPC is useful for being faster and being thus more precise overall.</a:t>
            </a:r>
          </a:p>
        </p:txBody>
      </p:sp>
    </p:spTree>
    <p:extLst>
      <p:ext uri="{BB962C8B-B14F-4D97-AF65-F5344CB8AC3E}">
        <p14:creationId xmlns:p14="http://schemas.microsoft.com/office/powerpoint/2010/main" val="2290650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Why Do We Need HPC?</a:t>
            </a:r>
            <a:endParaRPr lang="zh-CN" altLang="en-US" dirty="0"/>
          </a:p>
        </p:txBody>
      </p:sp>
      <p:sp>
        <p:nvSpPr>
          <p:cNvPr id="3" name="内容占位符 2"/>
          <p:cNvSpPr>
            <a:spLocks noGrp="1"/>
          </p:cNvSpPr>
          <p:nvPr>
            <p:ph idx="1"/>
          </p:nvPr>
        </p:nvSpPr>
        <p:spPr/>
        <p:txBody>
          <a:bodyPr/>
          <a:lstStyle/>
          <a:p>
            <a:r>
              <a:rPr lang="en-US" altLang="zh-CN" dirty="0"/>
              <a:t>It is too difficult to build (blower or wind tunnel), </a:t>
            </a:r>
          </a:p>
          <a:p>
            <a:r>
              <a:rPr lang="en-US" altLang="zh-CN" dirty="0"/>
              <a:t>or too expensive to build (car/airplane crash test), </a:t>
            </a:r>
          </a:p>
          <a:p>
            <a:r>
              <a:rPr lang="en-US" altLang="zh-CN" dirty="0"/>
              <a:t>or too slow on usual computers (evolution of climate or galaxies), </a:t>
            </a:r>
          </a:p>
          <a:p>
            <a:r>
              <a:rPr lang="en-US" altLang="zh-CN" dirty="0"/>
              <a:t>or too dangerous in practice (nuclear weapons, drugs, pollution, epidemics).</a:t>
            </a:r>
          </a:p>
          <a:p>
            <a:endParaRPr lang="zh-CN" altLang="en-US" dirty="0"/>
          </a:p>
        </p:txBody>
      </p:sp>
    </p:spTree>
    <p:extLst>
      <p:ext uri="{BB962C8B-B14F-4D97-AF65-F5344CB8AC3E}">
        <p14:creationId xmlns:p14="http://schemas.microsoft.com/office/powerpoint/2010/main" val="833050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Why Do We Need HPC?</a:t>
            </a:r>
            <a:endParaRPr lang="zh-CN" altLang="en-US" dirty="0"/>
          </a:p>
        </p:txBody>
      </p:sp>
      <p:sp>
        <p:nvSpPr>
          <p:cNvPr id="3" name="内容占位符 2"/>
          <p:cNvSpPr>
            <a:spLocks noGrp="1"/>
          </p:cNvSpPr>
          <p:nvPr>
            <p:ph idx="1"/>
          </p:nvPr>
        </p:nvSpPr>
        <p:spPr/>
        <p:txBody>
          <a:bodyPr>
            <a:normAutofit/>
          </a:bodyPr>
          <a:lstStyle/>
          <a:p>
            <a:r>
              <a:rPr lang="en-US" altLang="zh-CN" dirty="0"/>
              <a:t>Some results have a time-limited value, like weather conditions, which are only useful to predict in the future! </a:t>
            </a:r>
          </a:p>
          <a:p>
            <a:r>
              <a:rPr lang="en-US" altLang="zh-CN" dirty="0"/>
              <a:t>Tomorrow’s weather is only useful to know if we can predict it before tomorrow! </a:t>
            </a:r>
          </a:p>
          <a:p>
            <a:r>
              <a:rPr lang="en-US" altLang="zh-CN" dirty="0"/>
              <a:t>Similarly, it is interesting to be the first to get the results in order to take decisions as soon as.</a:t>
            </a:r>
          </a:p>
          <a:p>
            <a:endParaRPr lang="zh-CN" altLang="en-US" dirty="0"/>
          </a:p>
        </p:txBody>
      </p:sp>
    </p:spTree>
    <p:extLst>
      <p:ext uri="{BB962C8B-B14F-4D97-AF65-F5344CB8AC3E}">
        <p14:creationId xmlns:p14="http://schemas.microsoft.com/office/powerpoint/2010/main" val="345149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Why Do We Need HPC?</a:t>
            </a:r>
            <a:endParaRPr lang="zh-CN" altLang="en-US" dirty="0"/>
          </a:p>
        </p:txBody>
      </p:sp>
      <p:sp>
        <p:nvSpPr>
          <p:cNvPr id="3" name="内容占位符 2"/>
          <p:cNvSpPr>
            <a:spLocks noGrp="1"/>
          </p:cNvSpPr>
          <p:nvPr>
            <p:ph idx="1"/>
          </p:nvPr>
        </p:nvSpPr>
        <p:spPr/>
        <p:txBody>
          <a:bodyPr/>
          <a:lstStyle/>
          <a:p>
            <a:r>
              <a:rPr lang="en-US" altLang="zh-CN" dirty="0"/>
              <a:t>HPC also allows one to solve larger problems: simulations can be carried out either on more finely-meshed domains or on bigger data sets (the Big Data trend). </a:t>
            </a:r>
          </a:p>
          <a:p>
            <a:r>
              <a:rPr lang="en-US" altLang="zh-CN" dirty="0"/>
              <a:t>For example, processing big data-sets like genome analytics or families of genomes.</a:t>
            </a:r>
            <a:endParaRPr lang="zh-CN" altLang="en-US" dirty="0"/>
          </a:p>
          <a:p>
            <a:endParaRPr lang="zh-CN" altLang="en-US" dirty="0"/>
          </a:p>
        </p:txBody>
      </p:sp>
    </p:spTree>
    <p:extLst>
      <p:ext uri="{BB962C8B-B14F-4D97-AF65-F5344CB8AC3E}">
        <p14:creationId xmlns:p14="http://schemas.microsoft.com/office/powerpoint/2010/main" val="162892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Why Do We Need HPC?</a:t>
            </a:r>
            <a:endParaRPr lang="zh-CN" altLang="en-US" dirty="0"/>
          </a:p>
        </p:txBody>
      </p:sp>
      <p:sp>
        <p:nvSpPr>
          <p:cNvPr id="3" name="内容占位符 2"/>
          <p:cNvSpPr>
            <a:spLocks noGrp="1"/>
          </p:cNvSpPr>
          <p:nvPr>
            <p:ph idx="1"/>
          </p:nvPr>
        </p:nvSpPr>
        <p:spPr/>
        <p:txBody>
          <a:bodyPr/>
          <a:lstStyle/>
          <a:p>
            <a:r>
              <a:rPr lang="en-US" altLang="zh-CN" dirty="0"/>
              <a:t>HPC is also very useful for saving energy: indeed, at constant flops performance, we prefer to use more lower-profile processors that consume less overall than high-profile processors which require more energy to work. </a:t>
            </a:r>
            <a:endParaRPr lang="zh-CN" altLang="en-US" dirty="0"/>
          </a:p>
        </p:txBody>
      </p:sp>
    </p:spTree>
    <p:extLst>
      <p:ext uri="{BB962C8B-B14F-4D97-AF65-F5344CB8AC3E}">
        <p14:creationId xmlns:p14="http://schemas.microsoft.com/office/powerpoint/2010/main" val="1475078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Why Do We Need HPC?</a:t>
            </a:r>
            <a:endParaRPr lang="zh-CN" altLang="en-US" dirty="0"/>
          </a:p>
        </p:txBody>
      </p:sp>
      <p:sp>
        <p:nvSpPr>
          <p:cNvPr id="3" name="内容占位符 2"/>
          <p:cNvSpPr>
            <a:spLocks noGrp="1"/>
          </p:cNvSpPr>
          <p:nvPr>
            <p:ph idx="1"/>
          </p:nvPr>
        </p:nvSpPr>
        <p:spPr/>
        <p:txBody>
          <a:bodyPr/>
          <a:lstStyle/>
          <a:p>
            <a:r>
              <a:rPr lang="en-US" altLang="zh-CN" dirty="0"/>
              <a:t>HPC is well-suited to some kinds of algorithms that are intrinsically parallel in essence.</a:t>
            </a:r>
          </a:p>
          <a:p>
            <a:r>
              <a:rPr lang="en-US" altLang="zh-CN" dirty="0"/>
              <a:t>For example, algorithms in image or video processing often compute filters that are operations that can be carried out independently in parallel for each pixel .</a:t>
            </a:r>
            <a:endParaRPr lang="zh-CN" altLang="en-US" dirty="0"/>
          </a:p>
        </p:txBody>
      </p:sp>
    </p:spTree>
    <p:extLst>
      <p:ext uri="{BB962C8B-B14F-4D97-AF65-F5344CB8AC3E}">
        <p14:creationId xmlns:p14="http://schemas.microsoft.com/office/powerpoint/2010/main" val="1759236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Big Data: The Four Vs</a:t>
            </a:r>
            <a:endParaRPr lang="zh-CN" altLang="en-US" dirty="0"/>
          </a:p>
        </p:txBody>
      </p:sp>
      <p:sp>
        <p:nvSpPr>
          <p:cNvPr id="3" name="内容占位符 2"/>
          <p:cNvSpPr>
            <a:spLocks noGrp="1"/>
          </p:cNvSpPr>
          <p:nvPr>
            <p:ph idx="1"/>
          </p:nvPr>
        </p:nvSpPr>
        <p:spPr/>
        <p:txBody>
          <a:bodyPr/>
          <a:lstStyle/>
          <a:p>
            <a:r>
              <a:rPr lang="en-US" altLang="zh-CN" dirty="0"/>
              <a:t>We can characterize the processing of big data-sets using the four Vs:</a:t>
            </a:r>
          </a:p>
          <a:p>
            <a:r>
              <a:rPr lang="en-US" altLang="zh-CN" dirty="0"/>
              <a:t>Volume,</a:t>
            </a:r>
          </a:p>
          <a:p>
            <a:r>
              <a:rPr lang="en-US" altLang="zh-CN" dirty="0"/>
              <a:t>Variety (heterogeneous data),</a:t>
            </a:r>
          </a:p>
          <a:p>
            <a:r>
              <a:rPr lang="en-US" altLang="zh-CN" dirty="0"/>
              <a:t>Velocity (data obtained continuously from sensors),</a:t>
            </a:r>
          </a:p>
          <a:p>
            <a:r>
              <a:rPr lang="en-US" altLang="zh-CN" dirty="0"/>
              <a:t>Value (not simulation but valuable insights).</a:t>
            </a:r>
          </a:p>
          <a:p>
            <a:endParaRPr lang="zh-CN" altLang="en-US" dirty="0"/>
          </a:p>
        </p:txBody>
      </p:sp>
    </p:spTree>
    <p:extLst>
      <p:ext uri="{BB962C8B-B14F-4D97-AF65-F5344CB8AC3E}">
        <p14:creationId xmlns:p14="http://schemas.microsoft.com/office/powerpoint/2010/main" val="829977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Parallel Programming Paradigms: </a:t>
            </a:r>
            <a:br>
              <a:rPr lang="en-US" altLang="zh-CN" b="1" dirty="0"/>
            </a:br>
            <a:r>
              <a:rPr lang="en-US" altLang="zh-CN" b="1" dirty="0"/>
              <a:t>MPI and MapReduce</a:t>
            </a:r>
            <a:endParaRPr lang="zh-CN" altLang="en-US" dirty="0"/>
          </a:p>
        </p:txBody>
      </p:sp>
      <p:sp>
        <p:nvSpPr>
          <p:cNvPr id="3" name="内容占位符 2"/>
          <p:cNvSpPr>
            <a:spLocks noGrp="1"/>
          </p:cNvSpPr>
          <p:nvPr>
            <p:ph idx="1"/>
          </p:nvPr>
        </p:nvSpPr>
        <p:spPr/>
        <p:txBody>
          <a:bodyPr>
            <a:normAutofit fontScale="92500"/>
          </a:bodyPr>
          <a:lstStyle/>
          <a:p>
            <a:r>
              <a:rPr lang="en-US" altLang="zh-CN" dirty="0"/>
              <a:t>Nowadays, the two main programming models that are complementary to each other are:</a:t>
            </a:r>
          </a:p>
          <a:p>
            <a:r>
              <a:rPr lang="en-US" altLang="zh-CN" dirty="0"/>
              <a:t>Programming with MPI which has zero tolerance for hardware or network errors, but offers programmers a flexible framework, and</a:t>
            </a:r>
          </a:p>
          <a:p>
            <a:r>
              <a:rPr lang="en-US" altLang="zh-CN" dirty="0"/>
              <a:t>Programming with MapReduce which includes an infrastructure tolerant of errors and hardware failures, but has a rather a limited model of parallel computing compared with MPI.</a:t>
            </a:r>
          </a:p>
          <a:p>
            <a:endParaRPr lang="zh-CN" altLang="en-US" dirty="0"/>
          </a:p>
        </p:txBody>
      </p:sp>
    </p:spTree>
    <p:extLst>
      <p:ext uri="{BB962C8B-B14F-4D97-AF65-F5344CB8AC3E}">
        <p14:creationId xmlns:p14="http://schemas.microsoft.com/office/powerpoint/2010/main" val="2432950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Granularity</a:t>
            </a:r>
            <a:endParaRPr lang="zh-CN" altLang="en-US" dirty="0"/>
          </a:p>
        </p:txBody>
      </p:sp>
      <p:sp>
        <p:nvSpPr>
          <p:cNvPr id="3" name="内容占位符 2"/>
          <p:cNvSpPr>
            <a:spLocks noGrp="1"/>
          </p:cNvSpPr>
          <p:nvPr>
            <p:ph idx="1"/>
          </p:nvPr>
        </p:nvSpPr>
        <p:spPr/>
        <p:txBody>
          <a:bodyPr/>
          <a:lstStyle/>
          <a:p>
            <a:r>
              <a:rPr lang="en-US" altLang="zh-CN" dirty="0"/>
              <a:t>We classify parallel algorithms into three main categories according to their granularity:</a:t>
            </a:r>
          </a:p>
          <a:p>
            <a:r>
              <a:rPr lang="en-US" altLang="zh-CN" dirty="0"/>
              <a:t>Fine-grained parallelism: at the variable level inside the same task.</a:t>
            </a:r>
          </a:p>
          <a:p>
            <a:r>
              <a:rPr lang="en-US" altLang="zh-CN" dirty="0"/>
              <a:t>Fine-grained parallelism can also rely on GPU code snippets of the graphics card.</a:t>
            </a:r>
            <a:endParaRPr lang="zh-CN" altLang="en-US" dirty="0"/>
          </a:p>
        </p:txBody>
      </p:sp>
    </p:spTree>
    <p:extLst>
      <p:ext uri="{BB962C8B-B14F-4D97-AF65-F5344CB8AC3E}">
        <p14:creationId xmlns:p14="http://schemas.microsoft.com/office/powerpoint/2010/main" val="2889383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Granularity</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a:t>Mid-grained parallelism : at the level of tasks of a same program using threads.</a:t>
            </a:r>
          </a:p>
          <a:p>
            <a:pPr marL="0" indent="0">
              <a:buNone/>
            </a:pPr>
            <a:endParaRPr lang="en-US" altLang="zh-CN" dirty="0"/>
          </a:p>
          <a:p>
            <a:pPr marL="0" indent="0">
              <a:buNone/>
            </a:pPr>
            <a:r>
              <a:rPr lang="en-US" altLang="zh-CN" dirty="0"/>
              <a:t>Coarse-grained parallelism : Data transfers are limited, and occur after big chunks of calculations.</a:t>
            </a:r>
            <a:endParaRPr lang="zh-CN" altLang="en-US" dirty="0"/>
          </a:p>
        </p:txBody>
      </p:sp>
    </p:spTree>
    <p:extLst>
      <p:ext uri="{BB962C8B-B14F-4D97-AF65-F5344CB8AC3E}">
        <p14:creationId xmlns:p14="http://schemas.microsoft.com/office/powerpoint/2010/main" val="3349743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AU" altLang="zh-CN" sz="2475" b="1" dirty="0">
                <a:solidFill>
                  <a:schemeClr val="tx1">
                    <a:lumMod val="75000"/>
                    <a:lumOff val="25000"/>
                  </a:schemeClr>
                </a:solidFill>
                <a:cs typeface="Huawei Sans" panose="020C0503030203020204" pitchFamily="34" charset="0"/>
              </a:rPr>
              <a:t>Architecture of </a:t>
            </a:r>
            <a:r>
              <a:rPr lang="en-US" altLang="zh-CN" sz="2475" b="1" dirty="0">
                <a:solidFill>
                  <a:schemeClr val="tx1">
                    <a:lumMod val="75000"/>
                    <a:lumOff val="25000"/>
                  </a:schemeClr>
                </a:solidFill>
                <a:cs typeface="Huawei Sans" panose="020C0503030203020204" pitchFamily="34" charset="0"/>
              </a:rPr>
              <a:t>HPC</a:t>
            </a:r>
            <a:endParaRPr lang="zh-CN" altLang="en-US" sz="2475" b="1" dirty="0">
              <a:solidFill>
                <a:schemeClr val="tx1">
                  <a:lumMod val="75000"/>
                  <a:lumOff val="25000"/>
                </a:schemeClr>
              </a:solidFill>
              <a:cs typeface="Huawei Sans" panose="020C0503030203020204" pitchFamily="34" charset="0"/>
            </a:endParaRPr>
          </a:p>
        </p:txBody>
      </p:sp>
      <p:sp>
        <p:nvSpPr>
          <p:cNvPr id="3" name="文本占位符 2"/>
          <p:cNvSpPr>
            <a:spLocks noGrp="1"/>
          </p:cNvSpPr>
          <p:nvPr>
            <p:ph type="body" sz="quarter" idx="10"/>
          </p:nvPr>
        </p:nvSpPr>
        <p:spPr>
          <a:xfrm>
            <a:off x="548878" y="1643063"/>
            <a:ext cx="8046245" cy="3864769"/>
          </a:xfrm>
        </p:spPr>
        <p:txBody>
          <a:bodyPr/>
          <a:lstStyle/>
          <a:p>
            <a:pPr>
              <a:lnSpc>
                <a:spcPts val="2475"/>
              </a:lnSpc>
              <a:spcBef>
                <a:spcPts val="0"/>
              </a:spcBef>
              <a:buSzPct val="60000"/>
            </a:pPr>
            <a:r>
              <a:rPr lang="en-US" altLang="zh-CN" sz="1500" dirty="0"/>
              <a:t>SMP</a:t>
            </a:r>
            <a:r>
              <a:rPr lang="zh-CN" altLang="en-US" sz="1500" dirty="0"/>
              <a:t>（</a:t>
            </a:r>
            <a:r>
              <a:rPr lang="en-US" altLang="zh-CN" sz="1500" dirty="0"/>
              <a:t>Symmetric Multi-Processor</a:t>
            </a:r>
            <a:r>
              <a:rPr lang="zh-CN" altLang="en-US" sz="1500" dirty="0"/>
              <a:t>）</a:t>
            </a:r>
            <a:endParaRPr lang="en-US" altLang="zh-CN" sz="1500" dirty="0"/>
          </a:p>
          <a:p>
            <a:pPr lvl="1">
              <a:lnSpc>
                <a:spcPts val="2475"/>
              </a:lnSpc>
              <a:spcBef>
                <a:spcPts val="0"/>
              </a:spcBef>
              <a:buSzPct val="60000"/>
            </a:pPr>
            <a:r>
              <a:rPr lang="en-US" altLang="zh-CN" dirty="0"/>
              <a:t>UMA</a:t>
            </a:r>
            <a:r>
              <a:rPr lang="zh-CN" altLang="en-US" dirty="0"/>
              <a:t>：</a:t>
            </a:r>
            <a:r>
              <a:rPr lang="en-US" altLang="zh-CN" dirty="0"/>
              <a:t>multi-processors connecting to one </a:t>
            </a:r>
            <a:r>
              <a:rPr lang="en-AU" altLang="zh-CN" dirty="0"/>
              <a:t>storage run the same OS and share other resources. Storage interface  is the bottleneck of performance.</a:t>
            </a:r>
            <a:endParaRPr lang="en-US" altLang="zh-CN" dirty="0"/>
          </a:p>
          <a:p>
            <a:pPr lvl="1">
              <a:lnSpc>
                <a:spcPts val="2475"/>
              </a:lnSpc>
              <a:spcBef>
                <a:spcPts val="0"/>
              </a:spcBef>
              <a:buSzPct val="60000"/>
            </a:pPr>
            <a:r>
              <a:rPr lang="en-US" altLang="zh-CN" dirty="0"/>
              <a:t>NUMA, a type of Distributed Shared Memory. NUMA has the only one OS as UMA and is easy to manage. Meanwhile, NUMA has </a:t>
            </a:r>
            <a:r>
              <a:rPr lang="en-AU" altLang="zh-CN" dirty="0"/>
              <a:t>extendibility</a:t>
            </a:r>
            <a:r>
              <a:rPr lang="en-US" altLang="zh-CN" dirty="0"/>
              <a:t> as MPP.</a:t>
            </a:r>
            <a:endParaRPr lang="zh-CN" altLang="en-US" dirty="0"/>
          </a:p>
          <a:p>
            <a:pPr lvl="1">
              <a:lnSpc>
                <a:spcPts val="2475"/>
              </a:lnSpc>
              <a:spcBef>
                <a:spcPts val="0"/>
              </a:spcBef>
              <a:buSzPct val="60000"/>
            </a:pPr>
            <a:r>
              <a:rPr lang="en-US" altLang="zh-CN" dirty="0"/>
              <a:t>CC-NUMA, a type of NUMA. CC-NUMA uses cache coherent to keep </a:t>
            </a:r>
            <a:r>
              <a:rPr lang="en-AU" altLang="zh-CN" dirty="0"/>
              <a:t>consistency in hardware manner. </a:t>
            </a:r>
            <a:endParaRPr lang="en-US" altLang="zh-CN" dirty="0"/>
          </a:p>
          <a:p>
            <a:pPr marL="226695" lvl="1" indent="-226695">
              <a:lnSpc>
                <a:spcPts val="2475"/>
              </a:lnSpc>
              <a:spcBef>
                <a:spcPts val="0"/>
              </a:spcBef>
              <a:buSzPct val="60000"/>
              <a:buFont typeface="Wingdings" panose="05000000000000000000" pitchFamily="2" charset="2"/>
              <a:buChar char="l"/>
            </a:pPr>
            <a:r>
              <a:rPr lang="en-US" altLang="zh-CN" dirty="0">
                <a:cs typeface="Huawei Sans" panose="020C0503030203020204" pitchFamily="34" charset="0"/>
              </a:rPr>
              <a:t>MPP</a:t>
            </a:r>
            <a:r>
              <a:rPr lang="zh-CN" altLang="en-US" dirty="0">
                <a:cs typeface="Huawei Sans" panose="020C0503030203020204" pitchFamily="34" charset="0"/>
              </a:rPr>
              <a:t>（</a:t>
            </a:r>
            <a:r>
              <a:rPr lang="en-US" altLang="zh-CN" dirty="0">
                <a:cs typeface="Huawei Sans" panose="020C0503030203020204" pitchFamily="34" charset="0"/>
              </a:rPr>
              <a:t>Massively Parallel Processing</a:t>
            </a:r>
            <a:r>
              <a:rPr lang="zh-CN" altLang="en-US" dirty="0">
                <a:cs typeface="Huawei Sans" panose="020C0503030203020204" pitchFamily="34" charset="0"/>
              </a:rPr>
              <a:t>）</a:t>
            </a:r>
            <a:endParaRPr lang="en-US" altLang="zh-CN" dirty="0">
              <a:cs typeface="Huawei Sans" panose="020C0503030203020204" pitchFamily="34" charset="0"/>
            </a:endParaRPr>
          </a:p>
          <a:p>
            <a:pPr lvl="1">
              <a:lnSpc>
                <a:spcPts val="2475"/>
              </a:lnSpc>
              <a:spcBef>
                <a:spcPts val="0"/>
              </a:spcBef>
              <a:buSzPct val="60000"/>
            </a:pPr>
            <a:r>
              <a:rPr lang="en-US" altLang="zh-CN" dirty="0"/>
              <a:t>MPP means tasks are sent to many nodes. When computation is done, results in different nodes are gathered to obtain the final outcome.</a:t>
            </a:r>
          </a:p>
        </p:txBody>
      </p:sp>
    </p:spTree>
    <p:extLst>
      <p:ext uri="{BB962C8B-B14F-4D97-AF65-F5344CB8AC3E}">
        <p14:creationId xmlns:p14="http://schemas.microsoft.com/office/powerpoint/2010/main" val="453756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b="1" dirty="0"/>
              <a:t>Heterogeneous parallelism </a:t>
            </a:r>
            <a:endParaRPr lang="zh-CN" altLang="en-US" b="1" dirty="0"/>
          </a:p>
        </p:txBody>
      </p:sp>
      <p:sp>
        <p:nvSpPr>
          <p:cNvPr id="3" name="内容占位符 2"/>
          <p:cNvSpPr>
            <a:spLocks noGrp="1"/>
          </p:cNvSpPr>
          <p:nvPr>
            <p:ph idx="1"/>
          </p:nvPr>
        </p:nvSpPr>
        <p:spPr/>
        <p:txBody>
          <a:bodyPr/>
          <a:lstStyle/>
          <a:p>
            <a:r>
              <a:rPr lang="en-US" altLang="zh-CN" dirty="0"/>
              <a:t>An example</a:t>
            </a:r>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654" y="1410990"/>
            <a:ext cx="5562146" cy="4904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8557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AU" altLang="zh-CN" sz="2475" b="1" dirty="0">
                <a:solidFill>
                  <a:schemeClr val="tx1">
                    <a:lumMod val="75000"/>
                    <a:lumOff val="25000"/>
                  </a:schemeClr>
                </a:solidFill>
                <a:cs typeface="Huawei Sans" panose="020C0503030203020204" pitchFamily="34" charset="0"/>
              </a:rPr>
              <a:t>Homogeneous and heterogeneous parallelism</a:t>
            </a:r>
            <a:endParaRPr lang="zh-CN" altLang="en-US" sz="2475" b="1" dirty="0">
              <a:solidFill>
                <a:schemeClr val="tx1">
                  <a:lumMod val="75000"/>
                  <a:lumOff val="25000"/>
                </a:schemeClr>
              </a:solidFill>
              <a:cs typeface="Huawei Sans" panose="020C0503030203020204" pitchFamily="34" charset="0"/>
            </a:endParaRPr>
          </a:p>
        </p:txBody>
      </p:sp>
      <p:sp>
        <p:nvSpPr>
          <p:cNvPr id="3" name="文本占位符 2"/>
          <p:cNvSpPr>
            <a:spLocks noGrp="1"/>
          </p:cNvSpPr>
          <p:nvPr>
            <p:ph type="body" sz="quarter" idx="10"/>
          </p:nvPr>
        </p:nvSpPr>
        <p:spPr/>
        <p:txBody>
          <a:bodyPr/>
          <a:lstStyle/>
          <a:p>
            <a:pPr>
              <a:lnSpc>
                <a:spcPts val="1650"/>
              </a:lnSpc>
              <a:spcBef>
                <a:spcPts val="0"/>
              </a:spcBef>
              <a:spcAft>
                <a:spcPts val="450"/>
              </a:spcAft>
              <a:buSzPct val="60000"/>
            </a:pPr>
            <a:r>
              <a:rPr lang="en-US" altLang="zh-CN" sz="1350" dirty="0"/>
              <a:t>Different computing units, such as CPU, GPU, DSP, ASIC, and FPGA, can be used together to improve computation ability.</a:t>
            </a:r>
          </a:p>
          <a:p>
            <a:pPr>
              <a:lnSpc>
                <a:spcPts val="1650"/>
              </a:lnSpc>
              <a:spcBef>
                <a:spcPts val="0"/>
              </a:spcBef>
              <a:spcAft>
                <a:spcPts val="450"/>
              </a:spcAft>
              <a:buSzPct val="60000"/>
            </a:pPr>
            <a:r>
              <a:rPr lang="en-AU" altLang="zh-CN" sz="1350" dirty="0"/>
              <a:t>heterogeneous </a:t>
            </a:r>
            <a:r>
              <a:rPr lang="en-US" altLang="zh-CN" sz="1350" dirty="0"/>
              <a:t>HPC</a:t>
            </a:r>
            <a:r>
              <a:rPr lang="zh-CN" altLang="en-US" sz="1350" dirty="0"/>
              <a:t> </a:t>
            </a:r>
            <a:r>
              <a:rPr lang="en-US" altLang="zh-CN" sz="1350" dirty="0"/>
              <a:t>technologies can be divided into common ones and </a:t>
            </a:r>
            <a:r>
              <a:rPr lang="en-AU" altLang="zh-CN" sz="1350" dirty="0"/>
              <a:t>specialized  ones,</a:t>
            </a:r>
            <a:endParaRPr lang="en-US" altLang="zh-CN" sz="1350" dirty="0"/>
          </a:p>
          <a:p>
            <a:pPr lvl="1">
              <a:lnSpc>
                <a:spcPts val="1650"/>
              </a:lnSpc>
              <a:spcBef>
                <a:spcPts val="0"/>
              </a:spcBef>
              <a:spcAft>
                <a:spcPts val="450"/>
              </a:spcAft>
              <a:buSzPct val="60000"/>
            </a:pPr>
            <a:r>
              <a:rPr lang="en-US" altLang="zh-CN" sz="1350" dirty="0">
                <a:cs typeface="Huawei Sans" panose="020C0503030203020204" pitchFamily="34" charset="0"/>
              </a:rPr>
              <a:t>Common technologies include heterogeneous many-core parallelism, CPU+GPU</a:t>
            </a:r>
            <a:r>
              <a:rPr lang="zh-CN" altLang="en-US" sz="1350" dirty="0">
                <a:cs typeface="Huawei Sans" panose="020C0503030203020204" pitchFamily="34" charset="0"/>
              </a:rPr>
              <a:t> </a:t>
            </a:r>
            <a:r>
              <a:rPr lang="en-US" altLang="zh-CN" sz="1350" dirty="0">
                <a:cs typeface="Huawei Sans" panose="020C0503030203020204" pitchFamily="34" charset="0"/>
              </a:rPr>
              <a:t>or CPU+MIC.</a:t>
            </a:r>
          </a:p>
          <a:p>
            <a:pPr lvl="1">
              <a:lnSpc>
                <a:spcPts val="1650"/>
              </a:lnSpc>
              <a:spcBef>
                <a:spcPts val="0"/>
              </a:spcBef>
              <a:spcAft>
                <a:spcPts val="450"/>
              </a:spcAft>
              <a:buSzPct val="60000"/>
            </a:pPr>
            <a:r>
              <a:rPr lang="en-AU" altLang="zh-CN" sz="1350" dirty="0">
                <a:cs typeface="Huawei Sans" panose="020C0503030203020204" pitchFamily="34" charset="0"/>
              </a:rPr>
              <a:t>Specialized technologies mean </a:t>
            </a:r>
            <a:r>
              <a:rPr lang="en-US" altLang="zh-CN" sz="1350" dirty="0">
                <a:cs typeface="Huawei Sans" panose="020C0503030203020204" pitchFamily="34" charset="0"/>
              </a:rPr>
              <a:t>CPU+FPGA, etc.</a:t>
            </a:r>
            <a:endParaRPr lang="zh-CN" altLang="en-US" sz="1350" dirty="0">
              <a:cs typeface="Huawei Sans" panose="020C0503030203020204" pitchFamily="34" charset="0"/>
            </a:endParaRPr>
          </a:p>
        </p:txBody>
      </p:sp>
      <p:grpSp>
        <p:nvGrpSpPr>
          <p:cNvPr id="4" name="组合 3"/>
          <p:cNvGrpSpPr/>
          <p:nvPr/>
        </p:nvGrpSpPr>
        <p:grpSpPr>
          <a:xfrm>
            <a:off x="652312" y="3512121"/>
            <a:ext cx="7902791" cy="1922295"/>
            <a:chOff x="1637067" y="4223363"/>
            <a:chExt cx="8979802" cy="2072362"/>
          </a:xfrm>
        </p:grpSpPr>
        <p:sp>
          <p:nvSpPr>
            <p:cNvPr id="5" name="椭圆 4"/>
            <p:cNvSpPr/>
            <p:nvPr/>
          </p:nvSpPr>
          <p:spPr>
            <a:xfrm>
              <a:off x="1791174" y="4623612"/>
              <a:ext cx="859030" cy="815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white"/>
                  </a:solidFill>
                </a:rPr>
                <a:t>CPU</a:t>
              </a:r>
              <a:endParaRPr lang="zh-CN" altLang="en-US" sz="1200" dirty="0">
                <a:solidFill>
                  <a:prstClr val="white"/>
                </a:solidFill>
              </a:endParaRPr>
            </a:p>
          </p:txBody>
        </p:sp>
        <p:sp>
          <p:nvSpPr>
            <p:cNvPr id="6" name="文本框 5"/>
            <p:cNvSpPr txBox="1"/>
            <p:nvPr/>
          </p:nvSpPr>
          <p:spPr>
            <a:xfrm>
              <a:off x="1858432" y="4223363"/>
              <a:ext cx="719843" cy="398165"/>
            </a:xfrm>
            <a:prstGeom prst="rect">
              <a:avLst/>
            </a:prstGeom>
            <a:noFill/>
          </p:spPr>
          <p:txBody>
            <a:bodyPr wrap="none" rtlCol="0">
              <a:spAutoFit/>
            </a:bodyPr>
            <a:lstStyle/>
            <a:p>
              <a:pPr algn="ctr"/>
              <a:r>
                <a:rPr lang="en-US" altLang="zh-CN" sz="900" dirty="0">
                  <a:solidFill>
                    <a:prstClr val="black"/>
                  </a:solidFill>
                </a:rPr>
                <a:t>Non DSA</a:t>
              </a:r>
            </a:p>
            <a:p>
              <a:pPr algn="ctr"/>
              <a:r>
                <a:rPr lang="en-US" altLang="zh-CN" sz="900" dirty="0">
                  <a:solidFill>
                    <a:prstClr val="black"/>
                  </a:solidFill>
                </a:rPr>
                <a:t>Pure CPU</a:t>
              </a:r>
              <a:endParaRPr lang="zh-CN" altLang="en-US" sz="900" dirty="0">
                <a:solidFill>
                  <a:prstClr val="black"/>
                </a:solidFill>
              </a:endParaRPr>
            </a:p>
          </p:txBody>
        </p:sp>
        <p:sp>
          <p:nvSpPr>
            <p:cNvPr id="7" name="文本框 6"/>
            <p:cNvSpPr txBox="1"/>
            <p:nvPr/>
          </p:nvSpPr>
          <p:spPr>
            <a:xfrm>
              <a:off x="1637067" y="5481162"/>
              <a:ext cx="1191602" cy="248852"/>
            </a:xfrm>
            <a:prstGeom prst="rect">
              <a:avLst/>
            </a:prstGeom>
            <a:noFill/>
          </p:spPr>
          <p:txBody>
            <a:bodyPr wrap="none" rtlCol="0">
              <a:spAutoFit/>
            </a:bodyPr>
            <a:lstStyle/>
            <a:p>
              <a:pPr algn="ctr"/>
              <a:r>
                <a:rPr lang="en-US" altLang="zh-CN" sz="900" dirty="0">
                  <a:solidFill>
                    <a:prstClr val="black"/>
                  </a:solidFill>
                </a:rPr>
                <a:t>Lack performance</a:t>
              </a:r>
              <a:endParaRPr lang="zh-CN" altLang="en-US" sz="900" dirty="0">
                <a:solidFill>
                  <a:prstClr val="black"/>
                </a:solidFill>
              </a:endParaRPr>
            </a:p>
          </p:txBody>
        </p:sp>
        <p:sp>
          <p:nvSpPr>
            <p:cNvPr id="8" name="椭圆 7"/>
            <p:cNvSpPr/>
            <p:nvPr/>
          </p:nvSpPr>
          <p:spPr>
            <a:xfrm>
              <a:off x="3197582" y="4619043"/>
              <a:ext cx="859030" cy="815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white"/>
                  </a:solidFill>
                </a:rPr>
                <a:t>CPU</a:t>
              </a:r>
              <a:endParaRPr lang="zh-CN" altLang="en-US" sz="1200" dirty="0">
                <a:solidFill>
                  <a:prstClr val="white"/>
                </a:solidFill>
              </a:endParaRPr>
            </a:p>
          </p:txBody>
        </p:sp>
        <p:sp>
          <p:nvSpPr>
            <p:cNvPr id="9" name="文本框 8"/>
            <p:cNvSpPr txBox="1"/>
            <p:nvPr/>
          </p:nvSpPr>
          <p:spPr>
            <a:xfrm>
              <a:off x="2972938" y="4227843"/>
              <a:ext cx="1381034" cy="398165"/>
            </a:xfrm>
            <a:prstGeom prst="rect">
              <a:avLst/>
            </a:prstGeom>
            <a:noFill/>
          </p:spPr>
          <p:txBody>
            <a:bodyPr wrap="none" rtlCol="0">
              <a:spAutoFit/>
            </a:bodyPr>
            <a:lstStyle/>
            <a:p>
              <a:pPr algn="ctr"/>
              <a:r>
                <a:rPr lang="en-US" altLang="zh-CN" sz="900" dirty="0">
                  <a:solidFill>
                    <a:prstClr val="black"/>
                  </a:solidFill>
                </a:rPr>
                <a:t>Coupled DSA</a:t>
              </a:r>
            </a:p>
            <a:p>
              <a:pPr algn="ctr"/>
              <a:r>
                <a:rPr lang="en-US" altLang="zh-CN" sz="900" dirty="0">
                  <a:solidFill>
                    <a:prstClr val="black"/>
                  </a:solidFill>
                </a:rPr>
                <a:t>+Vector</a:t>
              </a:r>
              <a:r>
                <a:rPr lang="zh-CN" altLang="en-US" sz="900" dirty="0">
                  <a:solidFill>
                    <a:prstClr val="black"/>
                  </a:solidFill>
                </a:rPr>
                <a:t>（</a:t>
              </a:r>
              <a:r>
                <a:rPr lang="en-US" altLang="zh-CN" sz="900" dirty="0">
                  <a:solidFill>
                    <a:prstClr val="black"/>
                  </a:solidFill>
                </a:rPr>
                <a:t>SVE/AVX</a:t>
              </a:r>
              <a:r>
                <a:rPr lang="zh-CN" altLang="en-US" sz="900" dirty="0">
                  <a:solidFill>
                    <a:prstClr val="black"/>
                  </a:solidFill>
                </a:rPr>
                <a:t>）</a:t>
              </a:r>
            </a:p>
          </p:txBody>
        </p:sp>
        <p:sp>
          <p:nvSpPr>
            <p:cNvPr id="10" name="文本框 9"/>
            <p:cNvSpPr txBox="1"/>
            <p:nvPr/>
          </p:nvSpPr>
          <p:spPr>
            <a:xfrm>
              <a:off x="2650206" y="5449626"/>
              <a:ext cx="2018009" cy="846099"/>
            </a:xfrm>
            <a:prstGeom prst="rect">
              <a:avLst/>
            </a:prstGeom>
            <a:noFill/>
          </p:spPr>
          <p:txBody>
            <a:bodyPr wrap="square" rtlCol="0">
              <a:spAutoFit/>
            </a:bodyPr>
            <a:lstStyle/>
            <a:p>
              <a:pPr algn="ctr"/>
              <a:r>
                <a:rPr lang="en-US" altLang="zh-CN" sz="900" dirty="0">
                  <a:solidFill>
                    <a:prstClr val="black"/>
                  </a:solidFill>
                </a:rPr>
                <a:t>Instruction level </a:t>
              </a:r>
            </a:p>
            <a:p>
              <a:pPr algn="ctr"/>
              <a:r>
                <a:rPr lang="en-US" altLang="zh-CN" sz="900" dirty="0">
                  <a:solidFill>
                    <a:prstClr val="black"/>
                  </a:solidFill>
                </a:rPr>
                <a:t>in-pipeline</a:t>
              </a:r>
            </a:p>
            <a:p>
              <a:pPr algn="ctr"/>
              <a:r>
                <a:rPr lang="en-US" altLang="zh-CN" sz="900" dirty="0">
                  <a:solidFill>
                    <a:prstClr val="black"/>
                  </a:solidFill>
                </a:rPr>
                <a:t>sync</a:t>
              </a:r>
            </a:p>
            <a:p>
              <a:pPr algn="ctr"/>
              <a:r>
                <a:rPr lang="en-US" altLang="zh-CN" sz="900" dirty="0">
                  <a:solidFill>
                    <a:prstClr val="black"/>
                  </a:solidFill>
                </a:rPr>
                <a:t>Extra context low frequency</a:t>
              </a:r>
            </a:p>
            <a:p>
              <a:pPr algn="ctr"/>
              <a:r>
                <a:rPr lang="en-US" altLang="zh-CN" sz="900" dirty="0">
                  <a:solidFill>
                    <a:prstClr val="black"/>
                  </a:solidFill>
                </a:rPr>
                <a:t>Hard scheduling</a:t>
              </a:r>
              <a:endParaRPr lang="zh-CN" altLang="en-US" sz="900" dirty="0">
                <a:solidFill>
                  <a:prstClr val="black"/>
                </a:solidFill>
              </a:endParaRPr>
            </a:p>
          </p:txBody>
        </p:sp>
        <p:sp>
          <p:nvSpPr>
            <p:cNvPr id="11" name="椭圆 10"/>
            <p:cNvSpPr/>
            <p:nvPr/>
          </p:nvSpPr>
          <p:spPr>
            <a:xfrm>
              <a:off x="5110169" y="4628751"/>
              <a:ext cx="859030" cy="815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white"/>
                  </a:solidFill>
                </a:rPr>
                <a:t>CPU</a:t>
              </a:r>
              <a:endParaRPr lang="zh-CN" altLang="en-US" sz="1200" dirty="0">
                <a:solidFill>
                  <a:prstClr val="white"/>
                </a:solidFill>
              </a:endParaRPr>
            </a:p>
          </p:txBody>
        </p:sp>
        <p:sp>
          <p:nvSpPr>
            <p:cNvPr id="12" name="文本框 11"/>
            <p:cNvSpPr txBox="1"/>
            <p:nvPr/>
          </p:nvSpPr>
          <p:spPr>
            <a:xfrm>
              <a:off x="4839732" y="4228142"/>
              <a:ext cx="1446607" cy="398164"/>
            </a:xfrm>
            <a:prstGeom prst="rect">
              <a:avLst/>
            </a:prstGeom>
            <a:noFill/>
          </p:spPr>
          <p:txBody>
            <a:bodyPr wrap="none" rtlCol="0">
              <a:spAutoFit/>
            </a:bodyPr>
            <a:lstStyle/>
            <a:p>
              <a:pPr algn="ctr"/>
              <a:r>
                <a:rPr lang="en-US" altLang="zh-CN" sz="900" dirty="0">
                  <a:solidFill>
                    <a:prstClr val="black"/>
                  </a:solidFill>
                </a:rPr>
                <a:t>Tight DSA</a:t>
              </a:r>
            </a:p>
            <a:p>
              <a:pPr algn="ctr"/>
              <a:r>
                <a:rPr lang="en-US" altLang="zh-CN" sz="900" dirty="0">
                  <a:solidFill>
                    <a:prstClr val="black"/>
                  </a:solidFill>
                </a:rPr>
                <a:t>+Matrix</a:t>
              </a:r>
              <a:r>
                <a:rPr lang="zh-CN" altLang="en-US" sz="900" dirty="0">
                  <a:solidFill>
                    <a:prstClr val="black"/>
                  </a:solidFill>
                </a:rPr>
                <a:t>（</a:t>
              </a:r>
              <a:r>
                <a:rPr lang="en-US" altLang="zh-CN" sz="900" dirty="0">
                  <a:solidFill>
                    <a:prstClr val="black"/>
                  </a:solidFill>
                </a:rPr>
                <a:t>MVE/AMX</a:t>
              </a:r>
              <a:r>
                <a:rPr lang="zh-CN" altLang="en-US" sz="900" dirty="0">
                  <a:solidFill>
                    <a:prstClr val="black"/>
                  </a:solidFill>
                </a:rPr>
                <a:t>）</a:t>
              </a:r>
            </a:p>
          </p:txBody>
        </p:sp>
        <p:sp>
          <p:nvSpPr>
            <p:cNvPr id="13" name="文本框 12"/>
            <p:cNvSpPr txBox="1"/>
            <p:nvPr/>
          </p:nvSpPr>
          <p:spPr>
            <a:xfrm>
              <a:off x="4636788" y="5473010"/>
              <a:ext cx="1854946" cy="696788"/>
            </a:xfrm>
            <a:prstGeom prst="rect">
              <a:avLst/>
            </a:prstGeom>
            <a:noFill/>
          </p:spPr>
          <p:txBody>
            <a:bodyPr wrap="square" rtlCol="0">
              <a:spAutoFit/>
            </a:bodyPr>
            <a:lstStyle/>
            <a:p>
              <a:pPr algn="ctr"/>
              <a:r>
                <a:rPr lang="en-US" altLang="zh-CN" sz="900" dirty="0">
                  <a:solidFill>
                    <a:prstClr val="black"/>
                  </a:solidFill>
                </a:rPr>
                <a:t>Instruction block level </a:t>
              </a:r>
            </a:p>
            <a:p>
              <a:pPr algn="ctr"/>
              <a:r>
                <a:rPr lang="en-US" altLang="zh-CN" sz="900" dirty="0">
                  <a:solidFill>
                    <a:prstClr val="black"/>
                  </a:solidFill>
                </a:rPr>
                <a:t>co-processor sync, </a:t>
              </a:r>
            </a:p>
            <a:p>
              <a:pPr algn="ctr"/>
              <a:r>
                <a:rPr lang="en-US" altLang="zh-CN" sz="900" dirty="0">
                  <a:solidFill>
                    <a:prstClr val="black"/>
                  </a:solidFill>
                </a:rPr>
                <a:t>Extra context low frequency</a:t>
              </a:r>
            </a:p>
            <a:p>
              <a:pPr algn="ctr"/>
              <a:r>
                <a:rPr lang="en-US" altLang="zh-CN" sz="900" dirty="0">
                  <a:solidFill>
                    <a:prstClr val="black"/>
                  </a:solidFill>
                </a:rPr>
                <a:t>Hard scheduling</a:t>
              </a:r>
              <a:endParaRPr lang="zh-CN" altLang="en-US" sz="900" dirty="0">
                <a:solidFill>
                  <a:prstClr val="black"/>
                </a:solidFill>
              </a:endParaRPr>
            </a:p>
          </p:txBody>
        </p:sp>
        <p:sp>
          <p:nvSpPr>
            <p:cNvPr id="14" name="椭圆 13"/>
            <p:cNvSpPr/>
            <p:nvPr/>
          </p:nvSpPr>
          <p:spPr>
            <a:xfrm>
              <a:off x="7112569" y="4665623"/>
              <a:ext cx="859030" cy="8155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white"/>
                  </a:solidFill>
                </a:rPr>
                <a:t>CPU</a:t>
              </a:r>
              <a:endParaRPr lang="zh-CN" altLang="en-US" sz="1200" dirty="0">
                <a:solidFill>
                  <a:prstClr val="white"/>
                </a:solidFill>
              </a:endParaRPr>
            </a:p>
          </p:txBody>
        </p:sp>
        <p:sp>
          <p:nvSpPr>
            <p:cNvPr id="15" name="文本框 14"/>
            <p:cNvSpPr txBox="1"/>
            <p:nvPr/>
          </p:nvSpPr>
          <p:spPr>
            <a:xfrm>
              <a:off x="6934443" y="4228142"/>
              <a:ext cx="1215282" cy="398164"/>
            </a:xfrm>
            <a:prstGeom prst="rect">
              <a:avLst/>
            </a:prstGeom>
            <a:noFill/>
          </p:spPr>
          <p:txBody>
            <a:bodyPr wrap="none" rtlCol="0">
              <a:spAutoFit/>
            </a:bodyPr>
            <a:lstStyle/>
            <a:p>
              <a:pPr algn="ctr"/>
              <a:r>
                <a:rPr lang="en-US" altLang="zh-CN" sz="900" dirty="0">
                  <a:solidFill>
                    <a:prstClr val="black"/>
                  </a:solidFill>
                </a:rPr>
                <a:t>Loose DSA</a:t>
              </a:r>
            </a:p>
            <a:p>
              <a:pPr algn="ctr"/>
              <a:r>
                <a:rPr lang="en-US" altLang="zh-CN" sz="900" dirty="0">
                  <a:solidFill>
                    <a:prstClr val="black"/>
                  </a:solidFill>
                </a:rPr>
                <a:t>+HAC</a:t>
              </a:r>
              <a:r>
                <a:rPr lang="zh-CN" altLang="en-US" sz="900" dirty="0">
                  <a:solidFill>
                    <a:prstClr val="black"/>
                  </a:solidFill>
                </a:rPr>
                <a:t>（</a:t>
              </a:r>
              <a:r>
                <a:rPr lang="en-US" altLang="zh-CN" sz="900" dirty="0">
                  <a:solidFill>
                    <a:prstClr val="black"/>
                  </a:solidFill>
                </a:rPr>
                <a:t>SEC/ZIP</a:t>
              </a:r>
              <a:r>
                <a:rPr lang="zh-CN" altLang="en-US" sz="900" dirty="0">
                  <a:solidFill>
                    <a:prstClr val="black"/>
                  </a:solidFill>
                </a:rPr>
                <a:t>）</a:t>
              </a:r>
            </a:p>
          </p:txBody>
        </p:sp>
        <p:sp>
          <p:nvSpPr>
            <p:cNvPr id="16" name="文本框 15"/>
            <p:cNvSpPr txBox="1"/>
            <p:nvPr/>
          </p:nvSpPr>
          <p:spPr>
            <a:xfrm>
              <a:off x="6737806" y="5473011"/>
              <a:ext cx="1854946" cy="696788"/>
            </a:xfrm>
            <a:prstGeom prst="rect">
              <a:avLst/>
            </a:prstGeom>
            <a:noFill/>
          </p:spPr>
          <p:txBody>
            <a:bodyPr wrap="square" rtlCol="0">
              <a:spAutoFit/>
            </a:bodyPr>
            <a:lstStyle/>
            <a:p>
              <a:pPr algn="ctr"/>
              <a:r>
                <a:rPr lang="en-US" altLang="zh-CN" sz="900" dirty="0">
                  <a:solidFill>
                    <a:prstClr val="black"/>
                  </a:solidFill>
                </a:rPr>
                <a:t>Function level </a:t>
              </a:r>
            </a:p>
            <a:p>
              <a:pPr algn="ctr"/>
              <a:r>
                <a:rPr lang="en-US" altLang="zh-CN" sz="900" dirty="0">
                  <a:solidFill>
                    <a:prstClr val="black"/>
                  </a:solidFill>
                </a:rPr>
                <a:t>asynchronous </a:t>
              </a:r>
            </a:p>
            <a:p>
              <a:pPr algn="ctr"/>
              <a:r>
                <a:rPr lang="en-US" altLang="zh-CN" sz="900" dirty="0">
                  <a:solidFill>
                    <a:prstClr val="black"/>
                  </a:solidFill>
                </a:rPr>
                <a:t>Heavy context needing 10x boost</a:t>
              </a:r>
              <a:endParaRPr lang="zh-CN" altLang="en-US" sz="900" dirty="0">
                <a:solidFill>
                  <a:prstClr val="black"/>
                </a:solidFill>
              </a:endParaRPr>
            </a:p>
          </p:txBody>
        </p:sp>
        <p:sp>
          <p:nvSpPr>
            <p:cNvPr id="17" name="椭圆 16"/>
            <p:cNvSpPr/>
            <p:nvPr/>
          </p:nvSpPr>
          <p:spPr>
            <a:xfrm>
              <a:off x="8912184" y="4781028"/>
              <a:ext cx="613593" cy="5821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prstClr val="white"/>
                  </a:solidFill>
                </a:rPr>
                <a:t>CPU</a:t>
              </a:r>
              <a:endParaRPr lang="zh-CN" altLang="en-US" sz="900" dirty="0">
                <a:solidFill>
                  <a:prstClr val="white"/>
                </a:solidFill>
              </a:endParaRPr>
            </a:p>
          </p:txBody>
        </p:sp>
        <p:sp>
          <p:nvSpPr>
            <p:cNvPr id="18" name="文本框 17"/>
            <p:cNvSpPr txBox="1"/>
            <p:nvPr/>
          </p:nvSpPr>
          <p:spPr>
            <a:xfrm>
              <a:off x="8758612" y="4227544"/>
              <a:ext cx="1637861" cy="398164"/>
            </a:xfrm>
            <a:prstGeom prst="rect">
              <a:avLst/>
            </a:prstGeom>
            <a:noFill/>
          </p:spPr>
          <p:txBody>
            <a:bodyPr wrap="none" rtlCol="0">
              <a:spAutoFit/>
            </a:bodyPr>
            <a:lstStyle/>
            <a:p>
              <a:pPr algn="ctr"/>
              <a:r>
                <a:rPr lang="en-US" altLang="zh-CN" sz="900" dirty="0">
                  <a:solidFill>
                    <a:prstClr val="black"/>
                  </a:solidFill>
                </a:rPr>
                <a:t>Offline DSA</a:t>
              </a:r>
            </a:p>
            <a:p>
              <a:pPr algn="ctr"/>
              <a:r>
                <a:rPr lang="en-US" altLang="zh-CN" sz="900" dirty="0">
                  <a:solidFill>
                    <a:prstClr val="black"/>
                  </a:solidFill>
                </a:rPr>
                <a:t>+DPU</a:t>
              </a:r>
              <a:r>
                <a:rPr lang="zh-CN" altLang="en-US" sz="900" dirty="0">
                  <a:solidFill>
                    <a:prstClr val="black"/>
                  </a:solidFill>
                </a:rPr>
                <a:t>（</a:t>
              </a:r>
              <a:r>
                <a:rPr lang="en-US" altLang="zh-CN" sz="900" dirty="0">
                  <a:solidFill>
                    <a:prstClr val="black"/>
                  </a:solidFill>
                </a:rPr>
                <a:t>Ascend/GPGPU</a:t>
              </a:r>
              <a:r>
                <a:rPr lang="zh-CN" altLang="en-US" sz="900" dirty="0">
                  <a:solidFill>
                    <a:prstClr val="black"/>
                  </a:solidFill>
                </a:rPr>
                <a:t>）</a:t>
              </a:r>
            </a:p>
          </p:txBody>
        </p:sp>
        <p:sp>
          <p:nvSpPr>
            <p:cNvPr id="19" name="文本框 18"/>
            <p:cNvSpPr txBox="1"/>
            <p:nvPr/>
          </p:nvSpPr>
          <p:spPr>
            <a:xfrm>
              <a:off x="8761923" y="5550351"/>
              <a:ext cx="1854946" cy="547476"/>
            </a:xfrm>
            <a:prstGeom prst="rect">
              <a:avLst/>
            </a:prstGeom>
            <a:noFill/>
          </p:spPr>
          <p:txBody>
            <a:bodyPr wrap="square" rtlCol="0">
              <a:spAutoFit/>
            </a:bodyPr>
            <a:lstStyle/>
            <a:p>
              <a:pPr algn="ctr"/>
              <a:r>
                <a:rPr lang="en-US" altLang="zh-CN" sz="900" dirty="0">
                  <a:solidFill>
                    <a:prstClr val="black"/>
                  </a:solidFill>
                </a:rPr>
                <a:t>Application level </a:t>
              </a:r>
            </a:p>
            <a:p>
              <a:pPr algn="ctr"/>
              <a:r>
                <a:rPr lang="en-US" altLang="zh-CN" sz="900" dirty="0">
                  <a:solidFill>
                    <a:prstClr val="black"/>
                  </a:solidFill>
                </a:rPr>
                <a:t>asynchronous </a:t>
              </a:r>
            </a:p>
            <a:p>
              <a:pPr algn="ctr"/>
              <a:r>
                <a:rPr lang="en-US" altLang="zh-CN" sz="900" dirty="0">
                  <a:solidFill>
                    <a:prstClr val="black"/>
                  </a:solidFill>
                </a:rPr>
                <a:t>Fully offload</a:t>
              </a:r>
              <a:endParaRPr lang="zh-CN" altLang="en-US" sz="900" dirty="0">
                <a:solidFill>
                  <a:prstClr val="black"/>
                </a:solidFill>
              </a:endParaRPr>
            </a:p>
          </p:txBody>
        </p:sp>
        <p:sp>
          <p:nvSpPr>
            <p:cNvPr id="20" name="椭圆 19"/>
            <p:cNvSpPr/>
            <p:nvPr/>
          </p:nvSpPr>
          <p:spPr>
            <a:xfrm>
              <a:off x="4053767" y="4903664"/>
              <a:ext cx="325961" cy="28803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black"/>
                  </a:solidFill>
                </a:rPr>
                <a:t>V</a:t>
              </a:r>
              <a:endParaRPr lang="zh-CN" altLang="en-US" sz="1200" dirty="0">
                <a:solidFill>
                  <a:prstClr val="black"/>
                </a:solidFill>
              </a:endParaRPr>
            </a:p>
          </p:txBody>
        </p:sp>
        <p:sp>
          <p:nvSpPr>
            <p:cNvPr id="21" name="椭圆 20"/>
            <p:cNvSpPr/>
            <p:nvPr/>
          </p:nvSpPr>
          <p:spPr>
            <a:xfrm>
              <a:off x="5978315" y="4903665"/>
              <a:ext cx="325961" cy="28803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prstClr val="black"/>
                  </a:solidFill>
                </a:rPr>
                <a:t>M</a:t>
              </a:r>
              <a:endParaRPr lang="zh-CN" altLang="en-US" sz="1200" dirty="0">
                <a:solidFill>
                  <a:prstClr val="black"/>
                </a:solidFill>
              </a:endParaRPr>
            </a:p>
          </p:txBody>
        </p:sp>
        <p:sp>
          <p:nvSpPr>
            <p:cNvPr id="22" name="椭圆 21"/>
            <p:cNvSpPr/>
            <p:nvPr/>
          </p:nvSpPr>
          <p:spPr>
            <a:xfrm>
              <a:off x="7979971" y="4782314"/>
              <a:ext cx="613593" cy="58215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prstClr val="black"/>
                  </a:solidFill>
                </a:rPr>
                <a:t>HAC</a:t>
              </a:r>
              <a:endParaRPr lang="zh-CN" altLang="en-US" sz="900" dirty="0">
                <a:solidFill>
                  <a:prstClr val="black"/>
                </a:solidFill>
              </a:endParaRPr>
            </a:p>
          </p:txBody>
        </p:sp>
        <p:sp>
          <p:nvSpPr>
            <p:cNvPr id="23" name="椭圆 22"/>
            <p:cNvSpPr/>
            <p:nvPr/>
          </p:nvSpPr>
          <p:spPr>
            <a:xfrm>
              <a:off x="9533565" y="4570535"/>
              <a:ext cx="1043107" cy="98966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prstClr val="black"/>
                  </a:solidFill>
                </a:rPr>
                <a:t>DPU/GPU/NPU</a:t>
              </a:r>
              <a:endParaRPr lang="zh-CN" altLang="en-US" sz="900" dirty="0">
                <a:solidFill>
                  <a:prstClr val="black"/>
                </a:solidFill>
              </a:endParaRPr>
            </a:p>
          </p:txBody>
        </p:sp>
      </p:grpSp>
    </p:spTree>
    <p:extLst>
      <p:ext uri="{BB962C8B-B14F-4D97-AF65-F5344CB8AC3E}">
        <p14:creationId xmlns:p14="http://schemas.microsoft.com/office/powerpoint/2010/main" val="3258166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Important concepts</a:t>
            </a:r>
            <a:endParaRPr lang="zh-CN" altLang="en-US" b="1" dirty="0"/>
          </a:p>
        </p:txBody>
      </p:sp>
      <p:sp>
        <p:nvSpPr>
          <p:cNvPr id="3" name="内容占位符 2"/>
          <p:cNvSpPr>
            <a:spLocks noGrp="1"/>
          </p:cNvSpPr>
          <p:nvPr>
            <p:ph idx="1"/>
          </p:nvPr>
        </p:nvSpPr>
        <p:spPr/>
        <p:txBody>
          <a:bodyPr/>
          <a:lstStyle/>
          <a:p>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56791"/>
            <a:ext cx="9144000" cy="3805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80489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1573</TotalTime>
  <Words>1205</Words>
  <Application>Microsoft Office PowerPoint</Application>
  <PresentationFormat>全屏显示(4:3)</PresentationFormat>
  <Paragraphs>144</Paragraphs>
  <Slides>21</Slides>
  <Notes>3</Notes>
  <HiddenSlides>0</HiddenSlides>
  <MMClips>0</MMClips>
  <ScaleCrop>false</ScaleCrop>
  <HeadingPairs>
    <vt:vector size="6" baseType="variant">
      <vt:variant>
        <vt:lpstr>已用的字体</vt:lpstr>
      </vt:variant>
      <vt:variant>
        <vt:i4>10</vt:i4>
      </vt:variant>
      <vt:variant>
        <vt:lpstr>主题</vt:lpstr>
      </vt:variant>
      <vt:variant>
        <vt:i4>6</vt:i4>
      </vt:variant>
      <vt:variant>
        <vt:lpstr>幻灯片标题</vt:lpstr>
      </vt:variant>
      <vt:variant>
        <vt:i4>21</vt:i4>
      </vt:variant>
    </vt:vector>
  </HeadingPairs>
  <TitlesOfParts>
    <vt:vector size="37" baseType="lpstr">
      <vt:lpstr>Huawei Sans</vt:lpstr>
      <vt:lpstr>PMingLiU-ExtB</vt:lpstr>
      <vt:lpstr>方正兰亭黑简体</vt:lpstr>
      <vt:lpstr>宋体</vt:lpstr>
      <vt:lpstr>微软雅黑</vt:lpstr>
      <vt:lpstr>Arial</vt:lpstr>
      <vt:lpstr>Calibri</vt:lpstr>
      <vt:lpstr>Calibri Light</vt:lpstr>
      <vt:lpstr>Impact</vt:lpstr>
      <vt:lpstr>Wingdings</vt:lpstr>
      <vt:lpstr>Office 主题</vt:lpstr>
      <vt:lpstr>1_Office 主题</vt:lpstr>
      <vt:lpstr>3_内容页模板</vt:lpstr>
      <vt:lpstr>4_内容页模板</vt:lpstr>
      <vt:lpstr>5_内容页模板</vt:lpstr>
      <vt:lpstr>6_内容页模板</vt:lpstr>
      <vt:lpstr>PowerPoint 演示文稿</vt:lpstr>
      <vt:lpstr>PowerPoint 演示文稿</vt:lpstr>
      <vt:lpstr>Abstract</vt:lpstr>
      <vt:lpstr>What is HPC?</vt:lpstr>
      <vt:lpstr>What is HPC?</vt:lpstr>
      <vt:lpstr>What is HPC? - The definition given by Huawei</vt:lpstr>
      <vt:lpstr>Features of different application of HPC</vt:lpstr>
      <vt:lpstr>Why Do We Need HPC?</vt:lpstr>
      <vt:lpstr>Why Do We Need HPC?</vt:lpstr>
      <vt:lpstr>Why Do We Need HPC?</vt:lpstr>
      <vt:lpstr>Why Do We Need HPC?</vt:lpstr>
      <vt:lpstr>Why Do We Need HPC?</vt:lpstr>
      <vt:lpstr>Why Do We Need HPC?</vt:lpstr>
      <vt:lpstr>Big Data: The Four Vs</vt:lpstr>
      <vt:lpstr>Parallel Programming Paradigms:  MPI and MapReduce</vt:lpstr>
      <vt:lpstr>Granularity</vt:lpstr>
      <vt:lpstr>Granularity</vt:lpstr>
      <vt:lpstr>Architecture of HPC</vt:lpstr>
      <vt:lpstr>Heterogeneous parallelism </vt:lpstr>
      <vt:lpstr>Homogeneous and heterogeneous parallelism</vt:lpstr>
      <vt:lpstr>Important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Glance at High Performance Computing (HPC)</dc:title>
  <dc:creator>Administrator</dc:creator>
  <cp:lastModifiedBy>D</cp:lastModifiedBy>
  <cp:revision>19</cp:revision>
  <dcterms:created xsi:type="dcterms:W3CDTF">2019-12-10T06:14:19Z</dcterms:created>
  <dcterms:modified xsi:type="dcterms:W3CDTF">2025-05-08T00:24:56Z</dcterms:modified>
</cp:coreProperties>
</file>