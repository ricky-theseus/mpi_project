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7" r:id="rId3"/>
    <p:sldId id="278" r:id="rId4"/>
    <p:sldId id="28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510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86F7A-4C13-4512-9546-7A2E13DD49E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5BE2B-728A-4539-B86A-F2CEE53DE51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8C279-DE8B-468B-BC28-587297351CC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8769B-FD91-4354-84DF-C542D236D27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9DB7B-3909-433D-9621-020AC3631DB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2487E-DA75-40AD-AFB9-B7E66780091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891DE-9EFB-436C-8098-DA346D61F7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019AB3-A56A-40DC-B315-4C9AF1D9AEF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8A4FD-48AA-4EB3-ADAB-90805DF574A9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9823B-989B-4FE0-A31C-A45838B716C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83F5B-15CF-41AD-AAF7-C365C83FF08D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C2566-FD93-41C5-8007-9C6D9D8DF8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8473D-2D84-413D-97BD-015ADE628A5A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5DC8D-C4F0-4F0D-B826-92573808DA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A7D9F-B4F6-4B7D-8D30-9FDE43AA2DD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B07F97-2FC2-4714-850C-6700199D619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E2CA6-8D79-400E-AD1E-56E3E0DA2BA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9D1E1-5454-45C3-93DA-86C3DA9ECB4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52424-72F4-440E-8E03-587598E5B11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DF9EC1-C088-4DAC-AB69-D10F40584BD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EF9C9-4C84-4072-AFAA-D241A8D58A5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0597D9-2D04-4C83-915B-79D3B5D496F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3BA994-DBC0-4389-9AC3-50B67B3923E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DA430D88-0AE5-4EDA-BDD3-1B97B5FCD56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GI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GI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494235" y="2931718"/>
            <a:ext cx="6128147" cy="60016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85800">
              <a:defRPr/>
            </a:pPr>
            <a:r>
              <a:rPr lang="en-US" altLang="zh-CN" sz="3300" b="1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High Performance Computation </a:t>
            </a:r>
            <a:endParaRPr lang="zh-CN" altLang="en-US" sz="3300" b="1" spc="225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 bwMode="auto">
          <a:xfrm>
            <a:off x="3136041" y="3861598"/>
            <a:ext cx="2884884" cy="271463"/>
            <a:chOff x="4154888" y="3453573"/>
            <a:chExt cx="3846874" cy="361046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4154888" y="3453573"/>
              <a:ext cx="3846874" cy="0"/>
            </a:xfrm>
            <a:prstGeom prst="line">
              <a:avLst/>
            </a:prstGeom>
            <a:ln w="25400">
              <a:solidFill>
                <a:srgbClr val="044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等腰三角形 27"/>
            <p:cNvSpPr/>
            <p:nvPr/>
          </p:nvSpPr>
          <p:spPr>
            <a:xfrm flipV="1">
              <a:off x="5872725" y="3459907"/>
              <a:ext cx="411201" cy="354712"/>
            </a:xfrm>
            <a:prstGeom prst="triangle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2178845" y="4123138"/>
            <a:ext cx="222527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China University of Geosciences</a:t>
            </a:r>
            <a:endParaRPr lang="zh-CN" altLang="en-US" sz="15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4954456" y="4123138"/>
            <a:ext cx="192285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 err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Chengjun</a:t>
            </a:r>
            <a:r>
              <a:rPr lang="en-US" altLang="zh-CN" sz="15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Li</a:t>
            </a:r>
            <a:endParaRPr lang="zh-CN" altLang="en-US" sz="15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00151" y="2728120"/>
            <a:ext cx="6717506" cy="1879865"/>
          </a:xfrm>
          <a:prstGeom prst="rect">
            <a:avLst/>
          </a:prstGeom>
          <a:noFill/>
          <a:ln w="25400">
            <a:solidFill>
              <a:srgbClr val="044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 bwMode="auto">
          <a:xfrm>
            <a:off x="7717632" y="4414973"/>
            <a:ext cx="832247" cy="847725"/>
            <a:chOff x="2666985" y="682103"/>
            <a:chExt cx="1109138" cy="1131217"/>
          </a:xfrm>
        </p:grpSpPr>
        <p:sp>
          <p:nvSpPr>
            <p:cNvPr id="40" name="矩形 39"/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 bwMode="auto">
          <a:xfrm>
            <a:off x="594122" y="2131618"/>
            <a:ext cx="832247" cy="848915"/>
            <a:chOff x="2666985" y="682103"/>
            <a:chExt cx="1109138" cy="1131217"/>
          </a:xfrm>
        </p:grpSpPr>
        <p:sp>
          <p:nvSpPr>
            <p:cNvPr id="45" name="矩形 44"/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49" name="矩形 48"/>
          <p:cNvSpPr/>
          <p:nvPr/>
        </p:nvSpPr>
        <p:spPr>
          <a:xfrm>
            <a:off x="0" y="847726"/>
            <a:ext cx="9144000" cy="27979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674894" y="5749528"/>
            <a:ext cx="469106" cy="25122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-1" y="5749528"/>
            <a:ext cx="8674894" cy="25122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83974" y="2466167"/>
            <a:ext cx="4757090" cy="369332"/>
          </a:xfrm>
          <a:prstGeom prst="rect">
            <a:avLst/>
          </a:prstGeom>
          <a:blipFill dpi="0" rotWithShape="1">
            <a:blip r:embed="rId1"/>
            <a:srcRect/>
            <a:stretch>
              <a:fillRect t="-45000"/>
            </a:stretch>
          </a:blipFill>
        </p:spPr>
        <p:txBody>
          <a:bodyPr wrap="square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b="1" dirty="0">
              <a:solidFill>
                <a:srgbClr val="044875"/>
              </a:solidFill>
              <a:latin typeface="PMingLiU-ExtB" panose="02020500000000000000" pitchFamily="18" charset="-12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67055" y="1455359"/>
            <a:ext cx="887401" cy="85075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6" grpId="0"/>
      <p:bldP spid="9" grpId="0" animBg="1"/>
      <p:bldP spid="49" grpId="0" animBg="1"/>
      <p:bldP spid="53" grpId="0" animBg="1"/>
      <p:bldP spid="5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368153"/>
            <a:ext cx="9144000" cy="213717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" y="2855119"/>
            <a:ext cx="822722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709613" y="2357438"/>
            <a:ext cx="1154906" cy="141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8625" dirty="0">
                <a:solidFill>
                  <a:prstClr val="white"/>
                </a:solidFill>
                <a:latin typeface="Impact" panose="020B0806030902050204" pitchFamily="34" charset="0"/>
              </a:rPr>
              <a:t>4</a:t>
            </a:r>
            <a:endParaRPr lang="zh-CN" altLang="en-US" sz="8625" dirty="0">
              <a:solidFill>
                <a:prstClr val="white"/>
              </a:solidFill>
              <a:latin typeface="Impact" panose="020B080603090205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74044" y="2855119"/>
            <a:ext cx="7269956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0" y="3581400"/>
            <a:ext cx="9144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Parallel Sorting</a:t>
            </a:r>
            <a:endParaRPr lang="zh-CN" altLang="en-US" sz="44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10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Abstract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altLang="zh-CN" sz="3200" dirty="0"/>
              <a:t>There exist plenty sequential algorithms to sort n numbers that achieve the optimal time complexity of O(</a:t>
            </a:r>
            <a:r>
              <a:rPr lang="en-US" altLang="zh-CN" sz="3200" dirty="0" err="1"/>
              <a:t>nlogn</a:t>
            </a:r>
            <a:r>
              <a:rPr lang="en-US" altLang="zh-CN" sz="3200" dirty="0"/>
              <a:t>). </a:t>
            </a:r>
            <a:endParaRPr lang="en-US" altLang="zh-CN" sz="3200" dirty="0"/>
          </a:p>
          <a:p>
            <a:pPr marL="342900" indent="-342900" eaLnBrk="1" hangingPunct="1">
              <a:spcBef>
                <a:spcPct val="20000"/>
              </a:spcBef>
            </a:pPr>
            <a:r>
              <a:rPr lang="en-US" altLang="zh-CN" sz="3200" dirty="0"/>
              <a:t>We can sort on parallel architectures with distributed memory by considering the granularity of local sorting.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zh-CN" sz="4400" b="1" dirty="0"/>
              <a:t>Quick Review of Sequential Sorting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altLang="zh-CN" sz="3200" dirty="0" err="1"/>
              <a:t>BubbleSort</a:t>
            </a:r>
            <a:r>
              <a:rPr lang="en-US" altLang="zh-CN" sz="3200" dirty="0"/>
              <a:t>. </a:t>
            </a:r>
            <a:endParaRPr lang="en-US" altLang="zh-CN" sz="3200" dirty="0"/>
          </a:p>
          <a:p>
            <a:pPr marL="342900" indent="-342900" eaLnBrk="1" hangingPunct="1">
              <a:spcBef>
                <a:spcPct val="20000"/>
              </a:spcBef>
            </a:pPr>
            <a:r>
              <a:rPr lang="en-US" altLang="zh-CN" sz="3200" dirty="0"/>
              <a:t>This algorithm is quite naive but very easy to program. Its worst-case complexity for sorting n elements is quadratic, in O(n</a:t>
            </a:r>
            <a:r>
              <a:rPr lang="en-US" altLang="zh-CN" sz="3200" baseline="30000" dirty="0"/>
              <a:t>2</a:t>
            </a:r>
            <a:r>
              <a:rPr lang="en-US" altLang="zh-CN" sz="3200" dirty="0"/>
              <a:t> ).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Quick Review of Sequential Sorting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altLang="zh-CN" sz="3200" dirty="0" err="1"/>
              <a:t>QuickSort</a:t>
            </a:r>
            <a:r>
              <a:rPr lang="en-US" altLang="zh-CN" sz="3200" dirty="0"/>
              <a:t>.</a:t>
            </a:r>
            <a:endParaRPr lang="en-US" altLang="zh-CN" sz="3200" dirty="0"/>
          </a:p>
          <a:p>
            <a:pPr marL="342900" indent="-342900" eaLnBrk="1" hangingPunct="1">
              <a:spcBef>
                <a:spcPct val="20000"/>
              </a:spcBef>
            </a:pPr>
            <a:r>
              <a:rPr lang="en-US" altLang="zh-CN" sz="3200" dirty="0"/>
              <a:t>It is a randomized recursive algorithm that chooses an element, called the pivot , and cost O(</a:t>
            </a:r>
            <a:r>
              <a:rPr lang="en-US" altLang="zh-CN" sz="3200" dirty="0" err="1"/>
              <a:t>nlogn</a:t>
            </a:r>
            <a:r>
              <a:rPr lang="en-US" altLang="zh-CN" sz="3200" dirty="0"/>
              <a:t>) in amortized time.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Quick Review of Sequential Sorting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 err="1"/>
              <a:t>MergeSort</a:t>
            </a:r>
            <a:r>
              <a:rPr lang="en-US" altLang="zh-CN" sz="3200" dirty="0"/>
              <a:t>.</a:t>
            </a:r>
            <a:endParaRPr lang="en-US" altLang="zh-CN" sz="3200" dirty="0"/>
          </a:p>
          <a:p>
            <a:r>
              <a:rPr lang="en-US" altLang="zh-CN" sz="3200" dirty="0"/>
              <a:t>The main primitive consists in merging two sorted lists into a sorted list: this can be done easily in linear time, and therefore </a:t>
            </a:r>
            <a:r>
              <a:rPr lang="en-US" altLang="zh-CN" sz="3200" dirty="0" err="1"/>
              <a:t>MergeSort</a:t>
            </a:r>
            <a:r>
              <a:rPr lang="en-US" altLang="zh-CN" sz="3200" dirty="0"/>
              <a:t> costs overall O(</a:t>
            </a:r>
            <a:r>
              <a:rPr lang="en-US" altLang="zh-CN" sz="3200" dirty="0" err="1"/>
              <a:t>nlogn</a:t>
            </a:r>
            <a:r>
              <a:rPr lang="en-US" altLang="zh-CN" sz="3200" dirty="0"/>
              <a:t>) time.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Parallel Sorting by Merging Lists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5" name="Picture 1" descr="C:\Users\Jeff\AppData\Roaming\Tencent\Users\79050946\QQ\WinTemp\RichOle\}86UG[9~S[O1PA@BAZJA3%U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23528" y="1844824"/>
            <a:ext cx="8568952" cy="35283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zh-CN" sz="4400" b="1" dirty="0"/>
              <a:t>Parallel Sorting by Merging Lists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/>
              <a:t>By a fine-grained parallelism, we use </a:t>
            </a:r>
            <a:r>
              <a:rPr lang="en-US" altLang="zh-CN" sz="3200" i="1" dirty="0"/>
              <a:t>P</a:t>
            </a:r>
            <a:r>
              <a:rPr lang="en-US" altLang="zh-CN" sz="3200" dirty="0"/>
              <a:t>=</a:t>
            </a:r>
            <a:r>
              <a:rPr lang="en-US" altLang="zh-CN" sz="3200" i="1" dirty="0"/>
              <a:t>n </a:t>
            </a:r>
            <a:r>
              <a:rPr lang="en-US" altLang="zh-CN" sz="3200" dirty="0"/>
              <a:t>processes to divide data and merge recursively the sorted sub-lists. </a:t>
            </a:r>
            <a:endParaRPr lang="en-US" altLang="zh-CN" sz="3200" dirty="0"/>
          </a:p>
          <a:p>
            <a:r>
              <a:rPr lang="en-US" altLang="zh-CN" sz="3200" dirty="0"/>
              <a:t>Sequential complexity: t</a:t>
            </a:r>
            <a:r>
              <a:rPr lang="en-US" altLang="zh-CN" sz="3200" baseline="-25000" dirty="0"/>
              <a:t>seq</a:t>
            </a:r>
            <a:r>
              <a:rPr lang="en-US" altLang="zh-CN" sz="3200" dirty="0"/>
              <a:t>= O(</a:t>
            </a:r>
            <a:r>
              <a:rPr lang="en-US" altLang="zh-CN" sz="3200" dirty="0" err="1"/>
              <a:t>nlogn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r>
              <a:rPr lang="en-US" altLang="zh-CN" sz="3200" dirty="0"/>
              <a:t>Parallel complexity: t</a:t>
            </a:r>
            <a:r>
              <a:rPr lang="en-US" altLang="zh-CN" sz="3200" baseline="-25000" dirty="0"/>
              <a:t>par</a:t>
            </a:r>
            <a:r>
              <a:rPr lang="en-US" altLang="zh-CN" sz="3200" dirty="0"/>
              <a:t>=O(n)</a:t>
            </a:r>
            <a:endParaRPr lang="en-US" altLang="zh-CN" sz="3200" dirty="0"/>
          </a:p>
          <a:p>
            <a:r>
              <a:rPr lang="en-US" altLang="zh-CN" sz="3200" dirty="0"/>
              <a:t>This method is thus inefficient since the obtained speed-up t</a:t>
            </a:r>
            <a:r>
              <a:rPr lang="en-US" altLang="zh-CN" sz="3200" baseline="-25000" dirty="0"/>
              <a:t>seq</a:t>
            </a:r>
            <a:r>
              <a:rPr lang="en-US" altLang="zh-CN" sz="3200" dirty="0"/>
              <a:t>/t</a:t>
            </a:r>
            <a:r>
              <a:rPr lang="en-US" altLang="zh-CN" sz="3200" baseline="-25000" dirty="0"/>
              <a:t>par</a:t>
            </a:r>
            <a:r>
              <a:rPr lang="en-US" altLang="zh-CN" sz="3200" dirty="0"/>
              <a:t>= O(</a:t>
            </a:r>
            <a:r>
              <a:rPr lang="en-US" altLang="zh-CN" sz="3200" dirty="0" err="1"/>
              <a:t>logn</a:t>
            </a:r>
            <a:r>
              <a:rPr lang="en-US" altLang="zh-CN" sz="3200" dirty="0"/>
              <a:t>).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Parallel Sorting </a:t>
            </a:r>
            <a:r>
              <a:rPr lang="en-US" altLang="zh-CN" sz="4400" b="1"/>
              <a:t>Using Ranks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Can we sort in parallel in 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dirty="0" err="1"/>
              <a:t>log</a:t>
            </a:r>
            <a:r>
              <a:rPr lang="en-US" altLang="zh-CN" sz="2800" i="1" dirty="0" err="1"/>
              <a:t>n</a:t>
            </a:r>
            <a:r>
              <a:rPr lang="en-US" altLang="zh-CN" sz="2800" dirty="0"/>
              <a:t>) time?</a:t>
            </a:r>
            <a:endParaRPr lang="en-US" altLang="zh-CN" sz="2800" dirty="0"/>
          </a:p>
          <a:p>
            <a:r>
              <a:rPr lang="en-US" altLang="zh-CN" sz="2800" dirty="0"/>
              <a:t>For each data element </a:t>
            </a:r>
            <a:r>
              <a:rPr lang="en-US" altLang="zh-CN" sz="2800" i="1" dirty="0"/>
              <a:t>X</a:t>
            </a:r>
            <a:r>
              <a:rPr lang="en-US" altLang="zh-CN" sz="2800" dirty="0"/>
              <a:t>[</a:t>
            </a:r>
            <a:r>
              <a:rPr lang="en-US" altLang="zh-CN" sz="2800" i="1" dirty="0" err="1"/>
              <a:t>i</a:t>
            </a:r>
            <a:r>
              <a:rPr lang="en-US" altLang="zh-CN" sz="2800" dirty="0"/>
              <a:t>], let us compute its </a:t>
            </a:r>
            <a:r>
              <a:rPr lang="en-US" altLang="zh-CN" sz="2800" i="1" dirty="0"/>
              <a:t>rank</a:t>
            </a:r>
            <a:r>
              <a:rPr lang="en-US" altLang="zh-CN" sz="2800" dirty="0"/>
              <a:t> in the array defined </a:t>
            </a:r>
            <a:r>
              <a:rPr lang="en-US" altLang="zh-CN" sz="2800" dirty="0" err="1"/>
              <a:t>by:</a:t>
            </a:r>
            <a:r>
              <a:rPr lang="en-US" altLang="zh-CN" sz="2800" i="1" dirty="0" err="1"/>
              <a:t>R</a:t>
            </a:r>
            <a:r>
              <a:rPr lang="en-US" altLang="zh-CN" sz="2800" dirty="0"/>
              <a:t>[</a:t>
            </a:r>
            <a:r>
              <a:rPr lang="en-US" altLang="zh-CN" sz="2800" i="1" dirty="0" err="1"/>
              <a:t>i</a:t>
            </a:r>
            <a:r>
              <a:rPr lang="en-US" altLang="zh-CN" sz="2800" dirty="0"/>
              <a:t>]=|{</a:t>
            </a:r>
            <a:r>
              <a:rPr lang="en-US" altLang="zh-CN" sz="2800" i="1" dirty="0"/>
              <a:t>X</a:t>
            </a:r>
            <a:r>
              <a:rPr lang="en-US" altLang="zh-CN" sz="2800" dirty="0"/>
              <a:t>[</a:t>
            </a:r>
            <a:r>
              <a:rPr lang="en-US" altLang="zh-CN" sz="2800" i="1" dirty="0"/>
              <a:t>j</a:t>
            </a:r>
            <a:r>
              <a:rPr lang="en-US" altLang="zh-CN" sz="2800" dirty="0"/>
              <a:t>]∈</a:t>
            </a:r>
            <a:r>
              <a:rPr lang="en-US" altLang="zh-CN" sz="2800" i="1" dirty="0"/>
              <a:t>X</a:t>
            </a:r>
            <a:r>
              <a:rPr lang="en-US" altLang="zh-CN" sz="2800" dirty="0"/>
              <a:t> ∣ </a:t>
            </a:r>
            <a:r>
              <a:rPr lang="en-US" altLang="zh-CN" sz="2800" i="1" dirty="0"/>
              <a:t>X</a:t>
            </a:r>
            <a:r>
              <a:rPr lang="en-US" altLang="zh-CN" sz="2800" dirty="0"/>
              <a:t>[</a:t>
            </a:r>
            <a:r>
              <a:rPr lang="en-US" altLang="zh-CN" sz="2800" i="1" dirty="0"/>
              <a:t>j</a:t>
            </a:r>
            <a:r>
              <a:rPr lang="en-US" altLang="zh-CN" sz="2800" dirty="0"/>
              <a:t>]&lt;</a:t>
            </a:r>
            <a:r>
              <a:rPr lang="en-US" altLang="zh-CN" sz="2800" i="1" dirty="0"/>
              <a:t>X</a:t>
            </a:r>
            <a:r>
              <a:rPr lang="en-US" altLang="zh-CN" sz="2800" dirty="0"/>
              <a:t>[</a:t>
            </a:r>
            <a:r>
              <a:rPr lang="en-US" altLang="zh-CN" sz="2800" i="1" dirty="0" err="1"/>
              <a:t>i</a:t>
            </a:r>
            <a:r>
              <a:rPr lang="en-US" altLang="zh-CN" sz="2800" dirty="0"/>
              <a:t>]}. </a:t>
            </a:r>
            <a:endParaRPr lang="en-US" altLang="zh-CN" sz="28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Once the rank of every element is given, sorting can be done.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9457" name="Picture 1" descr="C:\Users\Jeff\AppData\Roaming\Tencent\Users\79050946\QQ\WinTemp\RichOle\MM5((O6M{0%6MSL5W3I]XE2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51520" y="3429000"/>
            <a:ext cx="8250917" cy="15841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C code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t</a:t>
            </a:r>
            <a:r>
              <a:rPr lang="en-US" altLang="zh-CN" baseline="-25000" dirty="0" err="1"/>
              <a:t>seq</a:t>
            </a:r>
            <a:r>
              <a:rPr lang="en-US" altLang="zh-CN" dirty="0"/>
              <a:t>= 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 err="1"/>
              <a:t>t</a:t>
            </a:r>
            <a:r>
              <a:rPr lang="en-US" altLang="zh-CN" baseline="-25000" dirty="0" err="1"/>
              <a:t>par</a:t>
            </a:r>
            <a:r>
              <a:rPr lang="en-US" altLang="zh-CN" dirty="0"/>
              <a:t>=O(n)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6" name="Picture 2" descr="http://media-springernature-com-s.webvpn.cug.edu.cn/lw785/springer-static/image/chp%3A10.1007%2F978-3-319-21903-5_4/MediaObjects/339948_1_En_4_Figa_HTML.gif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1940521"/>
            <a:ext cx="8520942" cy="37444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Parallel Sorting Using Ranks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Now, let us consider parallel </a:t>
            </a:r>
            <a:r>
              <a:rPr lang="en-US" altLang="zh-CN" sz="2800" dirty="0" err="1"/>
              <a:t>RankSort</a:t>
            </a:r>
            <a:r>
              <a:rPr lang="en-US" altLang="zh-CN" sz="2800" dirty="0"/>
              <a:t> with </a:t>
            </a:r>
            <a:r>
              <a:rPr lang="en-US" altLang="zh-CN" sz="2800" i="1" dirty="0"/>
              <a:t>P</a:t>
            </a:r>
            <a:r>
              <a:rPr lang="en-US" altLang="zh-CN" sz="2800" dirty="0"/>
              <a:t>=</a:t>
            </a:r>
            <a:r>
              <a:rPr lang="en-US" altLang="zh-CN" sz="2800" i="1" dirty="0"/>
              <a:t>n</a:t>
            </a:r>
            <a:r>
              <a:rPr lang="en-US" altLang="zh-CN" sz="2800" dirty="0"/>
              <a:t> 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 processes by using the </a:t>
            </a:r>
            <a:r>
              <a:rPr lang="en-US" altLang="zh-CN" sz="2800" i="1" dirty="0"/>
              <a:t>Graphical Processing Units</a:t>
            </a:r>
            <a:r>
              <a:rPr lang="en-US" altLang="zh-CN" sz="2800" dirty="0"/>
              <a:t> (GPUs) that are made of thousands of graphics cores.</a:t>
            </a:r>
            <a:endParaRPr lang="en-US" altLang="zh-CN" sz="2800" dirty="0"/>
          </a:p>
          <a:p>
            <a:r>
              <a:rPr lang="en-US" altLang="zh-CN" sz="2800" dirty="0"/>
              <a:t>In this case, R[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 can be computed in parallel as shown in the figure.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sz="2800" dirty="0"/>
          </a:p>
          <a:p>
            <a:r>
              <a:rPr lang="en-US" altLang="zh-CN" sz="2800" dirty="0"/>
              <a:t>Thus, </a:t>
            </a:r>
            <a:r>
              <a:rPr lang="en-US" altLang="zh-CN" sz="2800" dirty="0" err="1"/>
              <a:t>t</a:t>
            </a:r>
            <a:r>
              <a:rPr lang="en-US" altLang="zh-CN" sz="2800" baseline="-25000" dirty="0" err="1"/>
              <a:t>par</a:t>
            </a:r>
            <a:r>
              <a:rPr lang="en-US" altLang="zh-CN" sz="2800" dirty="0"/>
              <a:t>=O(</a:t>
            </a:r>
            <a:r>
              <a:rPr lang="en-US" altLang="zh-CN" sz="2800" dirty="0" err="1"/>
              <a:t>logn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 In particular, the </a:t>
            </a:r>
            <a:r>
              <a:rPr lang="en-US" altLang="zh-CN" sz="2800" dirty="0" err="1"/>
              <a:t>RankSort</a:t>
            </a:r>
            <a:r>
              <a:rPr lang="en-US" altLang="zh-CN" sz="2800" dirty="0"/>
              <a:t> algorithm with </a:t>
            </a:r>
            <a:r>
              <a:rPr lang="en-US" altLang="zh-CN" sz="2800" i="1" dirty="0"/>
              <a:t>P</a:t>
            </a:r>
            <a:r>
              <a:rPr lang="en-US" altLang="zh-CN" sz="2800" dirty="0"/>
              <a:t>=</a:t>
            </a:r>
            <a:r>
              <a:rPr lang="en-US" altLang="zh-CN" sz="2800" i="1" dirty="0"/>
              <a:t>n</a:t>
            </a:r>
            <a:r>
              <a:rPr lang="en-US" altLang="zh-CN" sz="2800" dirty="0"/>
              <a:t> 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 processes requires constant time, </a:t>
            </a:r>
            <a:r>
              <a:rPr lang="en-US" altLang="zh-CN" sz="2800" i="1" dirty="0"/>
              <a:t>O</a:t>
            </a:r>
            <a:r>
              <a:rPr lang="en-US" altLang="zh-CN" sz="2800" dirty="0"/>
              <a:t>(1)</a:t>
            </a:r>
            <a:endParaRPr lang="zh-CN" altLang="en-US" sz="2800" dirty="0"/>
          </a:p>
        </p:txBody>
      </p:sp>
      <p:pic>
        <p:nvPicPr>
          <p:cNvPr id="22531" name="Picture 3" descr="http://media-springernature-com-s.webvpn.cug.edu.cn/original/springer-static/image/chp%3A10.1007%2F978-3-319-21903-5_4/MediaObjects/339948_1_En_4_Fig3_HTML.gif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390453"/>
            <a:ext cx="9098644" cy="38610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Parallel Quicksort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Based on a pivot value </a:t>
            </a:r>
            <a:r>
              <a:rPr lang="en-US" altLang="zh-CN" sz="2800" i="1" dirty="0"/>
              <a:t>x</a:t>
            </a:r>
            <a:r>
              <a:rPr lang="en-US" altLang="zh-CN" sz="2800" dirty="0"/>
              <a:t>, we </a:t>
            </a:r>
            <a:r>
              <a:rPr lang="en-US" altLang="zh-CN" sz="2800" dirty="0">
                <a:solidFill>
                  <a:srgbClr val="FF0000"/>
                </a:solidFill>
              </a:rPr>
              <a:t>recursively </a:t>
            </a:r>
            <a:r>
              <a:rPr lang="en-US" altLang="zh-CN" sz="2800" dirty="0"/>
              <a:t>partition data into two arrays: </a:t>
            </a:r>
            <a:r>
              <a:rPr lang="en-US" altLang="zh-CN" sz="2800" i="1" dirty="0"/>
              <a:t>X</a:t>
            </a:r>
            <a:r>
              <a:rPr lang="en-US" altLang="zh-CN" sz="2800" dirty="0"/>
              <a:t> ≤  and </a:t>
            </a:r>
            <a:r>
              <a:rPr lang="en-US" altLang="zh-CN" sz="2800" i="1" dirty="0"/>
              <a:t>X</a:t>
            </a:r>
            <a:r>
              <a:rPr lang="en-US" altLang="zh-CN" sz="2800" dirty="0"/>
              <a:t> &gt;.  </a:t>
            </a:r>
            <a:endParaRPr lang="en-US" altLang="zh-CN" sz="2800" dirty="0"/>
          </a:p>
          <a:p>
            <a:r>
              <a:rPr lang="en-US" altLang="zh-CN" sz="2800" dirty="0" err="1"/>
              <a:t>QuickSort</a:t>
            </a:r>
            <a:r>
              <a:rPr lang="en-US" altLang="zh-CN" sz="2800" dirty="0"/>
              <a:t>(</a:t>
            </a:r>
            <a:r>
              <a:rPr lang="en-US" altLang="zh-CN" sz="2800" i="1" dirty="0"/>
              <a:t>X</a:t>
            </a:r>
            <a:r>
              <a:rPr lang="en-US" altLang="zh-CN" sz="2800" dirty="0"/>
              <a:t>)=(</a:t>
            </a:r>
            <a:r>
              <a:rPr lang="en-US" altLang="zh-CN" sz="2800" dirty="0" err="1"/>
              <a:t>QuickSort</a:t>
            </a:r>
            <a:r>
              <a:rPr lang="en-US" altLang="zh-CN" sz="2800" dirty="0"/>
              <a:t>(</a:t>
            </a:r>
            <a:r>
              <a:rPr lang="en-US" altLang="zh-CN" sz="2800" i="1" dirty="0"/>
              <a:t>X</a:t>
            </a:r>
            <a:r>
              <a:rPr lang="en-US" altLang="zh-CN" sz="2800" dirty="0"/>
              <a:t> ≤</a:t>
            </a:r>
            <a:r>
              <a:rPr lang="en-US" altLang="zh-CN" sz="2800" i="1" dirty="0"/>
              <a:t>x</a:t>
            </a:r>
            <a:r>
              <a:rPr lang="en-US" altLang="zh-CN" sz="2800" dirty="0"/>
              <a:t> ),</a:t>
            </a:r>
            <a:r>
              <a:rPr lang="en-US" altLang="zh-CN" sz="2800" dirty="0" err="1"/>
              <a:t>QuickSort</a:t>
            </a:r>
            <a:r>
              <a:rPr lang="en-US" altLang="zh-CN" sz="2800" dirty="0"/>
              <a:t>(</a:t>
            </a:r>
            <a:r>
              <a:rPr lang="en-US" altLang="zh-CN" sz="2800" i="1" dirty="0"/>
              <a:t>X</a:t>
            </a:r>
            <a:r>
              <a:rPr lang="en-US" altLang="zh-CN" sz="2800" dirty="0"/>
              <a:t> &gt;</a:t>
            </a:r>
            <a:r>
              <a:rPr lang="en-US" altLang="zh-CN" sz="2800" i="1" dirty="0"/>
              <a:t>x</a:t>
            </a:r>
            <a:r>
              <a:rPr lang="en-US" altLang="zh-CN" sz="2800" dirty="0"/>
              <a:t> )). </a:t>
            </a:r>
            <a:endParaRPr lang="en-US" altLang="zh-CN" sz="2800" dirty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http://media-springernature-com-s.webvpn.cug.edu.cn/original/springer-static/image/chp%3A10.1007%2F978-3-319-21903-5_4/MediaObjects/339948_1_En_4_Figc_HTML.gif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96136" y="5157192"/>
            <a:ext cx="2719214" cy="1019770"/>
          </a:xfrm>
        </p:spPr>
        <p:txBody>
          <a:bodyPr/>
          <a:lstStyle/>
          <a:p>
            <a:r>
              <a:rPr lang="en-AU" altLang="zh-CN" b="0" i="0" dirty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CN" b="1" dirty="0">
                <a:solidFill>
                  <a:srgbClr val="2B77C5"/>
                </a:solidFill>
                <a:latin typeface="Arial" panose="020B0604020202020204" pitchFamily="34" charset="0"/>
              </a:rPr>
              <a:t>P</a:t>
            </a:r>
            <a:r>
              <a:rPr lang="en-AU" altLang="zh-CN" b="1" i="0" u="none" strike="noStrike" dirty="0" err="1">
                <a:solidFill>
                  <a:srgbClr val="2B77C5"/>
                </a:solidFill>
                <a:effectLst/>
                <a:latin typeface="Arial" panose="020B0604020202020204" pitchFamily="34" charset="0"/>
              </a:rPr>
              <a:t>seudo</a:t>
            </a:r>
            <a:r>
              <a:rPr lang="en-AU" altLang="zh-CN" b="1" i="0" u="none" strike="noStrike" dirty="0">
                <a:solidFill>
                  <a:srgbClr val="2B77C5"/>
                </a:solidFill>
                <a:effectLst/>
                <a:latin typeface="Arial" panose="020B0604020202020204" pitchFamily="34" charset="0"/>
              </a:rPr>
              <a:t>-Code</a:t>
            </a:r>
            <a:r>
              <a:rPr lang="en-AU" altLang="zh-CN" b="0" i="0" dirty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 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6626" name="Picture 2" descr="http://media-springernature-com-s.webvpn.cug.edu.cn/original/springer-static/image/chp%3A10.1007%2F978-3-319-21903-5_4/MediaObjects/339948_1_En_4_Fig4_HTML.gif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11760" y="0"/>
            <a:ext cx="4247034" cy="6813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The </a:t>
            </a:r>
            <a:r>
              <a:rPr lang="en-US" altLang="zh-CN" sz="4400" b="1" dirty="0" err="1"/>
              <a:t>Bitonic</a:t>
            </a:r>
            <a:r>
              <a:rPr lang="en-US" altLang="zh-CN" sz="4400" b="1" dirty="0"/>
              <a:t> Merge Sort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6" name="Picture 2" descr="http://media-springernature-com-s.webvpn.cug.edu.cn/original/springer-static/image/chp%3A10.1007%2F978-3-319-21903-5_4/MediaObjects/339948_1_En_4_Fig14_HTML.gif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67544" y="1628800"/>
            <a:ext cx="7848872" cy="483727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Notes and References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/>
              <a:t>Sorting in parallel can be executed in a very simple way.</a:t>
            </a:r>
            <a:endParaRPr lang="en-US" altLang="zh-CN" sz="3200" dirty="0"/>
          </a:p>
          <a:p>
            <a:endParaRPr lang="zh-CN" altLang="en-US" dirty="0"/>
          </a:p>
        </p:txBody>
      </p:sp>
      <p:pic>
        <p:nvPicPr>
          <p:cNvPr id="28673" name="Picture 1" descr="C:\Users\Jeff\AppData\Roaming\Tencent\Users\79050946\QQ\WinTemp\RichOle\_AI]M85N9D1CQGRZY$_(15D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47664" y="2780928"/>
            <a:ext cx="6191250" cy="914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Summary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There exist plenty sequential algorithms to sort </a:t>
            </a:r>
            <a:r>
              <a:rPr lang="en-US" altLang="zh-CN" sz="2400" i="1" dirty="0"/>
              <a:t>n</a:t>
            </a:r>
            <a:r>
              <a:rPr lang="en-US" altLang="zh-CN" sz="2400" dirty="0"/>
              <a:t> numbers that achieve the optimal time complexity of </a:t>
            </a:r>
            <a:r>
              <a:rPr lang="en-US" altLang="zh-CN" sz="2400" i="1" dirty="0"/>
              <a:t>Θ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n</a:t>
            </a:r>
            <a:r>
              <a:rPr lang="en-US" altLang="zh-CN" sz="2400" dirty="0" err="1"/>
              <a:t>log</a:t>
            </a:r>
            <a:r>
              <a:rPr lang="en-US" altLang="zh-CN" sz="2400" i="1" dirty="0" err="1"/>
              <a:t>n</a:t>
            </a:r>
            <a:r>
              <a:rPr lang="en-US" altLang="zh-CN" sz="2400" dirty="0"/>
              <a:t>) . </a:t>
            </a:r>
            <a:endParaRPr lang="en-US" altLang="zh-CN" sz="2400" dirty="0"/>
          </a:p>
          <a:p>
            <a:r>
              <a:rPr lang="en-US" altLang="zh-CN" sz="2400" dirty="0"/>
              <a:t>We can sort on parallel architectures with distributed memory by considering the granularity of local sorting. </a:t>
            </a:r>
            <a:endParaRPr lang="en-US" altLang="zh-CN" sz="2400" dirty="0"/>
          </a:p>
          <a:p>
            <a:r>
              <a:rPr lang="en-US" altLang="zh-CN" sz="2400" dirty="0"/>
              <a:t>The </a:t>
            </a:r>
            <a:r>
              <a:rPr lang="en-US" altLang="zh-CN" sz="2400" dirty="0" err="1"/>
              <a:t>QuickSort</a:t>
            </a:r>
            <a:r>
              <a:rPr lang="en-US" altLang="zh-CN" sz="2400" dirty="0"/>
              <a:t> algorithm chooses randomly its pivot element and can be parallelized straightforwardly, but yields unfair workload on the processes (that is, not a good balancing property). </a:t>
            </a:r>
            <a:endParaRPr lang="en-US" altLang="zh-CN" sz="2400" dirty="0"/>
          </a:p>
          <a:p>
            <a:r>
              <a:rPr lang="en-US" altLang="zh-CN" sz="2400" dirty="0"/>
              <a:t>It is possible that we tune the granularity of the parallelism.</a:t>
            </a:r>
            <a:endParaRPr lang="zh-CN" alt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2561</Words>
  <Application>WPS 演示</Application>
  <PresentationFormat>全屏显示(4:3)</PresentationFormat>
  <Paragraphs>96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Calibri Light</vt:lpstr>
      <vt:lpstr>Calibri</vt:lpstr>
      <vt:lpstr>微软雅黑</vt:lpstr>
      <vt:lpstr>Calibri</vt:lpstr>
      <vt:lpstr>PMingLiU-ExtB</vt:lpstr>
      <vt:lpstr>Impact</vt:lpstr>
      <vt:lpstr>Arial Unicode MS</vt:lpstr>
      <vt:lpstr>1_Office 主题</vt:lpstr>
      <vt:lpstr>PowerPoint 演示文稿</vt:lpstr>
      <vt:lpstr>PowerPoint 演示文稿</vt:lpstr>
      <vt:lpstr>Abstract</vt:lpstr>
      <vt:lpstr>Quick Review of Sequential Sorting</vt:lpstr>
      <vt:lpstr>Quick Review of Sequential Sorting</vt:lpstr>
      <vt:lpstr>Quick Review of Sequential Sorting</vt:lpstr>
      <vt:lpstr>Parallel Sorting by Merging Lists</vt:lpstr>
      <vt:lpstr>Parallel Sorting by Merging Lists</vt:lpstr>
      <vt:lpstr>Parallel Sorting Using Ranks</vt:lpstr>
      <vt:lpstr>C code</vt:lpstr>
      <vt:lpstr>Parallel Sorting Using Ranks</vt:lpstr>
      <vt:lpstr>PowerPoint 演示文稿</vt:lpstr>
      <vt:lpstr>Parallel Quicksort</vt:lpstr>
      <vt:lpstr>PowerPoint 演示文稿</vt:lpstr>
      <vt:lpstr>PowerPoint 演示文稿</vt:lpstr>
      <vt:lpstr>The Bitonic Merge Sort</vt:lpstr>
      <vt:lpstr>Notes and References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Glance at High Performance Computing (HPC)</dc:title>
  <dc:creator>Administrator</dc:creator>
  <cp:lastModifiedBy>Admin</cp:lastModifiedBy>
  <cp:revision>22</cp:revision>
  <dcterms:created xsi:type="dcterms:W3CDTF">2019-12-10T06:14:00Z</dcterms:created>
  <dcterms:modified xsi:type="dcterms:W3CDTF">2022-03-10T03:40:19Z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EAB9BAD5635D4524B9C8537B0AA7D8B9</vt:lpwstr>
  </property>
  <property fmtid="{D5CDD505-2E9C-101B-9397-08002B2CF9AE}" pid="3" name="KSOProductBuildVer">
    <vt:lpwstr>2052-11.1.0.11365</vt:lpwstr>
  </property>
</Properties>
</file>